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Crescita esponenziale (PIL)</c:v>
                </c:pt>
              </c:strCache>
            </c:strRef>
          </c:tx>
          <c:spPr>
            <a:solidFill>
              <a:srgbClr val="2D6A4F"/>
            </a:solidFill>
            <a:ln w="38100" cap="flat">
              <a:solidFill>
                <a:srgbClr val="2D6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D6A4F"/>
              </a:solidFill>
              <a:ln w="9525" cap="flat">
                <a:solidFill>
                  <a:srgbClr val="2D6A4F"/>
                </a:solidFill>
                <a:prstDash val="solid"/>
                <a:round/>
              </a:ln>
              <a:effectLst/>
            </c:spPr>
          </c:marker>
          <c:cat>
            <c:multiLvlStrRef>
              <c:f>Sheet1!$A$2:$A$10</c:f>
              <c:multiLvlStrCache>
                <c:ptCount val="9"/>
                <c:lvl>
                  <c:pt idx="0">
                    <c:v>0</c:v>
                  </c:pt>
                  <c:pt idx="1">
                    <c:v>1</c:v>
                  </c:pt>
                  <c:pt idx="2">
                    <c:v>2</c:v>
                  </c:pt>
                  <c:pt idx="3">
                    <c:v>3</c:v>
                  </c:pt>
                  <c:pt idx="4">
                    <c:v>4</c:v>
                  </c:pt>
                  <c:pt idx="5">
                    <c:v>5</c:v>
                  </c:pt>
                  <c:pt idx="6">
                    <c:v>6</c:v>
                  </c:pt>
                  <c:pt idx="7">
                    <c:v>7</c:v>
                  </c:pt>
                  <c:pt idx="8">
                    <c:v>8</c:v>
                  </c:pt>
                </c:lvl>
              </c:multiLvlStrCache>
            </c:multiLvlStrRef>
          </c:cat>
          <c:val>
            <c:numRef>
              <c:f>Sheet1!$B$2:$B$10</c:f>
              <c:numCache>
                <c:formatCode>General</c:formatCode>
                <c:ptCount val="9"/>
                <c:pt idx="0">
                  <c:v>100</c:v>
                </c:pt>
                <c:pt idx="1">
                  <c:v>135</c:v>
                </c:pt>
                <c:pt idx="2">
                  <c:v>182</c:v>
                </c:pt>
                <c:pt idx="3">
                  <c:v>246</c:v>
                </c:pt>
                <c:pt idx="4">
                  <c:v>332</c:v>
                </c:pt>
                <c:pt idx="5">
                  <c:v>448</c:v>
                </c:pt>
                <c:pt idx="6">
                  <c:v>605</c:v>
                </c:pt>
                <c:pt idx="7">
                  <c:v>817</c:v>
                </c:pt>
                <c:pt idx="8">
                  <c:v>1102</c:v>
                </c:pt>
              </c:numCache>
            </c:numRef>
          </c:val>
          <c:smooth val="1"/>
        </c:ser>
        <c:ser>
          <c:idx val="1"/>
          <c:order val="1"/>
          <c:tx>
            <c:strRef>
              <c:f>Sheet1!$C$1</c:f>
              <c:strCache>
                <c:ptCount val="1"/>
                <c:pt idx="0">
                  <c:v>Risorse disponibili (limite)</c:v>
                </c:pt>
              </c:strCache>
            </c:strRef>
          </c:tx>
          <c:spPr>
            <a:solidFill>
              <a:srgbClr val="BC6C25"/>
            </a:solidFill>
            <a:ln w="38100" cap="flat">
              <a:solidFill>
                <a:srgbClr val="BC6C2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C6C25"/>
              </a:solidFill>
              <a:ln w="9525" cap="flat">
                <a:solidFill>
                  <a:srgbClr val="BC6C25"/>
                </a:solidFill>
                <a:prstDash val="solid"/>
                <a:round/>
              </a:ln>
              <a:effectLst/>
            </c:spPr>
          </c:marker>
          <c:cat>
            <c:multiLvlStrRef>
              <c:f>Sheet1!$A$2:$A$10</c:f>
              <c:multiLvlStrCache>
                <c:ptCount val="9"/>
                <c:lvl>
                  <c:pt idx="0">
                    <c:v>0</c:v>
                  </c:pt>
                  <c:pt idx="1">
                    <c:v>1</c:v>
                  </c:pt>
                  <c:pt idx="2">
                    <c:v>2</c:v>
                  </c:pt>
                  <c:pt idx="3">
                    <c:v>3</c:v>
                  </c:pt>
                  <c:pt idx="4">
                    <c:v>4</c:v>
                  </c:pt>
                  <c:pt idx="5">
                    <c:v>5</c:v>
                  </c:pt>
                  <c:pt idx="6">
                    <c:v>6</c:v>
                  </c:pt>
                  <c:pt idx="7">
                    <c:v>7</c:v>
                  </c:pt>
                  <c:pt idx="8">
                    <c:v>8</c:v>
                  </c:pt>
                </c:lvl>
              </c:multiLvlStrCache>
            </c:multiLvlStrRef>
          </c:cat>
          <c:val>
            <c:numRef>
              <c:f>Sheet1!$C$2:$C$10</c:f>
              <c:numCache>
                <c:formatCode>General</c:formatCode>
                <c:ptCount val="9"/>
                <c:pt idx="0">
                  <c:v>700</c:v>
                </c:pt>
                <c:pt idx="1">
                  <c:v>700</c:v>
                </c:pt>
                <c:pt idx="2">
                  <c:v>700</c:v>
                </c:pt>
                <c:pt idx="3">
                  <c:v>700</c:v>
                </c:pt>
                <c:pt idx="4">
                  <c:v>700</c:v>
                </c:pt>
                <c:pt idx="5">
                  <c:v>700</c:v>
                </c:pt>
                <c:pt idx="6">
                  <c:v>700</c:v>
                </c:pt>
                <c:pt idx="7">
                  <c:v>700</c:v>
                </c:pt>
                <c:pt idx="8">
                  <c:v>700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6B7C77"/>
                    </a:solidFill>
                    <a:latin typeface="Arial"/>
                  </a:defRPr>
                </a:pPr>
                <a:r>
                  <a:rPr sz="1000" b="0" i="0" u="none" strike="noStrike">
                    <a:solidFill>
                      <a:srgbClr val="6B7C77"/>
                    </a:solidFill>
                    <a:latin typeface="Arial"/>
                  </a:rPr>
                  <a:t>tempo</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C7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AF0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7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433F"/>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3433F"/>
                </a:solidFill>
                <a:latin typeface="Calibri"/>
              </a:defRPr>
            </a:pPr>
            <a:r>
              <a:rPr sz="1200" b="0" i="0" u="none" strike="noStrike">
                <a:solidFill>
                  <a:srgbClr val="33433F"/>
                </a:solidFill>
                <a:latin typeface="Calibri"/>
              </a:rPr>
              <a:t>Emissioni nazionali di gas serra (Mt CO₂ eq)</a:t>
            </a:r>
          </a:p>
        </c:rich>
      </c:tx>
      <c:layout/>
      <c:overlay val="0"/>
    </c:title>
    <c:autoTitleDeleted val="0"/>
    <c:plotArea>
      <c:layout/>
      <c:barChart>
        <c:barDir val="col"/>
        <c:grouping val="clustered"/>
        <c:varyColors val="0"/>
        <c:ser>
          <c:idx val="0"/>
          <c:order val="0"/>
          <c:tx>
            <c:strRef>
              <c:f>Sheet1!$B$1</c:f>
              <c:strCache>
                <c:ptCount val="1"/>
                <c:pt idx="0">
                  <c:v>Mt CO₂ eq</c:v>
                </c:pt>
              </c:strCache>
            </c:strRef>
          </c:tx>
          <c:spPr>
            <a:solidFill>
              <a:srgbClr val="40916C"/>
            </a:solidFill>
            <a:effectLst/>
          </c:spPr>
          <c:invertIfNegative val="0"/>
          <c:dLbls>
            <c:numFmt formatCode="#,##0" sourceLinked="0"/>
            <c:txPr>
              <a:bodyPr/>
              <a:lstStyle/>
              <a:p>
                <a:pPr>
                  <a:defRPr b="1" i="0" strike="noStrike" sz="1100" u="none">
                    <a:solidFill>
                      <a:srgbClr val="1B2D2A"/>
                    </a:solidFill>
                    <a:latin typeface="Arial"/>
                  </a:defRPr>
                </a:pPr>
              </a:p>
            </c:txPr>
            <c:showLegendKey val="0"/>
            <c:showVal val="1"/>
            <c:showCatName val="0"/>
            <c:showSerName val="0"/>
            <c:showPercent val="0"/>
            <c:showBubbleSize val="0"/>
            <c:showLeaderLines val="0"/>
          </c:dLbls>
          <c:cat>
            <c:multiLvlStrRef>
              <c:f>Sheet1!$A$2:$A$5</c:f>
              <c:multiLvlStrCache>
                <c:ptCount val="4"/>
                <c:lvl>
                  <c:pt idx="0">
                    <c:v>2018</c:v>
                  </c:pt>
                  <c:pt idx="1">
                    <c:v>2022</c:v>
                  </c:pt>
                  <c:pt idx="2">
                    <c:v>2023</c:v>
                  </c:pt>
                  <c:pt idx="3">
                    <c:v>2024</c:v>
                  </c:pt>
                </c:lvl>
              </c:multiLvlStrCache>
            </c:multiLvlStrRef>
          </c:cat>
          <c:val>
            <c:numRef>
              <c:f>Sheet1!$B$2:$B$5</c:f>
              <c:numCache>
                <c:formatCode>General</c:formatCode>
                <c:ptCount val="4"/>
                <c:pt idx="0">
                  <c:v>427</c:v>
                </c:pt>
                <c:pt idx="1">
                  <c:v>413</c:v>
                </c:pt>
                <c:pt idx="2">
                  <c:v>385</c:v>
                </c:pt>
                <c:pt idx="3">
                  <c:v>360</c:v>
                </c:pt>
              </c:numCache>
            </c:numRef>
          </c:val>
        </c:ser>
        <c:dLbls>
          <c:numFmt formatCode="#,##0" sourceLinked="0"/>
          <c:txPr>
            <a:bodyPr/>
            <a:lstStyle/>
            <a:p>
              <a:pPr>
                <a:defRPr b="1" i="0" strike="noStrike" sz="1100" u="none">
                  <a:solidFill>
                    <a:srgbClr val="1B2D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C77"/>
                </a:solidFill>
                <a:latin typeface="Arial"/>
              </a:defRPr>
            </a:pPr>
            <a:endParaRPr lang="en-US"/>
          </a:p>
        </c:txPr>
        <c:crossAx val="2094734552"/>
        <c:crosses val="autoZero"/>
        <c:auto val="1"/>
        <c:lblAlgn val="ctr"/>
        <c:noMultiLvlLbl val="1"/>
      </c:catAx>
      <c:valAx>
        <c:axId val="2094734552"/>
        <c:scaling>
          <c:orientation val="minMax"/>
          <c:max val="450"/>
          <c:min val="300"/>
        </c:scaling>
        <c:delete val="0"/>
        <c:axPos val="l"/>
        <c:majorGridlines>
          <c:spPr>
            <a:ln w="6350" cap="flat">
              <a:solidFill>
                <a:srgbClr val="EAF0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C77"/>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3433F"/>
                </a:solidFill>
                <a:latin typeface="Calibri"/>
              </a:defRPr>
            </a:pPr>
            <a:r>
              <a:rPr sz="1200" b="0" i="0" u="none" strike="noStrike">
                <a:solidFill>
                  <a:srgbClr val="33433F"/>
                </a:solidFill>
                <a:latin typeface="Calibri"/>
              </a:rPr>
              <a:t>Copertura della domanda elettrica (2024)</a:t>
            </a:r>
          </a:p>
        </c:rich>
      </c:tx>
      <c:layout/>
      <c:overlay val="0"/>
    </c:title>
    <c:autoTitleDeleted val="0"/>
    <c:plotArea>
      <c:layout/>
      <c:doughnutChart>
        <c:varyColors val="1"/>
        <c:ser>
          <c:idx val="0"/>
          <c:order val="0"/>
          <c:tx>
            <c:strRef>
              <c:f>Sheet1!$B$1</c:f>
              <c:strCache>
                <c:ptCount val="1"/>
                <c:pt idx="0">
                  <c:v>Mix elettrico 2024</c:v>
                </c:pt>
              </c:strCache>
            </c:strRef>
          </c:tx>
          <c:spPr>
            <a:solidFill>
              <a:schemeClr val="accent1"/>
            </a:solidFill>
            <a:ln w="9525" cap="flat">
              <a:solidFill>
                <a:srgbClr val="F9F9F9"/>
              </a:solidFill>
              <a:prstDash val="solid"/>
              <a:round/>
            </a:ln>
            <a:effectLst/>
          </c:spPr>
          <c:dPt>
            <c:idx val="0"/>
            <c:bubble3D val="0"/>
            <c:spPr>
              <a:solidFill>
                <a:srgbClr val="2D6A4F"/>
              </a:solidFill>
              <a:effectLst/>
            </c:spPr>
          </c:dPt>
          <c:dPt>
            <c:idx val="1"/>
            <c:bubble3D val="0"/>
            <c:spPr>
              <a:solidFill>
                <a:srgbClr val="6B7C77"/>
              </a:solidFill>
              <a:effectLst/>
            </c:spPr>
          </c:dPt>
          <c:dPt>
            <c:idx val="2"/>
            <c:bubble3D val="0"/>
            <c:spPr>
              <a:solidFill>
                <a:srgbClr val="DDA15E"/>
              </a:solidFill>
              <a:effectLst/>
            </c:spPr>
          </c:dPt>
          <c:dLbls>
            <c:dLbl>
              <c:idx val="0"/>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Rinnovabili</c:v>
                </c:pt>
                <c:pt idx="1">
                  <c:v>Fonti fossili</c:v>
                </c:pt>
                <c:pt idx="2">
                  <c:v>Import estero</c:v>
                </c:pt>
              </c:strCache>
            </c:strRef>
          </c:cat>
          <c:val>
            <c:numRef>
              <c:f>Sheet1!$B$2:$B$4</c:f>
              <c:numCache>
                <c:ptCount val="3"/>
                <c:pt idx="0">
                  <c:v>41.2</c:v>
                </c:pt>
                <c:pt idx="1">
                  <c:v>42.5</c:v>
                </c:pt>
                <c:pt idx="2">
                  <c:v>16.3</c:v>
                </c:pt>
              </c:numCache>
            </c:numRef>
          </c:val>
        </c:ser>
        <c:firstSliceAng val="0"/>
        <c:holeSize val="55"/>
      </c:doughnutChart>
      <c:spPr>
        <a:noFill/>
        <a:ln>
          <a:noFill/>
        </a:ln>
        <a:effectLst/>
      </c:spPr>
    </c:plotArea>
    <c:legend>
      <c:legendPos val="b"/>
      <c:overlay val="0"/>
      <c:txPr>
        <a:bodyPr/>
        <a:lstStyle/>
        <a:p>
          <a:pPr>
            <a:defRPr sz="1100">
              <a:solidFill>
                <a:srgbClr val="33433F"/>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Buongiorno. Il tema centrale del mio elaborato di Educazione Civica è il rapporto tra sviluppo economico e sostenibilità. È una delle grandi domande del nostro tempo: possiamo continuare a far crescere l'economia senza distruggere l'ambiente e senza aumentare le disuguaglianze? La risposta che propongo è il concetto di sviluppo sostenibile, cioè una crescita che dura nel tempo perché rispetta i limiti del pianeta e la dignità delle persone. Mostrerò come ogni materia che ho studiato illumini una parte di questo problema: dall'italiano alla fisica, dall'economia scritta nella Costituzione fino ai dati reali sulle emissioni. In fondo a ogni slide troverete un breve 'filo conduttore' che collega un argomento al successivo.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Parto dal definire i termini. Sviluppo economico significa crescita della ricchezza e del benessere di un Paese; sostenibilità significa farlo senza esaurire le risorse o danneggiare l'ambiente. Per molto tempo queste due cose sono sembrate in contrasto: più si produce, più si inquina. La grande intuizione del Rapporto Brundtland del 1987 è stata superare questa contrapposizione con il concetto di 'sviluppo sostenibile': non bisogna scegliere tra economia e ambiente, ma tenerli in equilibrio. È un modello a tre pilastri: la crescita economica, la tutela ambientale e l'equità sociale, tutti e tre necessari e inseparabili. La parola chiave che ricorrerà nel mio discorso è 'disaccoppiamento', cioè separare la crescita economica dal consumo di risorse e dalle emissioni: far crescere il PIL facendo scendere l'inquinamento. Nelle prossime slide vediamo come ogni materia affronti questa sfida.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italiano collego il tema all'Agenda 2030, che è prima di tutto un'agenda di sviluppo. Firmata da 193 Paesi nel 2015, contiene 17 obiettivi che, presi insieme, dimostrano che crescita e ambiente non sono nemici. Lo si vede mettendo a confronto due obiettivi: il Goal 8 chiede 'lavoro dignitoso e crescita economica', mentre il Goal 13 chiede di combattere il cambiamento climatico. L'Agenda dice che vanno perseguiti insieme. Il punto su cui insisto è questo: uno sviluppo economico che ignora il clima è destinato a fallire, perché un'economia ha bisogno di risorse naturali, di un clima stabile, di territori sicuri; se li distrugge, distrugge le proprie fondamenta. Pensiamo ai danni economici di alluvioni e siccità. Per questo il Goal 13 parla anche di rendere l'economia 'resiliente' e di investire in innovazione e lavori verdi. E alla radice di tutto, sia dell'economia industriale sia del problema climatico, c'è un solo elemento chimico: il carbonio, che Primo Levi ha raccontato in modo straordinario.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Primo Levi era chimico oltre che scrittore, e ne 'Il Sistema Periodico' usa gli elementi come metafore della vita. Nel racconto 'Carbonio' segue un singolo atomo nel suo viaggio di milioni di anni: da una roccia calcarea, attraverso la fotosintesi entra in una pianta, poi in un animale, infine nel corpo dell'uomo che scrive. Levi ci fa capire che siamo fatti della stessa materia del mondo. Per il mio tema questo racconto è perfetto, perché il carbonio è esattamente il filo che lega economia e ambiente. Tutto il nostro sviluppo industriale, dalla rivoluzione industriale in poi, si è basato sul bruciare carbonio sotto forma di combustibili fossili: carbone, petrolio, gas. È stato il motore della crescita. Ma quello stesso atomo di carbonio, una volta liberato nell'aria come anidride carbonica, è diventato il principale gas serra, cioè il costo ambientale di quella crescita. Levi ci insegna a sentirci responsabili di questo ciclo. Però la responsabilità individuale, da sola, non basta: servono regole comuni, serve uno Stato. Ed è qui che entra la storia.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storia ripercorro il passaggio dalla monarchia alla Repubblica, perché lo sviluppo economico non avviene nel vuoto: ha bisogno di una cornice di regole, libertà e fiducia. Lo Statuto Albertino del 1848 era una costituzione 'concessa' e flessibile, e proprio per questo il fascismo poté svuotarla. Nel 1861 nasce il Regno d'Italia. Durante il fascismo, dal 1922, non solo le libertà vengono sospese, ma anche l'economia cambia volto: il regime impone l'autarchia, cioè la chiusura economica, l'idea di bastare a se stessi, con risultati spesso disastrosi. Dopo la guerra arriva la svolta: il referendum del 2 giugno 1946 – e ricordo che oggi è proprio il 2 giugno, la Festa della Repubblica – in cui per la prima volta votano anche le donne, a suffragio universale, e l'Italia sceglie la Repubblica. Nasce la Costituzione, in vigore dal 1948, rigida e votata dal popolo. Nella prossima slide vedo proprio quale modello economico questa nuova Repubblica ha disegnato.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Approfondisco il modello economico scelto dalla Repubblica, perché qui si gioca molto del mio tema. La Costituzione contiene quella che i giuristi chiamano una 'costituzione economica', cioè un insieme di principi che regolano l'economia. Tre articoli sono fondamentali. L'articolo 1 dichiara che 'l'Italia è una Repubblica democratica fondata sul lavoro': il lavoro, non la rendita o il privilegio, è messo al centro. L'articolo 41 stabilisce che l'iniziativa economica privata è libera, ma – ed è il punto chiave – non può svolgersi in contrasto con l'utilità sociale: è un'economia di mercato, ma con dei limiti. L'articolo 3 garantisce l'uguaglianza. Questo modello – libertà d'impresa più orientamento al bene comune – non è né il liberismo senza regole né l'economia chiusa del fascismo: è una via di mezzo equilibrata. È la cornice che ha reso possibile il 'miracolo economico' degli anni Cinquanta e Sessanta, e che oggi, come vedremo con la riforma dell'articolo 41, permette di indirizzare la crescita verso la sostenibilità. E proprio questa idea di economia libera ma regolata è l'opposto del modello totalitario, di cui parlo in filosofia.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filosofia affronto i regimi totalitari, e lo faccio da un'angolazione utile al mio tema: il rapporto tra sviluppo e libertà. La parola chiave è 'totale': il totalitarismo, a differenza di una dittatura comune, vuole controllare ogni aspetto della vita, compresa l'economia. I regimi totalitari del Novecento – nazismo e stalinismo – hanno perseguito la produzione e lo 'sviluppo' come obiettivi ideologici, a qualsiasi prezzo umano. Pensiamo all'autarchia fascista, ai piani quinquennali staliniani realizzati con il lavoro forzato e la carestia: lo sviluppo veniva inseguito calpestando le persone e devastando l'ambiente. Le quattro caratteristiche che ho individuato sono: un'ideologia unica che giustifica ogni mezzo; un'economia di regime, chiusa o totalmente pianificata, che sopprime mercato e individuo; il terrore e la propaganda; e soprattutto la negazione della persona, ridotta a semplice strumento di produzione e di potere. È l'esatto contrario di uno sviluppo sostenibile, che invece deve mettere al centro l'uomo. E proprio questo ci spiega la filosofa Hannah Arendt.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Hannah Arendt è la filosofa che ha studiato più a fondo il totalitarismo, avendolo vissuto come ebrea fuggita dalla Germania nazista. Nel 1951, in 'Le origini del totalitarismo', spiega che lo scopo di questi regimi è rendere l'uomo 'superfluo', togliergli individualità e dignità fino a trasformarlo in un semplice ingranaggio – della macchina produttiva e di quella del potere. Nel 1963, seguendo il processo al gerarca Eichmann, scrive 'La banalità del male': il male più grande non è opera solo di mostri, ma anche di uomini comuni che smettono di pensare e si limitano a eseguire ordini. La lezione che traggo per il mio tema è decisiva: la crescita economica non può essere un fine in sé. Quando lo sviluppo diventa un idolo da inseguire a ogni costo, finisce per trattare sia le persone sia l'ambiente come semplici 'mezzi' da sfruttare – ed è esattamente l'atteggiamento che Arendt denuncia. Uno sviluppo sostenibile, al contrario, mette l'uomo prima della produzione e richiede responsabilità, cioè pensare alle conseguenze di ciò che facciamo. E lo strumento concreto per rendere lo sviluppo sostenibile è la scienza, di cui parlo 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scienze mostro come la ricerca possa trasformare lo sviluppo in sviluppo sostenibile, dando vita alla cosiddetta 'green economy', l'economia verde, che crea ricchezza e lavoro abbassando l'impatto ambientale. Due esempi. Le biotecnologie usano organismi viventi per fini economici e ambientali insieme: la bioeconomia produce biocarburanti e bioplastiche al posto dei derivati del petrolio; il biorisanamento usa microrganismi per ripulire terreni e acque inquinate, riducendo i costi enormi del danno ambientale; il biogas ricava energia dai rifiuti organici, in una logica di economia circolare, dove lo scarto diventa risorsa. Il secondo esempio è la geotermia, che sfrutta il calore del sottosuolo per produrre elettricità in modo continuo e a basse emissioni. È un settore in cui l'Italia è stata pioniera nel mondo: a Larderello, in Toscana, nacque nel 1904 la prima centrale geotermica del pianeta – un vero primato industriale – e ancora oggi la geotermia fornisce circa il 4% della nostra elettricità verde. Questa è la faccia 'buona' dello sviluppo. Ma lo sviluppo industriale è nato da una fonte molto diversa, e problematica: gli idrocarburi.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 collego la chimica del carbonio direttamente al tema dello sviluppo. Gli idrocarburi sono composti formati solo da carbonio e idrogeno, e sono la base di petrolio, gas e carbone: sono, letteralmente, i combustibili che hanno alimentato la crescita economica degli ultimi due secoli. Mi concentro sui composti ad anello, che si dividono in due famiglie. Gli aliciclici sono anelli di carbonio 'normali', come il cicloesano, che si comportano come i normali idrocarburi a catena aperta. Gli aromatici contengono invece l'anello benzenico, una struttura molto stabile grazie alla delocalizzazione degli elettroni – fenomeno chiamato aromaticità – il cui capostipite è il benzene; quando più anelli si uniscono si formano gli IPA. Il punto cruciale per il mio elaborato è il 'prezzo nascosto' di questa crescita: bruciare idrocarburi produce anidride carbonica, il principale gas serra, e quando la combustione è incompleta libera IPA e polveri sottili, sostanze inquinanti e cancerogene. In economia si parla di 'esternalità negative': costi ambientali e sanitari che ricadono su tutta la collettività ma che il mercato, da solo, non conteggia. Uno sviluppo sostenibile deve imparare a contabilizzare questi costi. E qui si apre la grande domanda etica, che affronto in religione.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religione affronto la dimensione etica dello sviluppo, partendo dall'articolo 3 della Costituzione, che è un principio morale prima che giuridico: tutti gli esseri umani hanno pari dignità. La Costituzione distingue tra uguaglianza formale, davanti alla legge, e uguaglianza sostanziale: poiché non partiamo tutti dalle stesse condizioni economiche e sociali, lo Stato deve rimuovere gli ostacoli che impediscono una vera uguaglianza. Questo ci dice una cosa importante per il mio tema: lo sviluppo economico ha senso solo se è inclusivo, se i suoi benefici raggiungono tutti e non solo pochi. L'economia, insomma, non è eticamente neutra. Qui richiamo l'enciclica 'Laudato si'' di Papa Francesco, del 2015, che propone il concetto di 'ecologia integrale': l'idea che 'tutto è connesso'. Francesco critica con forza il 'paradigma tecnocratico', cioè l'illusione di una crescita illimitata, e un modello economico che 'scarta' i più deboli e devasta l'ambiente. La sua proposta è un'economia al servizio della persona e del creato, non del solo profitto. La sostenibilità diventa così un dovere morale verso i poveri e verso le generazioni future. E questi principi etici, in Italia, sono diventati norma costituzionale: lo vediamo con l'arte e gli articoli 9 e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L'arte mi permette di mostrare il momento in cui la sostenibilità entra ufficialmente nella nostra legge fondamentale, ed è forse il punto centrale del mio elaborato. Nel 2022 una legge costituzionale ha modificato insieme gli articoli 9 e 41. L'articolo 41, quello sull'iniziativa economica privata, è stato integrato: prima diceva che l'impresa non poteva danneggiare 'sicurezza, libertà e dignità umana'; dal 2022 sono state aggiunte due parole decisive, 'salute' e 'ambiente'. Significa che la libertà d'impresa, in Italia, oggi incontra un limite costituzionale esplicito: non si può fare profitto danneggiando l'ambiente e la salute delle persone. È la traduzione giuridica esatta del mio tema – sviluppo economico e sostenibilità. Contemporaneamente l'articolo 9 ha inserito la tutela dell'ambiente tra i principi fondamentali, 'nell'interesse delle future generazioni'. Aggiungo il collegamento con l'arte in senso stretto: il patrimonio storico-artistico è anche una grande risorsa economica, pensiamo al turismo, ma è un capitale che va custodito e trasmesso, non consumato – esattamente la logica della sostenibilità. Però una regola, anche scritta in Costituzione, funziona solo se c'è chi la fa rispettare: ed è qui che entra la divisione dei poteri.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Resto sull'arte ma sposto lo sguardo sul 'come' le regole economiche diventano effettive, introducendo la divisione dei poteri. Montesquieu, nel 1748 ne 'Lo spirito delle leggi', formula il principio base di ogni democrazia: per impedire che il potere degeneri, esso va diviso in tre funzioni che si controllano reciprocamente. Applicato al mio tema: il potere legislativo, il Parlamento, scrive le leggi che regolano l'impresa e tutelano l'ambiente; il potere esecutivo, il Governo, attua le politiche economiche e guida la transizione ecologica; il potere giudiziario, la magistratura, giudica e sanziona chi viola quei limiti, ad esempio l'azienda che inquina contro l'articolo 41. Questo sistema di 'pesi e contrappesi' è l'opposto del totalitarismo di cui ho parlato in filosofia, dove tutto il potere era in una sola mano. Ed è proprio grazie a questo equilibrio che il limite ambientale all'impresa non resta una bella frase, ma può essere fatto rispettare davvero. Tra i beni che uno sviluppo sano non può mai sacrificare ce n'è uno fondamentale, che ci riguarda tutti: la salute.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educazione fisica parto dall'articolo 32, che tutela la salute, l'unico diritto che la Costituzione definisce esplicitamente 'fondamentale'. È un diritto con una doppia natura: è dell'individuo ma è anche 'interesse della collettività'. Lego questo all'economia in modo diretto: come abbiamo visto, l'articolo 41 riformato vieta all'impresa di danneggiare proprio la salute, oltre all'ambiente. La salute è quindi il confine che lo sviluppo economico non può superare. Richiamo poi la definizione dell'OMS del 1948: la salute non è assenza di malattia, ma pieno benessere fisico, mentale e sociale. Qui entra l'educazione fisica, perché lo sport e il movimento sono prevenzione e benessere a tutto tondo. Ma c'è un punto economico importante: una crescita che inquina l'aria e l'acqua genera malattie e costi sanitari enormi – quindi non è vero progresso, è un'illusione di sviluppo. Gli economisti oggi dicono che il PIL da solo non misura il benessere reale di un Paese. La salute, al contrario, è 'capitale umano', cioè il primo e più prezioso fattore di ogni sviluppo: persone sane in un ambiente sano. È il senso dell'approccio 'One Health'. E poiché crescita, salute e ambiente si misurano con i numeri, passo alla matematica.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matematica scelgo un argomento semplice ma centralissimo per il mio tema: la crescita esponenziale, che è proprio il modello con cui si descrive la crescita economica. Una grandezza cresce in modo esponenziale quando aumenta di una percentuale fissa in ogni periodo – esattamente come un capitale con l'interesse composto. La formula è N(t) uguale a N-zero per e elevato a kappa per t. La caratteristica chiave è che la velocità di crescita è proporzionale a quanto si è già accumulato, e questo genera un'accelerazione impressionante. Uno strumento utile è il tempo di raddoppio, con la 'regola del 70': dividendo 70 per il tasso percentuale. Un'economia che cresce del 3% all'anno – un valore considerato 'sano' – raddoppia in circa 23 anni; e poi raddoppia ancora, e ancora. Qui sta il problema, che il grafico mostra bene: la curva esponenziale del PIL, prima o poi, supera la linea delle risorse disponibili, perché il pianeta è finito. È esattamente l'allarme lanciato già nel 1972 dal Club di Roma nel rapporto 'I limiti dello sviluppo': una crescita materiale infinita su un pianeta finito è matematicamente impossibile. Ecco perché serve il disaccoppiamento. E la fisica, con i dati reali, ci dice se è davvero possibile.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fisica porto i dati reali, dalle fonti ufficiali ISTAT e ISPRA, e qui dimostro il concetto chiave di tutto il mio elaborato: il disaccoppiamento. Parto da un principio fisico: l'energia è il motore dell'economia, non si crea né si distrugge ma si trasforma, e per decenni produrre energia ha significato bruciare combustibili fossili, quindi emettere gas serra. La storia ci ha abituato a pensare che più crescita economica significhi inevitabilmente più inquinamento. Ma i numeri raccontano una storia nuova e incoraggiante. Primo dato: nel 2024 le emissioni italiane di gas serra sono scese di circa il 30% rispetto al 1990. Secondo dato, il più importante: tra il 1990 e il 2023 le emissioni rapportate al PIL sono diminuite del 46%. Questo significa che l'economia è cresciuta mentre le emissioni calavano: è esattamente il disaccoppiamento, la prova che crescita e inquinamento possono essere separati. Le emissioni pro capite sono scese a circa 6,5 tonnellate per abitante. Il grafico mostra il calo continuo anno dopo anno. Attenzione, però: il disaccoppiamento non è un caso, è il frutto di una scelta precisa – il passaggio alle fonti rinnovabili, di cui parlo nell'ultima slide di fisica.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Concludo la fisica mostrando che la transizione energetica, cioè il passaggio dalle fonti fossili alle rinnovabili, è il vero motore del disaccoppiamento, e soprattutto che non va vista solo come un costo, ma come una grande opportunità di sviluppo. Il dato chiave, certificato da Terna, il gestore della rete elettrica, è che nel 2024 le rinnovabili hanno coperto il 41,2% del fabbisogno elettrico italiano, il valore più alto di sempre. Le protagoniste sono il solare – il fotovoltaico è cresciuto moltissimo – l'eolico e l'idroelettrico, e questa crescita porta investimenti e nuovi posti di lavoro nel settore verde. Allo stesso tempo la produzione da fonti fossili è scesa del 6,2%, e questo significa anche meno dipendenza dalle importazioni di gas e petrolio dall'estero, quindi più autonomia e più sicurezza economica per il Paese. Il grafico mostra il mix del 2024: circa 41% rinnovabili, 42% fossili e il resto importato. Devo però essere onesto: siamo ancora lontani dagli obiettivi fissati per il 2030 dal Piano Nazionale Energia e Clima. La transizione è iniziata e conviene, ma va accelerata. E poiché è una sfida globale che richiede un nuovo modello economico, quello circolare, arrivo all'inglese.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informatica collego il tema alla transizione digitale. L'Unione Europea parla di «transizione gemella», perché lo sviluppo sostenibile ha due motori che procedono insieme: quello verde, ambientale, e quello digitale. Il digitale aiuta la sostenibilità perché dematerializza – pensiamo ai documenti che non si stampano più – riduce gli sprechi e permette di gestire in modo intelligente energia e risorse. Per la nostra attività abbiamo scelto un simbolo che lega tutto: la bandiera della Repubblica, lo stesso tricolore di cui ho parlato in storia. L'abbiamo disegnata al computer usando il modello RGB, quello con cui ogni schermo crea i colori: tre canali, Rosso, Verde e Blu, ciascuno con un valore da 0 a 255 – cioè un byte – per oltre sedici milioni di combinazioni possibili. La scoperta interessante ha riguardato il bianco: il bianco ufficiale della bandiera non è il bianco puro dello schermo, il 255-255-255, ma un bianco «perlato», un bianco latte leggermente più caldo, con valori intorno a 244-245-240. Un dettaglio minimo, ma che fa la differenza tra una bandiera approssimativa e una fedele. È la lezione dell'informatica: il rigore e la precisione. E questa stessa attenzione al dettaglio, applicata all'economia e all'ambiente, è ciò che serve per uno sviluppo davvero sostenibile. Verde e digitale, infine, sono due sfide globali che, come vedremo con l'inglese, si raccontano in una lingua comune.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l'inglese ho scelto un argomento semplice e chiaro, perché la sfida tra crescita e ambiente è globale e si discute in inglese, la lingua comune. Parto dall'espressione chiave: 'sustainable development', sviluppo sostenibile, cioè una crescita economica che protegge l'ambiente e le persone. Poi introduco il modello economico che lo rende possibile, la 'circular economy', l'economia circolare, in cui i rifiuti non vengono buttati ma reimmessi nel ciclo come nuove risorse – il contrario dell'economia 'lineare' usa-e-getta. Si riassume nelle famose 'Three R's': Reduce, ridurre il consumo di risorse e la produzione di rifiuti; Reuse, riutilizzare i prodotti invece di buttarli; Recycle, riciclare, trasformando lo scarto in nuovo valore. Sono tre gesti alla portata di tutti, e dimostrano che la sostenibilità non è solo questione di grandi politiche, ma anche di scelte economiche quotidiane, di imprese e di cittadini. Con questo messaggio arrivo alla conclusione, dove riannodo il filo che ha unito tutte le materie.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Concludo riannodando il filo. Ho cercato di mostrare che sviluppo economico e sostenibilità non sono nemici da scegliere l'uno contro l'altro: la vera crescita è quella che dura nel tempo, perché rispetta i limiti del pianeta e i diritti delle persone. Ogni materia ha illuminato una parte di questa idea. L'italiano, con Primo Levi, ci ha mostrato il carbonio come filo che lega economia e ambiente. La storia ci ha dato la cornice di regole – la Repubblica fondata sul lavoro e l'economia di mercato orientata al bene comune. La filosofia, con i totalitarismi e Arendt, ci ha ricordato che lo sviluppo deve servire l'uomo e non sfruttarlo. Le scienze ci hanno mostrato la green economy ma anche il costo nascosto degli idrocarburi. La religione ha posto la questione etica di un'economia al servizio della persona. L'arte ci ha fatto vedere il momento storico in cui la sostenibilità è entrata in Costituzione, con il limite dell'articolo 41. L'educazione fisica ha ricordato che la salute è il primo capitale dello sviluppo, la matematica perché una crescita infinita è impossibile, la fisica la prova concreta del disaccoppiamento, l'informatica la transizione digitale gemella di quella verde – con il tricolore disegnato in RGB e la scoperta del bianco perlato – e l'inglese il modello dell'economia circolare. Tutto converge in una sola frase: la crescita che dura è quella che rispetta i suoi limiti. Grazie per l'attenzione.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D6A4F">
              <a:alpha val="45000"/>
            </a:srgbClr>
          </a:solidFill>
          <a:ln/>
        </p:spPr>
      </p:sp>
      <p:sp>
        <p:nvSpPr>
          <p:cNvPr id="3" name="Shape 1"/>
          <p:cNvSpPr/>
          <p:nvPr/>
        </p:nvSpPr>
        <p:spPr>
          <a:xfrm>
            <a:off x="10241280" y="3291840"/>
            <a:ext cx="4754880" cy="4754880"/>
          </a:xfrm>
          <a:prstGeom prst="ellipse">
            <a:avLst/>
          </a:prstGeom>
          <a:solidFill>
            <a:srgbClr val="40916C">
              <a:alpha val="35000"/>
            </a:srgbClr>
          </a:solidFill>
          <a:ln/>
        </p:spPr>
      </p:sp>
      <p:pic>
        <p:nvPicPr>
          <p:cNvPr id="4" name="Image 0" descr="preencoded.png">    </p:cNvPr>
          <p:cNvPicPr>
            <a:picLocks noChangeAspect="1"/>
          </p:cNvPicPr>
          <p:nvPr/>
        </p:nvPicPr>
        <p:blipFill>
          <a:blip r:embed="rId1"/>
          <a:stretch>
            <a:fillRect/>
          </a:stretch>
        </p:blipFill>
        <p:spPr>
          <a:xfrm>
            <a:off x="777240" y="640080"/>
            <a:ext cx="868680" cy="868680"/>
          </a:xfrm>
          <a:prstGeom prst="rect">
            <a:avLst/>
          </a:prstGeom>
        </p:spPr>
      </p:pic>
      <p:sp>
        <p:nvSpPr>
          <p:cNvPr id="5" name="Text 2"/>
          <p:cNvSpPr/>
          <p:nvPr/>
        </p:nvSpPr>
        <p:spPr>
          <a:xfrm>
            <a:off x="822960" y="1645920"/>
            <a:ext cx="9144000" cy="365760"/>
          </a:xfrm>
          <a:prstGeom prst="rect">
            <a:avLst/>
          </a:prstGeom>
          <a:noFill/>
          <a:ln/>
        </p:spPr>
        <p:txBody>
          <a:bodyPr wrap="square" rtlCol="0" anchor="ctr"/>
          <a:lstStyle/>
          <a:p>
            <a:pPr indent="0" marL="0">
              <a:buNone/>
            </a:pPr>
            <a:r>
              <a:rPr lang="en-US" sz="1500" b="1" spc="400" kern="0" dirty="0">
                <a:solidFill>
                  <a:srgbClr val="74C69D"/>
                </a:solidFill>
                <a:latin typeface="Calibri" pitchFamily="34" charset="0"/>
                <a:ea typeface="Calibri" pitchFamily="34" charset="-122"/>
                <a:cs typeface="Calibri" pitchFamily="34" charset="-120"/>
              </a:rPr>
              <a:t>ELABORATO FINALE · EDUCAZIONE CIVICA</a:t>
            </a:r>
            <a:endParaRPr lang="en-US" sz="1500" dirty="0"/>
          </a:p>
        </p:txBody>
      </p:sp>
      <p:sp>
        <p:nvSpPr>
          <p:cNvPr id="6" name="Text 3"/>
          <p:cNvSpPr/>
          <p:nvPr/>
        </p:nvSpPr>
        <p:spPr>
          <a:xfrm>
            <a:off x="777240" y="2057400"/>
            <a:ext cx="10789920" cy="1828800"/>
          </a:xfrm>
          <a:prstGeom prst="rect">
            <a:avLst/>
          </a:prstGeom>
          <a:noFill/>
          <a:ln/>
        </p:spPr>
        <p:txBody>
          <a:bodyPr wrap="square" rtlCol="0" anchor="ctr"/>
          <a:lstStyle/>
          <a:p>
            <a:pPr indent="0" marL="0">
              <a:lnSpc>
                <a:spcPct val="98000"/>
              </a:lnSpc>
              <a:buNone/>
            </a:pPr>
            <a:r>
              <a:rPr lang="en-US" sz="5400" b="1" dirty="0">
                <a:solidFill>
                  <a:srgbClr val="FFFFFF"/>
                </a:solidFill>
                <a:latin typeface="Georgia" pitchFamily="34" charset="0"/>
                <a:ea typeface="Georgia" pitchFamily="34" charset="-122"/>
                <a:cs typeface="Georgia" pitchFamily="34" charset="-120"/>
              </a:rPr>
              <a:t>Sviluppo economico</a:t>
            </a:r>
            <a:endParaRPr lang="en-US" sz="5400" dirty="0"/>
          </a:p>
          <a:p>
            <a:pPr indent="0" marL="0">
              <a:lnSpc>
                <a:spcPct val="98000"/>
              </a:lnSpc>
              <a:buNone/>
            </a:pPr>
            <a:r>
              <a:rPr lang="en-US" sz="5400" b="1" dirty="0">
                <a:solidFill>
                  <a:srgbClr val="FFFFFF"/>
                </a:solidFill>
                <a:latin typeface="Georgia" pitchFamily="34" charset="0"/>
                <a:ea typeface="Georgia" pitchFamily="34" charset="-122"/>
                <a:cs typeface="Georgia" pitchFamily="34" charset="-120"/>
              </a:rPr>
              <a:t>e sostenibilità</a:t>
            </a:r>
            <a:endParaRPr lang="en-US" sz="5400" dirty="0"/>
          </a:p>
        </p:txBody>
      </p:sp>
      <p:sp>
        <p:nvSpPr>
          <p:cNvPr id="7" name="Text 4"/>
          <p:cNvSpPr/>
          <p:nvPr/>
        </p:nvSpPr>
        <p:spPr>
          <a:xfrm>
            <a:off x="822960" y="4069080"/>
            <a:ext cx="10058400" cy="548640"/>
          </a:xfrm>
          <a:prstGeom prst="rect">
            <a:avLst/>
          </a:prstGeom>
          <a:noFill/>
          <a:ln/>
        </p:spPr>
        <p:txBody>
          <a:bodyPr wrap="square" rtlCol="0" anchor="ctr"/>
          <a:lstStyle/>
          <a:p>
            <a:pPr indent="0" marL="0">
              <a:buNone/>
            </a:pPr>
            <a:r>
              <a:rPr lang="en-US" sz="2300" i="1" dirty="0">
                <a:solidFill>
                  <a:srgbClr val="D8F3DC"/>
                </a:solidFill>
                <a:latin typeface="Georgia" pitchFamily="34" charset="0"/>
                <a:ea typeface="Georgia" pitchFamily="34" charset="-122"/>
                <a:cs typeface="Georgia" pitchFamily="34" charset="-120"/>
              </a:rPr>
              <a:t>Crescere senza compromettere il futuro</a:t>
            </a:r>
            <a:endParaRPr lang="en-US" sz="2300" dirty="0"/>
          </a:p>
        </p:txBody>
      </p:sp>
      <p:sp>
        <p:nvSpPr>
          <p:cNvPr id="8" name="Shape 5"/>
          <p:cNvSpPr/>
          <p:nvPr/>
        </p:nvSpPr>
        <p:spPr>
          <a:xfrm>
            <a:off x="841248" y="4864608"/>
            <a:ext cx="2926080" cy="41148"/>
          </a:xfrm>
          <a:prstGeom prst="rect">
            <a:avLst/>
          </a:prstGeom>
          <a:solidFill>
            <a:srgbClr val="DDA15E"/>
          </a:solidFill>
          <a:ln/>
        </p:spPr>
      </p:sp>
      <p:sp>
        <p:nvSpPr>
          <p:cNvPr id="9" name="Text 6"/>
          <p:cNvSpPr/>
          <p:nvPr/>
        </p:nvSpPr>
        <p:spPr>
          <a:xfrm>
            <a:off x="822960" y="5074920"/>
            <a:ext cx="9418320" cy="822960"/>
          </a:xfrm>
          <a:prstGeom prst="rect">
            <a:avLst/>
          </a:prstGeom>
          <a:noFill/>
          <a:ln/>
        </p:spPr>
        <p:txBody>
          <a:bodyPr wrap="square" rtlCol="0" anchor="ctr"/>
          <a:lstStyle/>
          <a:p>
            <a:pPr indent="0" marL="0">
              <a:lnSpc>
                <a:spcPct val="115000"/>
              </a:lnSpc>
              <a:buNone/>
            </a:pPr>
            <a:r>
              <a:rPr lang="en-US" sz="1600" dirty="0">
                <a:solidFill>
                  <a:srgbClr val="E9EDC9"/>
                </a:solidFill>
                <a:latin typeface="Calibri" pitchFamily="34" charset="0"/>
                <a:ea typeface="Calibri" pitchFamily="34" charset="-122"/>
                <a:cs typeface="Calibri" pitchFamily="34" charset="-120"/>
              </a:rPr>
              <a:t>Un filo che attraversa tutte le discipline: come conciliare la crescita con i limiti del pianeta e i diritti delle persone.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D6A4F"/>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2D6A4F"/>
                </a:solidFill>
                <a:latin typeface="Calibri" pitchFamily="34" charset="0"/>
                <a:ea typeface="Calibri" pitchFamily="34" charset="-122"/>
                <a:cs typeface="Calibri" pitchFamily="34" charset="-120"/>
              </a:rPr>
              <a:t>INTRODUZIONE</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00</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Crescita economica e limiti del pianeta</a:t>
            </a:r>
            <a:endParaRPr lang="en-US" sz="2600" dirty="0"/>
          </a:p>
        </p:txBody>
      </p:sp>
      <p:sp>
        <p:nvSpPr>
          <p:cNvPr id="7" name="Text 4"/>
          <p:cNvSpPr/>
          <p:nvPr/>
        </p:nvSpPr>
        <p:spPr>
          <a:xfrm>
            <a:off x="1298448" y="1536192"/>
            <a:ext cx="10058400" cy="777240"/>
          </a:xfrm>
          <a:prstGeom prst="rect">
            <a:avLst/>
          </a:prstGeom>
          <a:noFill/>
          <a:ln/>
        </p:spPr>
        <p:txBody>
          <a:bodyPr wrap="square" rtlCol="0" anchor="t"/>
          <a:lstStyle/>
          <a:p>
            <a:pPr algn="l" indent="0" marL="0">
              <a:lnSpc>
                <a:spcPct val="112000"/>
              </a:lnSpc>
              <a:buNone/>
            </a:pPr>
            <a:r>
              <a:rPr lang="en-US" sz="1500" b="1" dirty="0">
                <a:solidFill>
                  <a:srgbClr val="2D6A4F"/>
                </a:solidFill>
                <a:latin typeface="Calibri" pitchFamily="34" charset="0"/>
                <a:ea typeface="Calibri" pitchFamily="34" charset="-122"/>
                <a:cs typeface="Calibri" pitchFamily="34" charset="-120"/>
              </a:rPr>
              <a:t>«Sviluppo sostenibile» </a:t>
            </a:r>
            <a:pPr algn="l" indent="0" marL="0">
              <a:lnSpc>
                <a:spcPct val="112000"/>
              </a:lnSpc>
              <a:buNone/>
            </a:pPr>
            <a:r>
              <a:rPr lang="en-US" sz="1500" dirty="0">
                <a:solidFill>
                  <a:srgbClr val="33433F"/>
                </a:solidFill>
                <a:latin typeface="Calibri" pitchFamily="34" charset="0"/>
                <a:ea typeface="Calibri" pitchFamily="34" charset="-122"/>
                <a:cs typeface="Calibri" pitchFamily="34" charset="-120"/>
              </a:rPr>
              <a:t>è lo sviluppo che «soddisfa i bisogni del presente senza compromettere la capacità delle generazioni future di soddisfare i propri» (Rapporto Brundtland, 1987).</a:t>
            </a:r>
            <a:endParaRPr lang="en-US" sz="1500" dirty="0"/>
          </a:p>
        </p:txBody>
      </p:sp>
      <p:sp>
        <p:nvSpPr>
          <p:cNvPr id="8" name="Text 5"/>
          <p:cNvSpPr/>
          <p:nvPr/>
        </p:nvSpPr>
        <p:spPr>
          <a:xfrm>
            <a:off x="1298448" y="2331720"/>
            <a:ext cx="10058400" cy="457200"/>
          </a:xfrm>
          <a:prstGeom prst="rect">
            <a:avLst/>
          </a:prstGeom>
          <a:noFill/>
          <a:ln/>
        </p:spPr>
        <p:txBody>
          <a:bodyPr wrap="square" rtlCol="0" anchor="ctr"/>
          <a:lstStyle/>
          <a:p>
            <a:pPr indent="0" marL="0">
              <a:lnSpc>
                <a:spcPct val="105000"/>
              </a:lnSpc>
              <a:buNone/>
            </a:pPr>
            <a:r>
              <a:rPr lang="en-US" sz="1350" dirty="0">
                <a:solidFill>
                  <a:srgbClr val="33433F"/>
                </a:solidFill>
                <a:latin typeface="Calibri" pitchFamily="34" charset="0"/>
                <a:ea typeface="Calibri" pitchFamily="34" charset="-122"/>
                <a:cs typeface="Calibri" pitchFamily="34" charset="-120"/>
              </a:rPr>
              <a:t>Non è crescita contro ambiente, ma il loro equilibrio: l'economia è uno dei tre pilastri, da tenere insieme agli altri due.</a:t>
            </a:r>
            <a:endParaRPr lang="en-US" sz="1350" dirty="0"/>
          </a:p>
        </p:txBody>
      </p:sp>
      <p:sp>
        <p:nvSpPr>
          <p:cNvPr id="9" name="Shape 6"/>
          <p:cNvSpPr/>
          <p:nvPr/>
        </p:nvSpPr>
        <p:spPr>
          <a:xfrm>
            <a:off x="1298448" y="2971800"/>
            <a:ext cx="3310128" cy="2468880"/>
          </a:xfrm>
          <a:prstGeom prst="roundRect">
            <a:avLst>
              <a:gd name="adj" fmla="val 3333"/>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0" name="Shape 7"/>
          <p:cNvSpPr/>
          <p:nvPr/>
        </p:nvSpPr>
        <p:spPr>
          <a:xfrm>
            <a:off x="1298448" y="2971800"/>
            <a:ext cx="3310128" cy="109728"/>
          </a:xfrm>
          <a:prstGeom prst="rect">
            <a:avLst/>
          </a:prstGeom>
          <a:solidFill>
            <a:srgbClr val="BC6C25"/>
          </a:solidFill>
          <a:ln/>
        </p:spPr>
      </p:sp>
      <p:sp>
        <p:nvSpPr>
          <p:cNvPr id="11" name="Shape 8"/>
          <p:cNvSpPr/>
          <p:nvPr/>
        </p:nvSpPr>
        <p:spPr>
          <a:xfrm>
            <a:off x="1591056" y="3355848"/>
            <a:ext cx="676656" cy="676656"/>
          </a:xfrm>
          <a:prstGeom prst="ellipse">
            <a:avLst/>
          </a:prstGeom>
          <a:solidFill>
            <a:srgbClr val="BC6C25"/>
          </a:solidFill>
          <a:ln/>
        </p:spPr>
      </p:sp>
      <p:pic>
        <p:nvPicPr>
          <p:cNvPr id="12" name="Image 1" descr="preencoded.png">    </p:cNvPr>
          <p:cNvPicPr>
            <a:picLocks noChangeAspect="1"/>
          </p:cNvPicPr>
          <p:nvPr/>
        </p:nvPicPr>
        <p:blipFill>
          <a:blip r:embed="rId2"/>
          <a:stretch>
            <a:fillRect/>
          </a:stretch>
        </p:blipFill>
        <p:spPr>
          <a:xfrm>
            <a:off x="1755648" y="3520440"/>
            <a:ext cx="347472" cy="347472"/>
          </a:xfrm>
          <a:prstGeom prst="rect">
            <a:avLst/>
          </a:prstGeom>
        </p:spPr>
      </p:pic>
      <p:sp>
        <p:nvSpPr>
          <p:cNvPr id="13" name="Text 9"/>
          <p:cNvSpPr/>
          <p:nvPr/>
        </p:nvSpPr>
        <p:spPr>
          <a:xfrm>
            <a:off x="1591056" y="4160520"/>
            <a:ext cx="2761488" cy="365760"/>
          </a:xfrm>
          <a:prstGeom prst="rect">
            <a:avLst/>
          </a:prstGeom>
          <a:noFill/>
          <a:ln/>
        </p:spPr>
        <p:txBody>
          <a:bodyPr wrap="square" lIns="0" tIns="0" rIns="0" bIns="0" rtlCol="0" anchor="ctr"/>
          <a:lstStyle/>
          <a:p>
            <a:pPr indent="0" marL="0">
              <a:buNone/>
            </a:pPr>
            <a:r>
              <a:rPr lang="en-US" sz="1800" b="1" dirty="0">
                <a:solidFill>
                  <a:srgbClr val="1B2D2A"/>
                </a:solidFill>
                <a:latin typeface="Georgia" pitchFamily="34" charset="0"/>
                <a:ea typeface="Georgia" pitchFamily="34" charset="-122"/>
                <a:cs typeface="Georgia" pitchFamily="34" charset="-120"/>
              </a:rPr>
              <a:t>Crescita economica</a:t>
            </a:r>
            <a:endParaRPr lang="en-US" sz="1800" dirty="0"/>
          </a:p>
        </p:txBody>
      </p:sp>
      <p:sp>
        <p:nvSpPr>
          <p:cNvPr id="14" name="Text 10"/>
          <p:cNvSpPr/>
          <p:nvPr/>
        </p:nvSpPr>
        <p:spPr>
          <a:xfrm>
            <a:off x="1591056" y="4562856"/>
            <a:ext cx="2743200" cy="777240"/>
          </a:xfrm>
          <a:prstGeom prst="rect">
            <a:avLst/>
          </a:prstGeom>
          <a:noFill/>
          <a:ln/>
        </p:spPr>
        <p:txBody>
          <a:bodyPr wrap="square" lIns="0" tIns="0" rIns="0" bIns="0" rtlCol="0" anchor="t"/>
          <a:lstStyle/>
          <a:p>
            <a:pPr indent="0" marL="0">
              <a:lnSpc>
                <a:spcPct val="108000"/>
              </a:lnSpc>
              <a:buNone/>
            </a:pPr>
            <a:r>
              <a:rPr lang="en-US" sz="1300" dirty="0">
                <a:solidFill>
                  <a:srgbClr val="33433F"/>
                </a:solidFill>
                <a:latin typeface="Calibri" pitchFamily="34" charset="0"/>
                <a:ea typeface="Calibri" pitchFamily="34" charset="-122"/>
                <a:cs typeface="Calibri" pitchFamily="34" charset="-120"/>
              </a:rPr>
              <a:t>Produrre valore, lavoro e benessere, in modo efficiente e non basato sullo spreco.</a:t>
            </a:r>
            <a:endParaRPr lang="en-US" sz="1300" dirty="0"/>
          </a:p>
        </p:txBody>
      </p:sp>
      <p:sp>
        <p:nvSpPr>
          <p:cNvPr id="15" name="Shape 11"/>
          <p:cNvSpPr/>
          <p:nvPr/>
        </p:nvSpPr>
        <p:spPr>
          <a:xfrm>
            <a:off x="4992624" y="2971800"/>
            <a:ext cx="3310128" cy="2468880"/>
          </a:xfrm>
          <a:prstGeom prst="roundRect">
            <a:avLst>
              <a:gd name="adj" fmla="val 3333"/>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6" name="Shape 12"/>
          <p:cNvSpPr/>
          <p:nvPr/>
        </p:nvSpPr>
        <p:spPr>
          <a:xfrm>
            <a:off x="4992624" y="2971800"/>
            <a:ext cx="3310128" cy="109728"/>
          </a:xfrm>
          <a:prstGeom prst="rect">
            <a:avLst/>
          </a:prstGeom>
          <a:solidFill>
            <a:srgbClr val="2D6A4F"/>
          </a:solidFill>
          <a:ln/>
        </p:spPr>
      </p:sp>
      <p:sp>
        <p:nvSpPr>
          <p:cNvPr id="17" name="Shape 13"/>
          <p:cNvSpPr/>
          <p:nvPr/>
        </p:nvSpPr>
        <p:spPr>
          <a:xfrm>
            <a:off x="5285232" y="3355848"/>
            <a:ext cx="676656" cy="676656"/>
          </a:xfrm>
          <a:prstGeom prst="ellipse">
            <a:avLst/>
          </a:prstGeom>
          <a:solidFill>
            <a:srgbClr val="2D6A4F"/>
          </a:solidFill>
          <a:ln/>
        </p:spPr>
      </p:sp>
      <p:pic>
        <p:nvPicPr>
          <p:cNvPr id="18" name="Image 2" descr="preencoded.png">    </p:cNvPr>
          <p:cNvPicPr>
            <a:picLocks noChangeAspect="1"/>
          </p:cNvPicPr>
          <p:nvPr/>
        </p:nvPicPr>
        <p:blipFill>
          <a:blip r:embed="rId3"/>
          <a:stretch>
            <a:fillRect/>
          </a:stretch>
        </p:blipFill>
        <p:spPr>
          <a:xfrm>
            <a:off x="5449824" y="3520440"/>
            <a:ext cx="347472" cy="347472"/>
          </a:xfrm>
          <a:prstGeom prst="rect">
            <a:avLst/>
          </a:prstGeom>
        </p:spPr>
      </p:pic>
      <p:sp>
        <p:nvSpPr>
          <p:cNvPr id="19" name="Text 14"/>
          <p:cNvSpPr/>
          <p:nvPr/>
        </p:nvSpPr>
        <p:spPr>
          <a:xfrm>
            <a:off x="5285232" y="4160520"/>
            <a:ext cx="2761488" cy="365760"/>
          </a:xfrm>
          <a:prstGeom prst="rect">
            <a:avLst/>
          </a:prstGeom>
          <a:noFill/>
          <a:ln/>
        </p:spPr>
        <p:txBody>
          <a:bodyPr wrap="square" lIns="0" tIns="0" rIns="0" bIns="0" rtlCol="0" anchor="ctr"/>
          <a:lstStyle/>
          <a:p>
            <a:pPr indent="0" marL="0">
              <a:buNone/>
            </a:pPr>
            <a:r>
              <a:rPr lang="en-US" sz="1800" b="1" dirty="0">
                <a:solidFill>
                  <a:srgbClr val="1B2D2A"/>
                </a:solidFill>
                <a:latin typeface="Georgia" pitchFamily="34" charset="0"/>
                <a:ea typeface="Georgia" pitchFamily="34" charset="-122"/>
                <a:cs typeface="Georgia" pitchFamily="34" charset="-120"/>
              </a:rPr>
              <a:t>Tutela ambientale</a:t>
            </a:r>
            <a:endParaRPr lang="en-US" sz="1800" dirty="0"/>
          </a:p>
        </p:txBody>
      </p:sp>
      <p:sp>
        <p:nvSpPr>
          <p:cNvPr id="20" name="Text 15"/>
          <p:cNvSpPr/>
          <p:nvPr/>
        </p:nvSpPr>
        <p:spPr>
          <a:xfrm>
            <a:off x="5285232" y="4562856"/>
            <a:ext cx="2743200" cy="777240"/>
          </a:xfrm>
          <a:prstGeom prst="rect">
            <a:avLst/>
          </a:prstGeom>
          <a:noFill/>
          <a:ln/>
        </p:spPr>
        <p:txBody>
          <a:bodyPr wrap="square" lIns="0" tIns="0" rIns="0" bIns="0" rtlCol="0" anchor="t"/>
          <a:lstStyle/>
          <a:p>
            <a:pPr indent="0" marL="0">
              <a:lnSpc>
                <a:spcPct val="108000"/>
              </a:lnSpc>
              <a:buNone/>
            </a:pPr>
            <a:r>
              <a:rPr lang="en-US" sz="1300" dirty="0">
                <a:solidFill>
                  <a:srgbClr val="33433F"/>
                </a:solidFill>
                <a:latin typeface="Calibri" pitchFamily="34" charset="0"/>
                <a:ea typeface="Calibri" pitchFamily="34" charset="-122"/>
                <a:cs typeface="Calibri" pitchFamily="34" charset="-120"/>
              </a:rPr>
              <a:t>Non consumare più risorse di quante la Terra è in grado di rigenerare.</a:t>
            </a:r>
            <a:endParaRPr lang="en-US" sz="1300" dirty="0"/>
          </a:p>
        </p:txBody>
      </p:sp>
      <p:sp>
        <p:nvSpPr>
          <p:cNvPr id="21" name="Shape 16"/>
          <p:cNvSpPr/>
          <p:nvPr/>
        </p:nvSpPr>
        <p:spPr>
          <a:xfrm>
            <a:off x="8686800" y="2971800"/>
            <a:ext cx="3310128" cy="2468880"/>
          </a:xfrm>
          <a:prstGeom prst="roundRect">
            <a:avLst>
              <a:gd name="adj" fmla="val 3333"/>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22" name="Shape 17"/>
          <p:cNvSpPr/>
          <p:nvPr/>
        </p:nvSpPr>
        <p:spPr>
          <a:xfrm>
            <a:off x="8686800" y="2971800"/>
            <a:ext cx="3310128" cy="109728"/>
          </a:xfrm>
          <a:prstGeom prst="rect">
            <a:avLst/>
          </a:prstGeom>
          <a:solidFill>
            <a:srgbClr val="40916C"/>
          </a:solidFill>
          <a:ln/>
        </p:spPr>
      </p:sp>
      <p:sp>
        <p:nvSpPr>
          <p:cNvPr id="23" name="Shape 18"/>
          <p:cNvSpPr/>
          <p:nvPr/>
        </p:nvSpPr>
        <p:spPr>
          <a:xfrm>
            <a:off x="8979408" y="3355848"/>
            <a:ext cx="676656" cy="676656"/>
          </a:xfrm>
          <a:prstGeom prst="ellipse">
            <a:avLst/>
          </a:prstGeom>
          <a:solidFill>
            <a:srgbClr val="40916C"/>
          </a:solidFill>
          <a:ln/>
        </p:spPr>
      </p:sp>
      <p:pic>
        <p:nvPicPr>
          <p:cNvPr id="24" name="Image 3" descr="preencoded.png">    </p:cNvPr>
          <p:cNvPicPr>
            <a:picLocks noChangeAspect="1"/>
          </p:cNvPicPr>
          <p:nvPr/>
        </p:nvPicPr>
        <p:blipFill>
          <a:blip r:embed="rId4"/>
          <a:stretch>
            <a:fillRect/>
          </a:stretch>
        </p:blipFill>
        <p:spPr>
          <a:xfrm>
            <a:off x="9144000" y="3520440"/>
            <a:ext cx="347472" cy="347472"/>
          </a:xfrm>
          <a:prstGeom prst="rect">
            <a:avLst/>
          </a:prstGeom>
        </p:spPr>
      </p:pic>
      <p:sp>
        <p:nvSpPr>
          <p:cNvPr id="25" name="Text 19"/>
          <p:cNvSpPr/>
          <p:nvPr/>
        </p:nvSpPr>
        <p:spPr>
          <a:xfrm>
            <a:off x="8979408" y="4160520"/>
            <a:ext cx="2761488" cy="365760"/>
          </a:xfrm>
          <a:prstGeom prst="rect">
            <a:avLst/>
          </a:prstGeom>
          <a:noFill/>
          <a:ln/>
        </p:spPr>
        <p:txBody>
          <a:bodyPr wrap="square" lIns="0" tIns="0" rIns="0" bIns="0" rtlCol="0" anchor="ctr"/>
          <a:lstStyle/>
          <a:p>
            <a:pPr indent="0" marL="0">
              <a:buNone/>
            </a:pPr>
            <a:r>
              <a:rPr lang="en-US" sz="1800" b="1" dirty="0">
                <a:solidFill>
                  <a:srgbClr val="1B2D2A"/>
                </a:solidFill>
                <a:latin typeface="Georgia" pitchFamily="34" charset="0"/>
                <a:ea typeface="Georgia" pitchFamily="34" charset="-122"/>
                <a:cs typeface="Georgia" pitchFamily="34" charset="-120"/>
              </a:rPr>
              <a:t>Equità sociale</a:t>
            </a:r>
            <a:endParaRPr lang="en-US" sz="1800" dirty="0"/>
          </a:p>
        </p:txBody>
      </p:sp>
      <p:sp>
        <p:nvSpPr>
          <p:cNvPr id="26" name="Text 20"/>
          <p:cNvSpPr/>
          <p:nvPr/>
        </p:nvSpPr>
        <p:spPr>
          <a:xfrm>
            <a:off x="8979408" y="4562856"/>
            <a:ext cx="2743200" cy="777240"/>
          </a:xfrm>
          <a:prstGeom prst="rect">
            <a:avLst/>
          </a:prstGeom>
          <a:noFill/>
          <a:ln/>
        </p:spPr>
        <p:txBody>
          <a:bodyPr wrap="square" lIns="0" tIns="0" rIns="0" bIns="0" rtlCol="0" anchor="t"/>
          <a:lstStyle/>
          <a:p>
            <a:pPr indent="0" marL="0">
              <a:lnSpc>
                <a:spcPct val="108000"/>
              </a:lnSpc>
              <a:buNone/>
            </a:pPr>
            <a:r>
              <a:rPr lang="en-US" sz="1300" dirty="0">
                <a:solidFill>
                  <a:srgbClr val="33433F"/>
                </a:solidFill>
                <a:latin typeface="Calibri" pitchFamily="34" charset="0"/>
                <a:ea typeface="Calibri" pitchFamily="34" charset="-122"/>
                <a:cs typeface="Calibri" pitchFamily="34" charset="-120"/>
              </a:rPr>
              <a:t>Distribuire i benefici dello sviluppo, riducendo le disuguaglianze.</a:t>
            </a:r>
            <a:endParaRPr lang="en-US" sz="1300" dirty="0"/>
          </a:p>
        </p:txBody>
      </p:sp>
      <p:sp>
        <p:nvSpPr>
          <p:cNvPr id="27" name="Shape 21"/>
          <p:cNvSpPr/>
          <p:nvPr/>
        </p:nvSpPr>
        <p:spPr>
          <a:xfrm>
            <a:off x="548640" y="6272784"/>
            <a:ext cx="64008" cy="365760"/>
          </a:xfrm>
          <a:prstGeom prst="rect">
            <a:avLst/>
          </a:prstGeom>
          <a:solidFill>
            <a:srgbClr val="BC6C25"/>
          </a:solidFill>
          <a:ln/>
        </p:spPr>
      </p:sp>
      <p:pic>
        <p:nvPicPr>
          <p:cNvPr id="28" name="Image 4" descr="preencoded.png">    </p:cNvPr>
          <p:cNvPicPr>
            <a:picLocks noChangeAspect="1"/>
          </p:cNvPicPr>
          <p:nvPr/>
        </p:nvPicPr>
        <p:blipFill>
          <a:blip r:embed="rId5"/>
          <a:stretch>
            <a:fillRect/>
          </a:stretch>
        </p:blipFill>
        <p:spPr>
          <a:xfrm>
            <a:off x="731520" y="6336792"/>
            <a:ext cx="228600" cy="228600"/>
          </a:xfrm>
          <a:prstGeom prst="rect">
            <a:avLst/>
          </a:prstGeom>
        </p:spPr>
      </p:pic>
      <p:sp>
        <p:nvSpPr>
          <p:cNvPr id="29" name="Text 22"/>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L'obiettivo è «disaccoppiare» la crescita dal consumo di risorse. Vediamo da dove parte questa sfida. → Italiano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D6A4F"/>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2D6A4F"/>
                </a:solidFill>
                <a:latin typeface="Calibri" pitchFamily="34" charset="0"/>
                <a:ea typeface="Calibri" pitchFamily="34" charset="-122"/>
                <a:cs typeface="Calibri" pitchFamily="34" charset="-120"/>
              </a:rPr>
              <a:t>ITALIANO · 1</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01</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Agenda 2030: sviluppo e clima</a:t>
            </a:r>
            <a:endParaRPr lang="en-US" sz="2600" dirty="0"/>
          </a:p>
        </p:txBody>
      </p:sp>
      <p:sp>
        <p:nvSpPr>
          <p:cNvPr id="7" name="Text 4"/>
          <p:cNvSpPr/>
          <p:nvPr/>
        </p:nvSpPr>
        <p:spPr>
          <a:xfrm>
            <a:off x="1298448" y="1600200"/>
            <a:ext cx="6035040" cy="1280160"/>
          </a:xfrm>
          <a:prstGeom prst="rect">
            <a:avLst/>
          </a:prstGeom>
          <a:noFill/>
          <a:ln/>
        </p:spPr>
        <p:txBody>
          <a:bodyPr wrap="square" rtlCol="0" anchor="t"/>
          <a:lstStyle/>
          <a:p>
            <a:pPr algn="l" indent="0" marL="0">
              <a:lnSpc>
                <a:spcPct val="118000"/>
              </a:lnSpc>
              <a:buNone/>
            </a:pPr>
            <a:r>
              <a:rPr lang="en-US" sz="1450" b="1" dirty="0">
                <a:solidFill>
                  <a:srgbClr val="2D6A4F"/>
                </a:solidFill>
                <a:latin typeface="Calibri" pitchFamily="34" charset="0"/>
                <a:ea typeface="Calibri" pitchFamily="34" charset="-122"/>
                <a:cs typeface="Calibri" pitchFamily="34" charset="-120"/>
              </a:rPr>
              <a:t>L'Agenda 2030 </a:t>
            </a:r>
            <a:pPr algn="l" indent="0" marL="0">
              <a:lnSpc>
                <a:spcPct val="118000"/>
              </a:lnSpc>
              <a:buNone/>
            </a:pPr>
            <a:r>
              <a:rPr lang="en-US" sz="1450" dirty="0">
                <a:solidFill>
                  <a:srgbClr val="33433F"/>
                </a:solidFill>
                <a:latin typeface="Calibri" pitchFamily="34" charset="0"/>
                <a:ea typeface="Calibri" pitchFamily="34" charset="-122"/>
                <a:cs typeface="Calibri" pitchFamily="34" charset="-120"/>
              </a:rPr>
              <a:t>(ONU, 2015) è un programma di sviluppo: i suoi 17 Obiettivi tengono insieme la crescita economica (Goal 8: lavoro dignitoso e crescita) e la tutela del pianeta (Goal 13: clima).</a:t>
            </a:r>
            <a:endParaRPr lang="en-US" sz="1450" dirty="0"/>
          </a:p>
        </p:txBody>
      </p:sp>
      <p:sp>
        <p:nvSpPr>
          <p:cNvPr id="8" name="Text 5"/>
          <p:cNvSpPr/>
          <p:nvPr/>
        </p:nvSpPr>
        <p:spPr>
          <a:xfrm>
            <a:off x="1298448" y="2926080"/>
            <a:ext cx="6035040" cy="1005840"/>
          </a:xfrm>
          <a:prstGeom prst="rect">
            <a:avLst/>
          </a:prstGeom>
          <a:noFill/>
          <a:ln/>
        </p:spPr>
        <p:txBody>
          <a:bodyPr wrap="square" rtlCol="0" anchor="t"/>
          <a:lstStyle/>
          <a:p>
            <a:pPr algn="l" indent="0" marL="0">
              <a:lnSpc>
                <a:spcPct val="118000"/>
              </a:lnSpc>
              <a:buNone/>
            </a:pPr>
            <a:r>
              <a:rPr lang="en-US" sz="1450" dirty="0">
                <a:solidFill>
                  <a:srgbClr val="33433F"/>
                </a:solidFill>
                <a:latin typeface="Calibri" pitchFamily="34" charset="0"/>
                <a:ea typeface="Calibri" pitchFamily="34" charset="-122"/>
                <a:cs typeface="Calibri" pitchFamily="34" charset="-120"/>
              </a:rPr>
              <a:t>Il messaggio è chiaro: uno sviluppo che ignora il clima finisce per minare se stesso, perché distrugge le risorse su cui la stessa economia si regge.</a:t>
            </a:r>
            <a:endParaRPr lang="en-US" sz="1450" dirty="0"/>
          </a:p>
        </p:txBody>
      </p:sp>
      <p:sp>
        <p:nvSpPr>
          <p:cNvPr id="9" name="Shape 6"/>
          <p:cNvSpPr/>
          <p:nvPr/>
        </p:nvSpPr>
        <p:spPr>
          <a:xfrm>
            <a:off x="7635240" y="1600200"/>
            <a:ext cx="4023360" cy="4160520"/>
          </a:xfrm>
          <a:prstGeom prst="roundRect">
            <a:avLst>
              <a:gd name="adj" fmla="val 2045"/>
            </a:avLst>
          </a:prstGeom>
          <a:solidFill>
            <a:srgbClr val="1B4332"/>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0" name="Shape 7"/>
          <p:cNvSpPr/>
          <p:nvPr/>
        </p:nvSpPr>
        <p:spPr>
          <a:xfrm>
            <a:off x="7955280" y="1920240"/>
            <a:ext cx="868680" cy="868680"/>
          </a:xfrm>
          <a:prstGeom prst="ellipse">
            <a:avLst/>
          </a:prstGeom>
          <a:solidFill>
            <a:srgbClr val="BC6C25"/>
          </a:solidFill>
          <a:ln/>
        </p:spPr>
      </p:sp>
      <p:sp>
        <p:nvSpPr>
          <p:cNvPr id="11" name="Text 8"/>
          <p:cNvSpPr/>
          <p:nvPr/>
        </p:nvSpPr>
        <p:spPr>
          <a:xfrm>
            <a:off x="7955280" y="192024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13</a:t>
            </a:r>
            <a:endParaRPr lang="en-US" sz="3000" dirty="0"/>
          </a:p>
        </p:txBody>
      </p:sp>
      <p:sp>
        <p:nvSpPr>
          <p:cNvPr id="12" name="Text 9"/>
          <p:cNvSpPr/>
          <p:nvPr/>
        </p:nvSpPr>
        <p:spPr>
          <a:xfrm>
            <a:off x="7955280" y="2926080"/>
            <a:ext cx="3429000" cy="640080"/>
          </a:xfrm>
          <a:prstGeom prst="rect">
            <a:avLst/>
          </a:prstGeom>
          <a:noFill/>
          <a:ln/>
        </p:spPr>
        <p:txBody>
          <a:bodyPr wrap="square" lIns="0" tIns="0" rIns="0" bIns="0" rtlCol="0" anchor="t"/>
          <a:lstStyle/>
          <a:p>
            <a:pPr indent="0" marL="0">
              <a:buNone/>
            </a:pPr>
            <a:r>
              <a:rPr lang="en-US" sz="1800" b="1" dirty="0">
                <a:solidFill>
                  <a:srgbClr val="FFFFFF"/>
                </a:solidFill>
                <a:latin typeface="Georgia" pitchFamily="34" charset="0"/>
                <a:ea typeface="Georgia" pitchFamily="34" charset="-122"/>
                <a:cs typeface="Georgia" pitchFamily="34" charset="-120"/>
              </a:rPr>
              <a:t>Lotta contro il cambiamento climatico</a:t>
            </a:r>
            <a:endParaRPr lang="en-US" sz="1800" dirty="0"/>
          </a:p>
        </p:txBody>
      </p:sp>
      <p:sp>
        <p:nvSpPr>
          <p:cNvPr id="13" name="Text 10"/>
          <p:cNvSpPr/>
          <p:nvPr/>
        </p:nvSpPr>
        <p:spPr>
          <a:xfrm>
            <a:off x="8001000" y="3703320"/>
            <a:ext cx="3383280" cy="1737360"/>
          </a:xfrm>
          <a:prstGeom prst="rect">
            <a:avLst/>
          </a:prstGeom>
          <a:noFill/>
          <a:ln/>
        </p:spPr>
        <p:txBody>
          <a:bodyPr wrap="square" lIns="0" tIns="0" rIns="0" bIns="0" rtlCol="0" anchor="t"/>
          <a:lstStyle/>
          <a:p>
            <a:pPr algn="l" marL="342900" indent="-342900">
              <a:lnSpc>
                <a:spcPct val="110000"/>
              </a:lnSpc>
              <a:spcAft>
                <a:spcPts val="800"/>
              </a:spcAft>
              <a:buSzPct val="100000"/>
              <a:buChar char="•"/>
            </a:pPr>
            <a:r>
              <a:rPr lang="en-US" sz="1300" dirty="0">
                <a:solidFill>
                  <a:srgbClr val="E9EDC9"/>
                </a:solidFill>
                <a:latin typeface="Calibri" pitchFamily="34" charset="0"/>
                <a:ea typeface="Calibri" pitchFamily="34" charset="-122"/>
                <a:cs typeface="Calibri" pitchFamily="34" charset="-120"/>
              </a:rPr>
              <a:t>Rendere l'economia resiliente ai disastri climatici</a:t>
            </a:r>
            <a:endParaRPr lang="en-US" sz="1300" dirty="0"/>
          </a:p>
          <a:p>
            <a:pPr algn="l" marL="342900" indent="-342900">
              <a:lnSpc>
                <a:spcPct val="110000"/>
              </a:lnSpc>
              <a:spcAft>
                <a:spcPts val="800"/>
              </a:spcAft>
              <a:buSzPct val="100000"/>
              <a:buChar char="•"/>
            </a:pPr>
            <a:r>
              <a:rPr lang="en-US" sz="1300" dirty="0">
                <a:solidFill>
                  <a:srgbClr val="E9EDC9"/>
                </a:solidFill>
                <a:latin typeface="Calibri" pitchFamily="34" charset="0"/>
                <a:ea typeface="Calibri" pitchFamily="34" charset="-122"/>
                <a:cs typeface="Calibri" pitchFamily="34" charset="-120"/>
              </a:rPr>
              <a:t>Integrare il clima nelle politiche economiche</a:t>
            </a:r>
            <a:endParaRPr lang="en-US" sz="1300" dirty="0"/>
          </a:p>
          <a:p>
            <a:pPr algn="l" marL="342900" indent="-342900">
              <a:lnSpc>
                <a:spcPct val="110000"/>
              </a:lnSpc>
              <a:spcAft>
                <a:spcPts val="800"/>
              </a:spcAft>
              <a:buSzPct val="100000"/>
              <a:buChar char="•"/>
            </a:pPr>
            <a:r>
              <a:rPr lang="en-US" sz="1300" dirty="0">
                <a:solidFill>
                  <a:srgbClr val="E9EDC9"/>
                </a:solidFill>
                <a:latin typeface="Calibri" pitchFamily="34" charset="0"/>
                <a:ea typeface="Calibri" pitchFamily="34" charset="-122"/>
                <a:cs typeface="Calibri" pitchFamily="34" charset="-120"/>
              </a:rPr>
              <a:t>Investire in innovazione e in nuovi lavori «verdi»</a:t>
            </a:r>
            <a:endParaRPr lang="en-US" sz="1300" dirty="0"/>
          </a:p>
        </p:txBody>
      </p:sp>
      <p:sp>
        <p:nvSpPr>
          <p:cNvPr id="14" name="Shape 11"/>
          <p:cNvSpPr/>
          <p:nvPr/>
        </p:nvSpPr>
        <p:spPr>
          <a:xfrm>
            <a:off x="548640" y="6272784"/>
            <a:ext cx="64008" cy="365760"/>
          </a:xfrm>
          <a:prstGeom prst="rect">
            <a:avLst/>
          </a:prstGeom>
          <a:solidFill>
            <a:srgbClr val="BC6C25"/>
          </a:solidFill>
          <a:ln/>
        </p:spPr>
      </p:sp>
      <p:pic>
        <p:nvPicPr>
          <p:cNvPr id="15" name="Image 1" descr="preencoded.png">    </p:cNvPr>
          <p:cNvPicPr>
            <a:picLocks noChangeAspect="1"/>
          </p:cNvPicPr>
          <p:nvPr/>
        </p:nvPicPr>
        <p:blipFill>
          <a:blip r:embed="rId2"/>
          <a:stretch>
            <a:fillRect/>
          </a:stretch>
        </p:blipFill>
        <p:spPr>
          <a:xfrm>
            <a:off x="731520" y="6336792"/>
            <a:ext cx="228600" cy="228600"/>
          </a:xfrm>
          <a:prstGeom prst="rect">
            <a:avLst/>
          </a:prstGeom>
        </p:spPr>
      </p:pic>
      <p:sp>
        <p:nvSpPr>
          <p:cNvPr id="16" name="Text 12"/>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Alla radice del legame tra economia e clima c'è un solo elemento: il carbonio. → Italiano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D6A4F"/>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2D6A4F"/>
                </a:solidFill>
                <a:latin typeface="Calibri" pitchFamily="34" charset="0"/>
                <a:ea typeface="Calibri" pitchFamily="34" charset="-122"/>
                <a:cs typeface="Calibri" pitchFamily="34" charset="-120"/>
              </a:rPr>
              <a:t>ITALIANO · 2</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01</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Primo Levi e il carbonio dell'industria</a:t>
            </a:r>
            <a:endParaRPr lang="en-US" sz="2600" dirty="0"/>
          </a:p>
        </p:txBody>
      </p:sp>
      <p:sp>
        <p:nvSpPr>
          <p:cNvPr id="7" name="Text 4"/>
          <p:cNvSpPr/>
          <p:nvPr/>
        </p:nvSpPr>
        <p:spPr>
          <a:xfrm>
            <a:off x="1298448" y="1627632"/>
            <a:ext cx="6126480" cy="1417320"/>
          </a:xfrm>
          <a:prstGeom prst="rect">
            <a:avLst/>
          </a:prstGeom>
          <a:noFill/>
          <a:ln/>
        </p:spPr>
        <p:txBody>
          <a:bodyPr wrap="square" rtlCol="0" anchor="t"/>
          <a:lstStyle/>
          <a:p>
            <a:pPr algn="l" indent="0" marL="0">
              <a:lnSpc>
                <a:spcPct val="120000"/>
              </a:lnSpc>
              <a:buNone/>
            </a:pPr>
            <a:r>
              <a:rPr lang="en-US" sz="1450" b="1" dirty="0">
                <a:solidFill>
                  <a:srgbClr val="2D6A4F"/>
                </a:solidFill>
                <a:latin typeface="Calibri" pitchFamily="34" charset="0"/>
                <a:ea typeface="Calibri" pitchFamily="34" charset="-122"/>
                <a:cs typeface="Calibri" pitchFamily="34" charset="-120"/>
              </a:rPr>
              <a:t>Ne «Il Sistema Periodico» (1975) </a:t>
            </a:r>
            <a:pPr algn="l" indent="0" marL="0">
              <a:lnSpc>
                <a:spcPct val="120000"/>
              </a:lnSpc>
              <a:buNone/>
            </a:pPr>
            <a:r>
              <a:rPr lang="en-US" sz="1450" dirty="0">
                <a:solidFill>
                  <a:srgbClr val="33433F"/>
                </a:solidFill>
                <a:latin typeface="Calibri" pitchFamily="34" charset="0"/>
                <a:ea typeface="Calibri" pitchFamily="34" charset="-122"/>
                <a:cs typeface="Calibri" pitchFamily="34" charset="-120"/>
              </a:rPr>
              <a:t>Primo Levi segue il viaggio di un singolo atomo di carbonio: dalla roccia all'aria, da una foglia a un essere vivente, fino alla mano che scrive.</a:t>
            </a:r>
            <a:endParaRPr lang="en-US" sz="1450" dirty="0"/>
          </a:p>
        </p:txBody>
      </p:sp>
      <p:sp>
        <p:nvSpPr>
          <p:cNvPr id="8" name="Text 5"/>
          <p:cNvSpPr/>
          <p:nvPr/>
        </p:nvSpPr>
        <p:spPr>
          <a:xfrm>
            <a:off x="1298448" y="3246120"/>
            <a:ext cx="6126480" cy="2011680"/>
          </a:xfrm>
          <a:prstGeom prst="rect">
            <a:avLst/>
          </a:prstGeom>
          <a:noFill/>
          <a:ln/>
        </p:spPr>
        <p:txBody>
          <a:bodyPr wrap="square" rtlCol="0" anchor="t"/>
          <a:lstStyle/>
          <a:p>
            <a:pPr algn="l" indent="0" marL="0">
              <a:lnSpc>
                <a:spcPct val="120000"/>
              </a:lnSpc>
              <a:buNone/>
            </a:pPr>
            <a:r>
              <a:rPr lang="en-US" sz="1450" b="1" dirty="0">
                <a:solidFill>
                  <a:srgbClr val="1B2D2A"/>
                </a:solidFill>
                <a:latin typeface="Calibri" pitchFamily="34" charset="0"/>
                <a:ea typeface="Calibri" pitchFamily="34" charset="-122"/>
                <a:cs typeface="Calibri" pitchFamily="34" charset="-120"/>
              </a:rPr>
              <a:t>Il carbonio è il filo della crescita: </a:t>
            </a:r>
            <a:pPr algn="l" indent="0" marL="0">
              <a:lnSpc>
                <a:spcPct val="120000"/>
              </a:lnSpc>
              <a:buNone/>
            </a:pPr>
            <a:r>
              <a:rPr lang="en-US" sz="1450" dirty="0">
                <a:solidFill>
                  <a:srgbClr val="33433F"/>
                </a:solidFill>
                <a:latin typeface="Calibri" pitchFamily="34" charset="0"/>
                <a:ea typeface="Calibri" pitchFamily="34" charset="-122"/>
                <a:cs typeface="Calibri" pitchFamily="34" charset="-120"/>
              </a:rPr>
              <a:t>lo sviluppo industriale è nato bruciando carbonio (carbone, petrolio, gas). Quello stesso atomo, come CO₂, è oggi il costo ambientale di quella crescita.</a:t>
            </a:r>
            <a:endParaRPr lang="en-US" sz="1450" dirty="0"/>
          </a:p>
        </p:txBody>
      </p:sp>
      <p:sp>
        <p:nvSpPr>
          <p:cNvPr id="9" name="Shape 6"/>
          <p:cNvSpPr/>
          <p:nvPr/>
        </p:nvSpPr>
        <p:spPr>
          <a:xfrm>
            <a:off x="7726680" y="1691640"/>
            <a:ext cx="3931920" cy="4023360"/>
          </a:xfrm>
          <a:prstGeom prst="roundRect">
            <a:avLst>
              <a:gd name="adj" fmla="val 2093"/>
            </a:avLst>
          </a:prstGeom>
          <a:solidFill>
            <a:srgbClr val="1B4332"/>
          </a:solidFill>
          <a:ln w="12700">
            <a:solidFill>
              <a:srgbClr val="E3EBE4"/>
            </a:solidFill>
            <a:prstDash val="solid"/>
          </a:ln>
          <a:effectLst>
            <a:outerShdw sx="100000" sy="100000" kx="0" ky="0" algn="bl" rotWithShape="0" blurRad="88900" dist="25400" dir="8100000">
              <a:srgbClr val="1B2D2A">
                <a:alpha val="10000"/>
              </a:srgbClr>
            </a:outerShdw>
          </a:effectLst>
        </p:spPr>
      </p:sp>
      <p:pic>
        <p:nvPicPr>
          <p:cNvPr id="10" name="Image 1" descr="preencoded.png">    </p:cNvPr>
          <p:cNvPicPr>
            <a:picLocks noChangeAspect="1"/>
          </p:cNvPicPr>
          <p:nvPr/>
        </p:nvPicPr>
        <p:blipFill>
          <a:blip r:embed="rId2"/>
          <a:stretch>
            <a:fillRect/>
          </a:stretch>
        </p:blipFill>
        <p:spPr>
          <a:xfrm>
            <a:off x="8092440" y="2057400"/>
            <a:ext cx="502920" cy="502920"/>
          </a:xfrm>
          <a:prstGeom prst="rect">
            <a:avLst/>
          </a:prstGeom>
        </p:spPr>
      </p:pic>
      <p:sp>
        <p:nvSpPr>
          <p:cNvPr id="11" name="Text 7"/>
          <p:cNvSpPr/>
          <p:nvPr/>
        </p:nvSpPr>
        <p:spPr>
          <a:xfrm>
            <a:off x="8092440" y="2788920"/>
            <a:ext cx="3246120" cy="1554480"/>
          </a:xfrm>
          <a:prstGeom prst="rect">
            <a:avLst/>
          </a:prstGeom>
          <a:noFill/>
          <a:ln/>
        </p:spPr>
        <p:txBody>
          <a:bodyPr wrap="square" rtlCol="0" anchor="t"/>
          <a:lstStyle/>
          <a:p>
            <a:pPr algn="l" indent="0" marL="0">
              <a:lnSpc>
                <a:spcPct val="120000"/>
              </a:lnSpc>
              <a:buNone/>
            </a:pPr>
            <a:r>
              <a:rPr lang="en-US" sz="1700" i="1" dirty="0">
                <a:solidFill>
                  <a:srgbClr val="FFFFFF"/>
                </a:solidFill>
                <a:latin typeface="Georgia" pitchFamily="34" charset="0"/>
                <a:ea typeface="Georgia" pitchFamily="34" charset="-122"/>
                <a:cs typeface="Georgia" pitchFamily="34" charset="-120"/>
              </a:rPr>
              <a:t>«Esso, il nostro atomo di carbonio... è di nuovo tra noi, in un bicchiere di latte.»</a:t>
            </a:r>
            <a:endParaRPr lang="en-US" sz="1700" dirty="0"/>
          </a:p>
        </p:txBody>
      </p:sp>
      <p:sp>
        <p:nvSpPr>
          <p:cNvPr id="12" name="Text 8"/>
          <p:cNvSpPr/>
          <p:nvPr/>
        </p:nvSpPr>
        <p:spPr>
          <a:xfrm>
            <a:off x="8092440" y="4846320"/>
            <a:ext cx="3246120" cy="548640"/>
          </a:xfrm>
          <a:prstGeom prst="rect">
            <a:avLst/>
          </a:prstGeom>
          <a:noFill/>
          <a:ln/>
        </p:spPr>
        <p:txBody>
          <a:bodyPr wrap="square" rtlCol="0" anchor="t"/>
          <a:lstStyle/>
          <a:p>
            <a:pPr indent="0" marL="0">
              <a:buNone/>
            </a:pPr>
            <a:r>
              <a:rPr lang="en-US" sz="1200" dirty="0">
                <a:solidFill>
                  <a:srgbClr val="74C69D"/>
                </a:solidFill>
                <a:latin typeface="Calibri" pitchFamily="34" charset="0"/>
                <a:ea typeface="Calibri" pitchFamily="34" charset="-122"/>
                <a:cs typeface="Calibri" pitchFamily="34" charset="-120"/>
              </a:rPr>
              <a:t>Primo Levi, «Carbonio» — Il Sistema Periodico</a:t>
            </a:r>
            <a:endParaRPr lang="en-US" sz="1200" dirty="0"/>
          </a:p>
        </p:txBody>
      </p:sp>
      <p:sp>
        <p:nvSpPr>
          <p:cNvPr id="13" name="Shape 9"/>
          <p:cNvSpPr/>
          <p:nvPr/>
        </p:nvSpPr>
        <p:spPr>
          <a:xfrm>
            <a:off x="548640" y="6272784"/>
            <a:ext cx="64008" cy="365760"/>
          </a:xfrm>
          <a:prstGeom prst="rect">
            <a:avLst/>
          </a:prstGeom>
          <a:solidFill>
            <a:srgbClr val="BC6C25"/>
          </a:solidFill>
          <a:ln/>
        </p:spPr>
      </p:sp>
      <p:pic>
        <p:nvPicPr>
          <p:cNvPr id="14" name="Image 2" descr="preencoded.png">    </p:cNvPr>
          <p:cNvPicPr>
            <a:picLocks noChangeAspect="1"/>
          </p:cNvPicPr>
          <p:nvPr/>
        </p:nvPicPr>
        <p:blipFill>
          <a:blip r:embed="rId3"/>
          <a:stretch>
            <a:fillRect/>
          </a:stretch>
        </p:blipFill>
        <p:spPr>
          <a:xfrm>
            <a:off x="731520" y="6336792"/>
            <a:ext cx="228600" cy="228600"/>
          </a:xfrm>
          <a:prstGeom prst="rect">
            <a:avLst/>
          </a:prstGeom>
        </p:spPr>
      </p:pic>
      <p:sp>
        <p:nvSpPr>
          <p:cNvPr id="15" name="Text 10"/>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La responsabilità individuale ha bisogno di regole comuni: nasce lo Stato che governa l'economia. → Storia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6C25"/>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BC6C25"/>
                </a:solidFill>
                <a:latin typeface="Calibri" pitchFamily="34" charset="0"/>
                <a:ea typeface="Calibri" pitchFamily="34" charset="-122"/>
                <a:cs typeface="Calibri" pitchFamily="34" charset="-120"/>
              </a:rPr>
              <a:t>STORIA · 1</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02</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Dalla monarchia alla Repubblica</a:t>
            </a:r>
            <a:endParaRPr lang="en-US" sz="2600" dirty="0"/>
          </a:p>
        </p:txBody>
      </p:sp>
      <p:sp>
        <p:nvSpPr>
          <p:cNvPr id="7" name="Text 4"/>
          <p:cNvSpPr/>
          <p:nvPr/>
        </p:nvSpPr>
        <p:spPr>
          <a:xfrm>
            <a:off x="1298448" y="1572768"/>
            <a:ext cx="10241280" cy="457200"/>
          </a:xfrm>
          <a:prstGeom prst="rect">
            <a:avLst/>
          </a:prstGeom>
          <a:noFill/>
          <a:ln/>
        </p:spPr>
        <p:txBody>
          <a:bodyPr wrap="square" rtlCol="0" anchor="ctr"/>
          <a:lstStyle/>
          <a:p>
            <a:pPr indent="0" marL="0">
              <a:lnSpc>
                <a:spcPct val="105000"/>
              </a:lnSpc>
              <a:buNone/>
            </a:pPr>
            <a:r>
              <a:rPr lang="en-US" sz="1400" dirty="0">
                <a:solidFill>
                  <a:srgbClr val="33433F"/>
                </a:solidFill>
                <a:latin typeface="Calibri" pitchFamily="34" charset="0"/>
                <a:ea typeface="Calibri" pitchFamily="34" charset="-122"/>
                <a:cs typeface="Calibri" pitchFamily="34" charset="-120"/>
              </a:rPr>
              <a:t>Lo sviluppo economico ha bisogno di una cornice di regole e libertà. Quella cornice nasce con la Repubblica democratica e la sua Costituzione.</a:t>
            </a:r>
            <a:endParaRPr lang="en-US" sz="1400" dirty="0"/>
          </a:p>
        </p:txBody>
      </p:sp>
      <p:sp>
        <p:nvSpPr>
          <p:cNvPr id="8" name="Shape 5"/>
          <p:cNvSpPr/>
          <p:nvPr/>
        </p:nvSpPr>
        <p:spPr>
          <a:xfrm>
            <a:off x="1554480" y="2999232"/>
            <a:ext cx="8531352" cy="32004"/>
          </a:xfrm>
          <a:prstGeom prst="rect">
            <a:avLst/>
          </a:prstGeom>
          <a:solidFill>
            <a:srgbClr val="DDA15E"/>
          </a:solidFill>
          <a:ln/>
        </p:spPr>
      </p:sp>
      <p:sp>
        <p:nvSpPr>
          <p:cNvPr id="9" name="Shape 6"/>
          <p:cNvSpPr/>
          <p:nvPr/>
        </p:nvSpPr>
        <p:spPr>
          <a:xfrm>
            <a:off x="1344168" y="2788920"/>
            <a:ext cx="420624" cy="420624"/>
          </a:xfrm>
          <a:prstGeom prst="ellipse">
            <a:avLst/>
          </a:prstGeom>
          <a:solidFill>
            <a:srgbClr val="BC6C25"/>
          </a:solidFill>
          <a:ln/>
        </p:spPr>
      </p:sp>
      <p:sp>
        <p:nvSpPr>
          <p:cNvPr id="10" name="Text 7"/>
          <p:cNvSpPr/>
          <p:nvPr/>
        </p:nvSpPr>
        <p:spPr>
          <a:xfrm>
            <a:off x="1344168" y="278892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1" name="Shape 8"/>
          <p:cNvSpPr/>
          <p:nvPr/>
        </p:nvSpPr>
        <p:spPr>
          <a:xfrm>
            <a:off x="1298448" y="3401568"/>
            <a:ext cx="2542032" cy="2377440"/>
          </a:xfrm>
          <a:prstGeom prst="roundRect">
            <a:avLst>
              <a:gd name="adj" fmla="val 3462"/>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2" name="Text 9"/>
          <p:cNvSpPr/>
          <p:nvPr/>
        </p:nvSpPr>
        <p:spPr>
          <a:xfrm>
            <a:off x="1499616" y="3584448"/>
            <a:ext cx="2176272" cy="365760"/>
          </a:xfrm>
          <a:prstGeom prst="rect">
            <a:avLst/>
          </a:prstGeom>
          <a:noFill/>
          <a:ln/>
        </p:spPr>
        <p:txBody>
          <a:bodyPr wrap="square" lIns="0" tIns="0" rIns="0" bIns="0" rtlCol="0" anchor="ctr"/>
          <a:lstStyle/>
          <a:p>
            <a:pPr indent="0" marL="0">
              <a:buNone/>
            </a:pPr>
            <a:r>
              <a:rPr lang="en-US" sz="1400" b="1" dirty="0">
                <a:solidFill>
                  <a:srgbClr val="BC6C25"/>
                </a:solidFill>
                <a:latin typeface="Georgia" pitchFamily="34" charset="0"/>
                <a:ea typeface="Georgia" pitchFamily="34" charset="-122"/>
                <a:cs typeface="Georgia" pitchFamily="34" charset="-120"/>
              </a:rPr>
              <a:t>1848 / 1861</a:t>
            </a:r>
            <a:endParaRPr lang="en-US" sz="1400" dirty="0"/>
          </a:p>
        </p:txBody>
      </p:sp>
      <p:sp>
        <p:nvSpPr>
          <p:cNvPr id="13" name="Text 10"/>
          <p:cNvSpPr/>
          <p:nvPr/>
        </p:nvSpPr>
        <p:spPr>
          <a:xfrm>
            <a:off x="1499616" y="3931920"/>
            <a:ext cx="2176272" cy="457200"/>
          </a:xfrm>
          <a:prstGeom prst="rect">
            <a:avLst/>
          </a:prstGeom>
          <a:noFill/>
          <a:ln/>
        </p:spPr>
        <p:txBody>
          <a:bodyPr wrap="square" lIns="0" tIns="0" rIns="0" bIns="0" rtlCol="0" anchor="t"/>
          <a:lstStyle/>
          <a:p>
            <a:pPr indent="0" marL="0">
              <a:buNone/>
            </a:pPr>
            <a:r>
              <a:rPr lang="en-US" sz="1700" b="1" dirty="0">
                <a:solidFill>
                  <a:srgbClr val="1B2D2A"/>
                </a:solidFill>
                <a:latin typeface="Georgia" pitchFamily="34" charset="0"/>
                <a:ea typeface="Georgia" pitchFamily="34" charset="-122"/>
                <a:cs typeface="Georgia" pitchFamily="34" charset="-120"/>
              </a:rPr>
              <a:t>Statuto e Regno</a:t>
            </a:r>
            <a:endParaRPr lang="en-US" sz="1700" dirty="0"/>
          </a:p>
        </p:txBody>
      </p:sp>
      <p:sp>
        <p:nvSpPr>
          <p:cNvPr id="14" name="Text 11"/>
          <p:cNvSpPr/>
          <p:nvPr/>
        </p:nvSpPr>
        <p:spPr>
          <a:xfrm>
            <a:off x="1499616" y="4443984"/>
            <a:ext cx="2157984" cy="1188720"/>
          </a:xfrm>
          <a:prstGeom prst="rect">
            <a:avLst/>
          </a:prstGeom>
          <a:noFill/>
          <a:ln/>
        </p:spPr>
        <p:txBody>
          <a:bodyPr wrap="square" lIns="0" tIns="0" rIns="0" bIns="0" rtlCol="0" anchor="t"/>
          <a:lstStyle/>
          <a:p>
            <a:pPr indent="0" marL="0">
              <a:lnSpc>
                <a:spcPct val="110000"/>
              </a:lnSpc>
              <a:buNone/>
            </a:pPr>
            <a:r>
              <a:rPr lang="en-US" sz="1250" dirty="0">
                <a:solidFill>
                  <a:srgbClr val="33433F"/>
                </a:solidFill>
                <a:latin typeface="Calibri" pitchFamily="34" charset="0"/>
                <a:ea typeface="Calibri" pitchFamily="34" charset="-122"/>
                <a:cs typeface="Calibri" pitchFamily="34" charset="-120"/>
              </a:rPr>
              <a:t>Lo Statuto Albertino e l'Unità: nasce il Regno d'Italia, monarchia dei Savoia.</a:t>
            </a:r>
            <a:endParaRPr lang="en-US" sz="1250" dirty="0"/>
          </a:p>
        </p:txBody>
      </p:sp>
      <p:sp>
        <p:nvSpPr>
          <p:cNvPr id="15" name="Shape 12"/>
          <p:cNvSpPr/>
          <p:nvPr/>
        </p:nvSpPr>
        <p:spPr>
          <a:xfrm>
            <a:off x="4187952" y="2788920"/>
            <a:ext cx="420624" cy="420624"/>
          </a:xfrm>
          <a:prstGeom prst="ellipse">
            <a:avLst/>
          </a:prstGeom>
          <a:solidFill>
            <a:srgbClr val="BC6C25"/>
          </a:solidFill>
          <a:ln/>
        </p:spPr>
      </p:sp>
      <p:sp>
        <p:nvSpPr>
          <p:cNvPr id="16" name="Text 13"/>
          <p:cNvSpPr/>
          <p:nvPr/>
        </p:nvSpPr>
        <p:spPr>
          <a:xfrm>
            <a:off x="4187952" y="278892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7" name="Shape 14"/>
          <p:cNvSpPr/>
          <p:nvPr/>
        </p:nvSpPr>
        <p:spPr>
          <a:xfrm>
            <a:off x="4142232" y="3401568"/>
            <a:ext cx="2542032" cy="2377440"/>
          </a:xfrm>
          <a:prstGeom prst="roundRect">
            <a:avLst>
              <a:gd name="adj" fmla="val 3462"/>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8" name="Text 15"/>
          <p:cNvSpPr/>
          <p:nvPr/>
        </p:nvSpPr>
        <p:spPr>
          <a:xfrm>
            <a:off x="4343400" y="3584448"/>
            <a:ext cx="2176272" cy="365760"/>
          </a:xfrm>
          <a:prstGeom prst="rect">
            <a:avLst/>
          </a:prstGeom>
          <a:noFill/>
          <a:ln/>
        </p:spPr>
        <p:txBody>
          <a:bodyPr wrap="square" lIns="0" tIns="0" rIns="0" bIns="0" rtlCol="0" anchor="ctr"/>
          <a:lstStyle/>
          <a:p>
            <a:pPr indent="0" marL="0">
              <a:buNone/>
            </a:pPr>
            <a:r>
              <a:rPr lang="en-US" sz="1400" b="1" dirty="0">
                <a:solidFill>
                  <a:srgbClr val="BC6C25"/>
                </a:solidFill>
                <a:latin typeface="Georgia" pitchFamily="34" charset="0"/>
                <a:ea typeface="Georgia" pitchFamily="34" charset="-122"/>
                <a:cs typeface="Georgia" pitchFamily="34" charset="-120"/>
              </a:rPr>
              <a:t>1922–1943</a:t>
            </a:r>
            <a:endParaRPr lang="en-US" sz="1400" dirty="0"/>
          </a:p>
        </p:txBody>
      </p:sp>
      <p:sp>
        <p:nvSpPr>
          <p:cNvPr id="19" name="Text 16"/>
          <p:cNvSpPr/>
          <p:nvPr/>
        </p:nvSpPr>
        <p:spPr>
          <a:xfrm>
            <a:off x="4343400" y="3931920"/>
            <a:ext cx="2176272" cy="457200"/>
          </a:xfrm>
          <a:prstGeom prst="rect">
            <a:avLst/>
          </a:prstGeom>
          <a:noFill/>
          <a:ln/>
        </p:spPr>
        <p:txBody>
          <a:bodyPr wrap="square" lIns="0" tIns="0" rIns="0" bIns="0" rtlCol="0" anchor="t"/>
          <a:lstStyle/>
          <a:p>
            <a:pPr indent="0" marL="0">
              <a:buNone/>
            </a:pPr>
            <a:r>
              <a:rPr lang="en-US" sz="1700" b="1" dirty="0">
                <a:solidFill>
                  <a:srgbClr val="1B2D2A"/>
                </a:solidFill>
                <a:latin typeface="Georgia" pitchFamily="34" charset="0"/>
                <a:ea typeface="Georgia" pitchFamily="34" charset="-122"/>
                <a:cs typeface="Georgia" pitchFamily="34" charset="-120"/>
              </a:rPr>
              <a:t>Il fascismo</a:t>
            </a:r>
            <a:endParaRPr lang="en-US" sz="1700" dirty="0"/>
          </a:p>
        </p:txBody>
      </p:sp>
      <p:sp>
        <p:nvSpPr>
          <p:cNvPr id="20" name="Text 17"/>
          <p:cNvSpPr/>
          <p:nvPr/>
        </p:nvSpPr>
        <p:spPr>
          <a:xfrm>
            <a:off x="4343400" y="4443984"/>
            <a:ext cx="2157984" cy="1188720"/>
          </a:xfrm>
          <a:prstGeom prst="rect">
            <a:avLst/>
          </a:prstGeom>
          <a:noFill/>
          <a:ln/>
        </p:spPr>
        <p:txBody>
          <a:bodyPr wrap="square" lIns="0" tIns="0" rIns="0" bIns="0" rtlCol="0" anchor="t"/>
          <a:lstStyle/>
          <a:p>
            <a:pPr indent="0" marL="0">
              <a:lnSpc>
                <a:spcPct val="110000"/>
              </a:lnSpc>
              <a:buNone/>
            </a:pPr>
            <a:r>
              <a:rPr lang="en-US" sz="1250" dirty="0">
                <a:solidFill>
                  <a:srgbClr val="33433F"/>
                </a:solidFill>
                <a:latin typeface="Calibri" pitchFamily="34" charset="0"/>
                <a:ea typeface="Calibri" pitchFamily="34" charset="-122"/>
                <a:cs typeface="Calibri" pitchFamily="34" charset="-120"/>
              </a:rPr>
              <a:t>Regime e «autarchia»: economia chiusa e libertà sospese.</a:t>
            </a:r>
            <a:endParaRPr lang="en-US" sz="1250" dirty="0"/>
          </a:p>
        </p:txBody>
      </p:sp>
      <p:sp>
        <p:nvSpPr>
          <p:cNvPr id="21" name="Shape 18"/>
          <p:cNvSpPr/>
          <p:nvPr/>
        </p:nvSpPr>
        <p:spPr>
          <a:xfrm>
            <a:off x="7031736" y="2788920"/>
            <a:ext cx="420624" cy="420624"/>
          </a:xfrm>
          <a:prstGeom prst="ellipse">
            <a:avLst/>
          </a:prstGeom>
          <a:solidFill>
            <a:srgbClr val="BC6C25"/>
          </a:solidFill>
          <a:ln/>
        </p:spPr>
      </p:sp>
      <p:sp>
        <p:nvSpPr>
          <p:cNvPr id="22" name="Text 19"/>
          <p:cNvSpPr/>
          <p:nvPr/>
        </p:nvSpPr>
        <p:spPr>
          <a:xfrm>
            <a:off x="7031736" y="278892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3" name="Shape 20"/>
          <p:cNvSpPr/>
          <p:nvPr/>
        </p:nvSpPr>
        <p:spPr>
          <a:xfrm>
            <a:off x="6986016" y="3401568"/>
            <a:ext cx="2542032" cy="2377440"/>
          </a:xfrm>
          <a:prstGeom prst="roundRect">
            <a:avLst>
              <a:gd name="adj" fmla="val 3462"/>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24" name="Text 21"/>
          <p:cNvSpPr/>
          <p:nvPr/>
        </p:nvSpPr>
        <p:spPr>
          <a:xfrm>
            <a:off x="7187184" y="3584448"/>
            <a:ext cx="2176272" cy="365760"/>
          </a:xfrm>
          <a:prstGeom prst="rect">
            <a:avLst/>
          </a:prstGeom>
          <a:noFill/>
          <a:ln/>
        </p:spPr>
        <p:txBody>
          <a:bodyPr wrap="square" lIns="0" tIns="0" rIns="0" bIns="0" rtlCol="0" anchor="ctr"/>
          <a:lstStyle/>
          <a:p>
            <a:pPr indent="0" marL="0">
              <a:buNone/>
            </a:pPr>
            <a:r>
              <a:rPr lang="en-US" sz="1400" b="1" dirty="0">
                <a:solidFill>
                  <a:srgbClr val="BC6C25"/>
                </a:solidFill>
                <a:latin typeface="Georgia" pitchFamily="34" charset="0"/>
                <a:ea typeface="Georgia" pitchFamily="34" charset="-122"/>
                <a:cs typeface="Georgia" pitchFamily="34" charset="-120"/>
              </a:rPr>
              <a:t>2 giugno 1946</a:t>
            </a:r>
            <a:endParaRPr lang="en-US" sz="1400" dirty="0"/>
          </a:p>
        </p:txBody>
      </p:sp>
      <p:sp>
        <p:nvSpPr>
          <p:cNvPr id="25" name="Text 22"/>
          <p:cNvSpPr/>
          <p:nvPr/>
        </p:nvSpPr>
        <p:spPr>
          <a:xfrm>
            <a:off x="7187184" y="3931920"/>
            <a:ext cx="2176272" cy="457200"/>
          </a:xfrm>
          <a:prstGeom prst="rect">
            <a:avLst/>
          </a:prstGeom>
          <a:noFill/>
          <a:ln/>
        </p:spPr>
        <p:txBody>
          <a:bodyPr wrap="square" lIns="0" tIns="0" rIns="0" bIns="0" rtlCol="0" anchor="t"/>
          <a:lstStyle/>
          <a:p>
            <a:pPr indent="0" marL="0">
              <a:buNone/>
            </a:pPr>
            <a:r>
              <a:rPr lang="en-US" sz="1700" b="1" dirty="0">
                <a:solidFill>
                  <a:srgbClr val="1B2D2A"/>
                </a:solidFill>
                <a:latin typeface="Georgia" pitchFamily="34" charset="0"/>
                <a:ea typeface="Georgia" pitchFamily="34" charset="-122"/>
                <a:cs typeface="Georgia" pitchFamily="34" charset="-120"/>
              </a:rPr>
              <a:t>Referendum</a:t>
            </a:r>
            <a:endParaRPr lang="en-US" sz="1700" dirty="0"/>
          </a:p>
        </p:txBody>
      </p:sp>
      <p:sp>
        <p:nvSpPr>
          <p:cNvPr id="26" name="Text 23"/>
          <p:cNvSpPr/>
          <p:nvPr/>
        </p:nvSpPr>
        <p:spPr>
          <a:xfrm>
            <a:off x="7187184" y="4443984"/>
            <a:ext cx="2157984" cy="1188720"/>
          </a:xfrm>
          <a:prstGeom prst="rect">
            <a:avLst/>
          </a:prstGeom>
          <a:noFill/>
          <a:ln/>
        </p:spPr>
        <p:txBody>
          <a:bodyPr wrap="square" lIns="0" tIns="0" rIns="0" bIns="0" rtlCol="0" anchor="t"/>
          <a:lstStyle/>
          <a:p>
            <a:pPr indent="0" marL="0">
              <a:lnSpc>
                <a:spcPct val="110000"/>
              </a:lnSpc>
              <a:buNone/>
            </a:pPr>
            <a:r>
              <a:rPr lang="en-US" sz="1250" dirty="0">
                <a:solidFill>
                  <a:srgbClr val="33433F"/>
                </a:solidFill>
                <a:latin typeface="Calibri" pitchFamily="34" charset="0"/>
                <a:ea typeface="Calibri" pitchFamily="34" charset="-122"/>
                <a:cs typeface="Calibri" pitchFamily="34" charset="-120"/>
              </a:rPr>
              <a:t>A suffragio universale gli italiani scelgono la Repubblica.</a:t>
            </a:r>
            <a:endParaRPr lang="en-US" sz="1250" dirty="0"/>
          </a:p>
        </p:txBody>
      </p:sp>
      <p:sp>
        <p:nvSpPr>
          <p:cNvPr id="27" name="Shape 24"/>
          <p:cNvSpPr/>
          <p:nvPr/>
        </p:nvSpPr>
        <p:spPr>
          <a:xfrm>
            <a:off x="9875520" y="2788920"/>
            <a:ext cx="420624" cy="420624"/>
          </a:xfrm>
          <a:prstGeom prst="ellipse">
            <a:avLst/>
          </a:prstGeom>
          <a:solidFill>
            <a:srgbClr val="BC6C25"/>
          </a:solidFill>
          <a:ln/>
        </p:spPr>
      </p:sp>
      <p:sp>
        <p:nvSpPr>
          <p:cNvPr id="28" name="Text 25"/>
          <p:cNvSpPr/>
          <p:nvPr/>
        </p:nvSpPr>
        <p:spPr>
          <a:xfrm>
            <a:off x="9875520" y="278892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9" name="Shape 26"/>
          <p:cNvSpPr/>
          <p:nvPr/>
        </p:nvSpPr>
        <p:spPr>
          <a:xfrm>
            <a:off x="9829800" y="3401568"/>
            <a:ext cx="2542032" cy="2377440"/>
          </a:xfrm>
          <a:prstGeom prst="roundRect">
            <a:avLst>
              <a:gd name="adj" fmla="val 3462"/>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30" name="Text 27"/>
          <p:cNvSpPr/>
          <p:nvPr/>
        </p:nvSpPr>
        <p:spPr>
          <a:xfrm>
            <a:off x="10030968" y="3584448"/>
            <a:ext cx="2176272" cy="365760"/>
          </a:xfrm>
          <a:prstGeom prst="rect">
            <a:avLst/>
          </a:prstGeom>
          <a:noFill/>
          <a:ln/>
        </p:spPr>
        <p:txBody>
          <a:bodyPr wrap="square" lIns="0" tIns="0" rIns="0" bIns="0" rtlCol="0" anchor="ctr"/>
          <a:lstStyle/>
          <a:p>
            <a:pPr indent="0" marL="0">
              <a:buNone/>
            </a:pPr>
            <a:r>
              <a:rPr lang="en-US" sz="1400" b="1" dirty="0">
                <a:solidFill>
                  <a:srgbClr val="BC6C25"/>
                </a:solidFill>
                <a:latin typeface="Georgia" pitchFamily="34" charset="0"/>
                <a:ea typeface="Georgia" pitchFamily="34" charset="-122"/>
                <a:cs typeface="Georgia" pitchFamily="34" charset="-120"/>
              </a:rPr>
              <a:t>1° gen. 1948</a:t>
            </a:r>
            <a:endParaRPr lang="en-US" sz="1400" dirty="0"/>
          </a:p>
        </p:txBody>
      </p:sp>
      <p:sp>
        <p:nvSpPr>
          <p:cNvPr id="31" name="Text 28"/>
          <p:cNvSpPr/>
          <p:nvPr/>
        </p:nvSpPr>
        <p:spPr>
          <a:xfrm>
            <a:off x="10030968" y="3931920"/>
            <a:ext cx="2176272" cy="457200"/>
          </a:xfrm>
          <a:prstGeom prst="rect">
            <a:avLst/>
          </a:prstGeom>
          <a:noFill/>
          <a:ln/>
        </p:spPr>
        <p:txBody>
          <a:bodyPr wrap="square" lIns="0" tIns="0" rIns="0" bIns="0" rtlCol="0" anchor="t"/>
          <a:lstStyle/>
          <a:p>
            <a:pPr indent="0" marL="0">
              <a:buNone/>
            </a:pPr>
            <a:r>
              <a:rPr lang="en-US" sz="1700" b="1" dirty="0">
                <a:solidFill>
                  <a:srgbClr val="1B2D2A"/>
                </a:solidFill>
                <a:latin typeface="Georgia" pitchFamily="34" charset="0"/>
                <a:ea typeface="Georgia" pitchFamily="34" charset="-122"/>
                <a:cs typeface="Georgia" pitchFamily="34" charset="-120"/>
              </a:rPr>
              <a:t>La Costituzione</a:t>
            </a:r>
            <a:endParaRPr lang="en-US" sz="1700" dirty="0"/>
          </a:p>
        </p:txBody>
      </p:sp>
      <p:sp>
        <p:nvSpPr>
          <p:cNvPr id="32" name="Text 29"/>
          <p:cNvSpPr/>
          <p:nvPr/>
        </p:nvSpPr>
        <p:spPr>
          <a:xfrm>
            <a:off x="10030968" y="4443984"/>
            <a:ext cx="2157984" cy="1188720"/>
          </a:xfrm>
          <a:prstGeom prst="rect">
            <a:avLst/>
          </a:prstGeom>
          <a:noFill/>
          <a:ln/>
        </p:spPr>
        <p:txBody>
          <a:bodyPr wrap="square" lIns="0" tIns="0" rIns="0" bIns="0" rtlCol="0" anchor="t"/>
          <a:lstStyle/>
          <a:p>
            <a:pPr indent="0" marL="0">
              <a:lnSpc>
                <a:spcPct val="110000"/>
              </a:lnSpc>
              <a:buNone/>
            </a:pPr>
            <a:r>
              <a:rPr lang="en-US" sz="1250" dirty="0">
                <a:solidFill>
                  <a:srgbClr val="33433F"/>
                </a:solidFill>
                <a:latin typeface="Calibri" pitchFamily="34" charset="0"/>
                <a:ea typeface="Calibri" pitchFamily="34" charset="-122"/>
                <a:cs typeface="Calibri" pitchFamily="34" charset="-120"/>
              </a:rPr>
              <a:t>Entra in vigore la Carta dello Stato democratico.</a:t>
            </a:r>
            <a:endParaRPr lang="en-US" sz="1250" dirty="0"/>
          </a:p>
        </p:txBody>
      </p:sp>
      <p:sp>
        <p:nvSpPr>
          <p:cNvPr id="33" name="Shape 30"/>
          <p:cNvSpPr/>
          <p:nvPr/>
        </p:nvSpPr>
        <p:spPr>
          <a:xfrm>
            <a:off x="548640" y="6272784"/>
            <a:ext cx="64008" cy="365760"/>
          </a:xfrm>
          <a:prstGeom prst="rect">
            <a:avLst/>
          </a:prstGeom>
          <a:solidFill>
            <a:srgbClr val="BC6C25"/>
          </a:solidFill>
          <a:ln/>
        </p:spPr>
      </p:sp>
      <p:pic>
        <p:nvPicPr>
          <p:cNvPr id="34" name="Image 1" descr="preencoded.png">    </p:cNvPr>
          <p:cNvPicPr>
            <a:picLocks noChangeAspect="1"/>
          </p:cNvPicPr>
          <p:nvPr/>
        </p:nvPicPr>
        <p:blipFill>
          <a:blip r:embed="rId2"/>
          <a:stretch>
            <a:fillRect/>
          </a:stretch>
        </p:blipFill>
        <p:spPr>
          <a:xfrm>
            <a:off x="731520" y="6336792"/>
            <a:ext cx="228600" cy="228600"/>
          </a:xfrm>
          <a:prstGeom prst="rect">
            <a:avLst/>
          </a:prstGeom>
        </p:spPr>
      </p:pic>
      <p:sp>
        <p:nvSpPr>
          <p:cNvPr id="35" name="Text 31"/>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La nuova Repubblica costruì un modello economico diverso da quello del regime: scopriamolo. → Storia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6C25"/>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BC6C25"/>
                </a:solidFill>
                <a:latin typeface="Calibri" pitchFamily="34" charset="0"/>
                <a:ea typeface="Calibri" pitchFamily="34" charset="-122"/>
                <a:cs typeface="Calibri" pitchFamily="34" charset="-120"/>
              </a:rPr>
              <a:t>STORIA · 2</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02</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Una Repubblica fondata sul lavoro</a:t>
            </a:r>
            <a:endParaRPr lang="en-US" sz="2600" dirty="0"/>
          </a:p>
        </p:txBody>
      </p:sp>
      <p:sp>
        <p:nvSpPr>
          <p:cNvPr id="7" name="Text 4"/>
          <p:cNvSpPr/>
          <p:nvPr/>
        </p:nvSpPr>
        <p:spPr>
          <a:xfrm>
            <a:off x="1298448" y="1600200"/>
            <a:ext cx="6035040" cy="1463040"/>
          </a:xfrm>
          <a:prstGeom prst="rect">
            <a:avLst/>
          </a:prstGeom>
          <a:noFill/>
          <a:ln/>
        </p:spPr>
        <p:txBody>
          <a:bodyPr wrap="square" rtlCol="0" anchor="t"/>
          <a:lstStyle/>
          <a:p>
            <a:pPr algn="l" indent="0" marL="0">
              <a:lnSpc>
                <a:spcPct val="120000"/>
              </a:lnSpc>
              <a:buNone/>
            </a:pPr>
            <a:r>
              <a:rPr lang="en-US" sz="1450" b="1" dirty="0">
                <a:solidFill>
                  <a:srgbClr val="BC6C25"/>
                </a:solidFill>
                <a:latin typeface="Calibri" pitchFamily="34" charset="0"/>
                <a:ea typeface="Calibri" pitchFamily="34" charset="-122"/>
                <a:cs typeface="Calibri" pitchFamily="34" charset="-120"/>
              </a:rPr>
              <a:t>La Costituzione disegna una «costituzione economica»: </a:t>
            </a:r>
            <a:pPr algn="l" indent="0" marL="0">
              <a:lnSpc>
                <a:spcPct val="120000"/>
              </a:lnSpc>
              <a:buNone/>
            </a:pPr>
            <a:r>
              <a:rPr lang="en-US" sz="1450" dirty="0">
                <a:solidFill>
                  <a:srgbClr val="33433F"/>
                </a:solidFill>
                <a:latin typeface="Calibri" pitchFamily="34" charset="0"/>
                <a:ea typeface="Calibri" pitchFamily="34" charset="-122"/>
                <a:cs typeface="Calibri" pitchFamily="34" charset="-120"/>
              </a:rPr>
              <a:t>un'economia di mercato libera, ma orientata al bene comune. Lo Stato non è spettatore: indirizza lo sviluppo verso l'utilità sociale.</a:t>
            </a:r>
            <a:endParaRPr lang="en-US" sz="1450" dirty="0"/>
          </a:p>
        </p:txBody>
      </p:sp>
      <p:sp>
        <p:nvSpPr>
          <p:cNvPr id="8" name="Text 5"/>
          <p:cNvSpPr/>
          <p:nvPr/>
        </p:nvSpPr>
        <p:spPr>
          <a:xfrm>
            <a:off x="1298448" y="3246120"/>
            <a:ext cx="6035040" cy="1371600"/>
          </a:xfrm>
          <a:prstGeom prst="rect">
            <a:avLst/>
          </a:prstGeom>
          <a:noFill/>
          <a:ln/>
        </p:spPr>
        <p:txBody>
          <a:bodyPr wrap="square" rtlCol="0" anchor="t"/>
          <a:lstStyle/>
          <a:p>
            <a:pPr algn="l" indent="0" marL="0">
              <a:lnSpc>
                <a:spcPct val="120000"/>
              </a:lnSpc>
              <a:buNone/>
            </a:pPr>
            <a:r>
              <a:rPr lang="en-US" sz="1450" dirty="0">
                <a:solidFill>
                  <a:srgbClr val="33433F"/>
                </a:solidFill>
                <a:latin typeface="Calibri" pitchFamily="34" charset="0"/>
                <a:ea typeface="Calibri" pitchFamily="34" charset="-122"/>
                <a:cs typeface="Calibri" pitchFamily="34" charset="-120"/>
              </a:rPr>
              <a:t>È questa cornice che ha reso possibile il «miracolo economico» del dopoguerra e che, oggi, permette di indirizzare la crescita verso la sostenibilità.</a:t>
            </a:r>
            <a:endParaRPr lang="en-US" sz="1450" dirty="0"/>
          </a:p>
        </p:txBody>
      </p:sp>
      <p:sp>
        <p:nvSpPr>
          <p:cNvPr id="9" name="Shape 6"/>
          <p:cNvSpPr/>
          <p:nvPr/>
        </p:nvSpPr>
        <p:spPr>
          <a:xfrm>
            <a:off x="7635240" y="1737360"/>
            <a:ext cx="4023360" cy="1143000"/>
          </a:xfrm>
          <a:prstGeom prst="roundRect">
            <a:avLst>
              <a:gd name="adj" fmla="val 7200"/>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0" name="Shape 7"/>
          <p:cNvSpPr/>
          <p:nvPr/>
        </p:nvSpPr>
        <p:spPr>
          <a:xfrm>
            <a:off x="7635240" y="1737360"/>
            <a:ext cx="91440" cy="1143000"/>
          </a:xfrm>
          <a:prstGeom prst="rect">
            <a:avLst/>
          </a:prstGeom>
          <a:solidFill>
            <a:srgbClr val="BC6C25"/>
          </a:solidFill>
          <a:ln/>
        </p:spPr>
      </p:sp>
      <p:sp>
        <p:nvSpPr>
          <p:cNvPr id="11" name="Text 8"/>
          <p:cNvSpPr/>
          <p:nvPr/>
        </p:nvSpPr>
        <p:spPr>
          <a:xfrm>
            <a:off x="7909560" y="1883664"/>
            <a:ext cx="3566160" cy="365760"/>
          </a:xfrm>
          <a:prstGeom prst="rect">
            <a:avLst/>
          </a:prstGeom>
          <a:noFill/>
          <a:ln/>
        </p:spPr>
        <p:txBody>
          <a:bodyPr wrap="square" lIns="0" tIns="0" rIns="0" bIns="0" rtlCol="0" anchor="ctr"/>
          <a:lstStyle/>
          <a:p>
            <a:pPr indent="0" marL="0">
              <a:buNone/>
            </a:pPr>
            <a:r>
              <a:rPr lang="en-US" sz="1650" b="1" dirty="0">
                <a:solidFill>
                  <a:srgbClr val="1B2D2A"/>
                </a:solidFill>
                <a:latin typeface="Georgia" pitchFamily="34" charset="0"/>
                <a:ea typeface="Georgia" pitchFamily="34" charset="-122"/>
                <a:cs typeface="Georgia" pitchFamily="34" charset="-120"/>
              </a:rPr>
              <a:t>Il lavoro</a:t>
            </a:r>
            <a:endParaRPr lang="en-US" sz="1650" dirty="0"/>
          </a:p>
        </p:txBody>
      </p:sp>
      <p:sp>
        <p:nvSpPr>
          <p:cNvPr id="12" name="Text 9"/>
          <p:cNvSpPr/>
          <p:nvPr/>
        </p:nvSpPr>
        <p:spPr>
          <a:xfrm>
            <a:off x="7909560" y="2267712"/>
            <a:ext cx="3611880" cy="548640"/>
          </a:xfrm>
          <a:prstGeom prst="rect">
            <a:avLst/>
          </a:prstGeom>
          <a:noFill/>
          <a:ln/>
        </p:spPr>
        <p:txBody>
          <a:bodyPr wrap="square" lIns="0" tIns="0" rIns="0" bIns="0" rtlCol="0" anchor="t"/>
          <a:lstStyle/>
          <a:p>
            <a:pPr indent="0" marL="0">
              <a:lnSpc>
                <a:spcPct val="100000"/>
              </a:lnSpc>
              <a:buNone/>
            </a:pPr>
            <a:r>
              <a:rPr lang="en-US" sz="1250" dirty="0">
                <a:solidFill>
                  <a:srgbClr val="33433F"/>
                </a:solidFill>
                <a:latin typeface="Calibri" pitchFamily="34" charset="0"/>
                <a:ea typeface="Calibri" pitchFamily="34" charset="-122"/>
                <a:cs typeface="Calibri" pitchFamily="34" charset="-120"/>
              </a:rPr>
              <a:t>La Repubblica è «fondata sul lavoro» (art. 1).</a:t>
            </a:r>
            <a:endParaRPr lang="en-US" sz="1250" dirty="0"/>
          </a:p>
        </p:txBody>
      </p:sp>
      <p:sp>
        <p:nvSpPr>
          <p:cNvPr id="13" name="Shape 10"/>
          <p:cNvSpPr/>
          <p:nvPr/>
        </p:nvSpPr>
        <p:spPr>
          <a:xfrm>
            <a:off x="7635240" y="3063240"/>
            <a:ext cx="4023360" cy="1143000"/>
          </a:xfrm>
          <a:prstGeom prst="roundRect">
            <a:avLst>
              <a:gd name="adj" fmla="val 7200"/>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4" name="Shape 11"/>
          <p:cNvSpPr/>
          <p:nvPr/>
        </p:nvSpPr>
        <p:spPr>
          <a:xfrm>
            <a:off x="7635240" y="3063240"/>
            <a:ext cx="91440" cy="1143000"/>
          </a:xfrm>
          <a:prstGeom prst="rect">
            <a:avLst/>
          </a:prstGeom>
          <a:solidFill>
            <a:srgbClr val="BC6C25"/>
          </a:solidFill>
          <a:ln/>
        </p:spPr>
      </p:sp>
      <p:sp>
        <p:nvSpPr>
          <p:cNvPr id="15" name="Text 12"/>
          <p:cNvSpPr/>
          <p:nvPr/>
        </p:nvSpPr>
        <p:spPr>
          <a:xfrm>
            <a:off x="7909560" y="3209544"/>
            <a:ext cx="3566160" cy="365760"/>
          </a:xfrm>
          <a:prstGeom prst="rect">
            <a:avLst/>
          </a:prstGeom>
          <a:noFill/>
          <a:ln/>
        </p:spPr>
        <p:txBody>
          <a:bodyPr wrap="square" lIns="0" tIns="0" rIns="0" bIns="0" rtlCol="0" anchor="ctr"/>
          <a:lstStyle/>
          <a:p>
            <a:pPr indent="0" marL="0">
              <a:buNone/>
            </a:pPr>
            <a:r>
              <a:rPr lang="en-US" sz="1650" b="1" dirty="0">
                <a:solidFill>
                  <a:srgbClr val="1B2D2A"/>
                </a:solidFill>
                <a:latin typeface="Georgia" pitchFamily="34" charset="0"/>
                <a:ea typeface="Georgia" pitchFamily="34" charset="-122"/>
                <a:cs typeface="Georgia" pitchFamily="34" charset="-120"/>
              </a:rPr>
              <a:t>L'impresa</a:t>
            </a:r>
            <a:endParaRPr lang="en-US" sz="1650" dirty="0"/>
          </a:p>
        </p:txBody>
      </p:sp>
      <p:sp>
        <p:nvSpPr>
          <p:cNvPr id="16" name="Text 13"/>
          <p:cNvSpPr/>
          <p:nvPr/>
        </p:nvSpPr>
        <p:spPr>
          <a:xfrm>
            <a:off x="7909560" y="3593592"/>
            <a:ext cx="3611880" cy="548640"/>
          </a:xfrm>
          <a:prstGeom prst="rect">
            <a:avLst/>
          </a:prstGeom>
          <a:noFill/>
          <a:ln/>
        </p:spPr>
        <p:txBody>
          <a:bodyPr wrap="square" lIns="0" tIns="0" rIns="0" bIns="0" rtlCol="0" anchor="t"/>
          <a:lstStyle/>
          <a:p>
            <a:pPr indent="0" marL="0">
              <a:lnSpc>
                <a:spcPct val="100000"/>
              </a:lnSpc>
              <a:buNone/>
            </a:pPr>
            <a:r>
              <a:rPr lang="en-US" sz="1250" dirty="0">
                <a:solidFill>
                  <a:srgbClr val="33433F"/>
                </a:solidFill>
                <a:latin typeface="Calibri" pitchFamily="34" charset="0"/>
                <a:ea typeface="Calibri" pitchFamily="34" charset="-122"/>
                <a:cs typeface="Calibri" pitchFamily="34" charset="-120"/>
              </a:rPr>
              <a:t>Iniziativa economica libera, ma non contro l'utilità sociale (art. 41).</a:t>
            </a:r>
            <a:endParaRPr lang="en-US" sz="1250" dirty="0"/>
          </a:p>
        </p:txBody>
      </p:sp>
      <p:sp>
        <p:nvSpPr>
          <p:cNvPr id="17" name="Shape 14"/>
          <p:cNvSpPr/>
          <p:nvPr/>
        </p:nvSpPr>
        <p:spPr>
          <a:xfrm>
            <a:off x="7635240" y="4389120"/>
            <a:ext cx="4023360" cy="1143000"/>
          </a:xfrm>
          <a:prstGeom prst="roundRect">
            <a:avLst>
              <a:gd name="adj" fmla="val 7200"/>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8" name="Shape 15"/>
          <p:cNvSpPr/>
          <p:nvPr/>
        </p:nvSpPr>
        <p:spPr>
          <a:xfrm>
            <a:off x="7635240" y="4389120"/>
            <a:ext cx="91440" cy="1143000"/>
          </a:xfrm>
          <a:prstGeom prst="rect">
            <a:avLst/>
          </a:prstGeom>
          <a:solidFill>
            <a:srgbClr val="BC6C25"/>
          </a:solidFill>
          <a:ln/>
        </p:spPr>
      </p:sp>
      <p:sp>
        <p:nvSpPr>
          <p:cNvPr id="19" name="Text 16"/>
          <p:cNvSpPr/>
          <p:nvPr/>
        </p:nvSpPr>
        <p:spPr>
          <a:xfrm>
            <a:off x="7909560" y="4535424"/>
            <a:ext cx="3566160" cy="365760"/>
          </a:xfrm>
          <a:prstGeom prst="rect">
            <a:avLst/>
          </a:prstGeom>
          <a:noFill/>
          <a:ln/>
        </p:spPr>
        <p:txBody>
          <a:bodyPr wrap="square" lIns="0" tIns="0" rIns="0" bIns="0" rtlCol="0" anchor="ctr"/>
          <a:lstStyle/>
          <a:p>
            <a:pPr indent="0" marL="0">
              <a:buNone/>
            </a:pPr>
            <a:r>
              <a:rPr lang="en-US" sz="1650" b="1" dirty="0">
                <a:solidFill>
                  <a:srgbClr val="1B2D2A"/>
                </a:solidFill>
                <a:latin typeface="Georgia" pitchFamily="34" charset="0"/>
                <a:ea typeface="Georgia" pitchFamily="34" charset="-122"/>
                <a:cs typeface="Georgia" pitchFamily="34" charset="-120"/>
              </a:rPr>
              <a:t>L'uguaglianza</a:t>
            </a:r>
            <a:endParaRPr lang="en-US" sz="1650" dirty="0"/>
          </a:p>
        </p:txBody>
      </p:sp>
      <p:sp>
        <p:nvSpPr>
          <p:cNvPr id="20" name="Text 17"/>
          <p:cNvSpPr/>
          <p:nvPr/>
        </p:nvSpPr>
        <p:spPr>
          <a:xfrm>
            <a:off x="7909560" y="4919472"/>
            <a:ext cx="3611880" cy="548640"/>
          </a:xfrm>
          <a:prstGeom prst="rect">
            <a:avLst/>
          </a:prstGeom>
          <a:noFill/>
          <a:ln/>
        </p:spPr>
        <p:txBody>
          <a:bodyPr wrap="square" lIns="0" tIns="0" rIns="0" bIns="0" rtlCol="0" anchor="t"/>
          <a:lstStyle/>
          <a:p>
            <a:pPr indent="0" marL="0">
              <a:lnSpc>
                <a:spcPct val="100000"/>
              </a:lnSpc>
              <a:buNone/>
            </a:pPr>
            <a:r>
              <a:rPr lang="en-US" sz="1250" dirty="0">
                <a:solidFill>
                  <a:srgbClr val="33433F"/>
                </a:solidFill>
                <a:latin typeface="Calibri" pitchFamily="34" charset="0"/>
                <a:ea typeface="Calibri" pitchFamily="34" charset="-122"/>
                <a:cs typeface="Calibri" pitchFamily="34" charset="-120"/>
              </a:rPr>
              <a:t>Pari dignità di tutti i cittadini (art. 3).</a:t>
            </a:r>
            <a:endParaRPr lang="en-US" sz="1250" dirty="0"/>
          </a:p>
        </p:txBody>
      </p:sp>
      <p:sp>
        <p:nvSpPr>
          <p:cNvPr id="21" name="Shape 18"/>
          <p:cNvSpPr/>
          <p:nvPr/>
        </p:nvSpPr>
        <p:spPr>
          <a:xfrm>
            <a:off x="548640" y="6272784"/>
            <a:ext cx="64008" cy="365760"/>
          </a:xfrm>
          <a:prstGeom prst="rect">
            <a:avLst/>
          </a:prstGeom>
          <a:solidFill>
            <a:srgbClr val="BC6C25"/>
          </a:solidFill>
          <a:ln/>
        </p:spPr>
      </p:sp>
      <p:pic>
        <p:nvPicPr>
          <p:cNvPr id="22" name="Image 1" descr="preencoded.png">    </p:cNvPr>
          <p:cNvPicPr>
            <a:picLocks noChangeAspect="1"/>
          </p:cNvPicPr>
          <p:nvPr/>
        </p:nvPicPr>
        <p:blipFill>
          <a:blip r:embed="rId2"/>
          <a:stretch>
            <a:fillRect/>
          </a:stretch>
        </p:blipFill>
        <p:spPr>
          <a:xfrm>
            <a:off x="731520" y="6336792"/>
            <a:ext cx="228600" cy="228600"/>
          </a:xfrm>
          <a:prstGeom prst="rect">
            <a:avLst/>
          </a:prstGeom>
        </p:spPr>
      </p:pic>
      <p:sp>
        <p:nvSpPr>
          <p:cNvPr id="23" name="Text 19"/>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Un'economia libera ma con regole è l'opposto del modello totalitario: la filosofia lo spiega. → Filosofia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D6A4F"/>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2D6A4F"/>
                </a:solidFill>
                <a:latin typeface="Calibri" pitchFamily="34" charset="0"/>
                <a:ea typeface="Calibri" pitchFamily="34" charset="-122"/>
                <a:cs typeface="Calibri" pitchFamily="34" charset="-120"/>
              </a:rPr>
              <a:t>FILOSOFIA · 1</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03</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Sviluppo senza libertà: i totalitarismi</a:t>
            </a:r>
            <a:endParaRPr lang="en-US" sz="2600" dirty="0"/>
          </a:p>
        </p:txBody>
      </p:sp>
      <p:sp>
        <p:nvSpPr>
          <p:cNvPr id="7" name="Text 4"/>
          <p:cNvSpPr/>
          <p:nvPr/>
        </p:nvSpPr>
        <p:spPr>
          <a:xfrm>
            <a:off x="1298448" y="1572768"/>
            <a:ext cx="10241280" cy="822960"/>
          </a:xfrm>
          <a:prstGeom prst="rect">
            <a:avLst/>
          </a:prstGeom>
          <a:noFill/>
          <a:ln/>
        </p:spPr>
        <p:txBody>
          <a:bodyPr wrap="square" rtlCol="0" anchor="t"/>
          <a:lstStyle/>
          <a:p>
            <a:pPr algn="l" indent="0" marL="0">
              <a:lnSpc>
                <a:spcPct val="114000"/>
              </a:lnSpc>
              <a:buNone/>
            </a:pPr>
            <a:r>
              <a:rPr lang="en-US" sz="1400" b="1" dirty="0">
                <a:solidFill>
                  <a:srgbClr val="2D6A4F"/>
                </a:solidFill>
                <a:latin typeface="Calibri" pitchFamily="34" charset="0"/>
                <a:ea typeface="Calibri" pitchFamily="34" charset="-122"/>
                <a:cs typeface="Calibri" pitchFamily="34" charset="-120"/>
              </a:rPr>
              <a:t>Il totalitarismo </a:t>
            </a:r>
            <a:pPr algn="l" indent="0" marL="0">
              <a:lnSpc>
                <a:spcPct val="114000"/>
              </a:lnSpc>
              <a:buNone/>
            </a:pPr>
            <a:r>
              <a:rPr lang="en-US" sz="1400" dirty="0">
                <a:solidFill>
                  <a:srgbClr val="33433F"/>
                </a:solidFill>
                <a:latin typeface="Calibri" pitchFamily="34" charset="0"/>
                <a:ea typeface="Calibri" pitchFamily="34" charset="-122"/>
                <a:cs typeface="Calibri" pitchFamily="34" charset="-120"/>
              </a:rPr>
              <a:t>piega anche l'economia all'ideologia: produzione e «sviluppo» a ogni costo, con l'uomo e l'ambiente ridotti a semplici strumenti dello Stato.</a:t>
            </a:r>
            <a:endParaRPr lang="en-US" sz="1400" dirty="0"/>
          </a:p>
        </p:txBody>
      </p:sp>
      <p:sp>
        <p:nvSpPr>
          <p:cNvPr id="8" name="Shape 5"/>
          <p:cNvSpPr/>
          <p:nvPr/>
        </p:nvSpPr>
        <p:spPr>
          <a:xfrm>
            <a:off x="1298448" y="2560320"/>
            <a:ext cx="4956048" cy="1417320"/>
          </a:xfrm>
          <a:prstGeom prst="roundRect">
            <a:avLst>
              <a:gd name="adj" fmla="val 5806"/>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9" name="Shape 6"/>
          <p:cNvSpPr/>
          <p:nvPr/>
        </p:nvSpPr>
        <p:spPr>
          <a:xfrm>
            <a:off x="1298448" y="2560320"/>
            <a:ext cx="91440" cy="1417320"/>
          </a:xfrm>
          <a:prstGeom prst="rect">
            <a:avLst/>
          </a:prstGeom>
          <a:solidFill>
            <a:srgbClr val="2D6A4F"/>
          </a:solidFill>
          <a:ln/>
        </p:spPr>
      </p:sp>
      <p:sp>
        <p:nvSpPr>
          <p:cNvPr id="10" name="Text 7"/>
          <p:cNvSpPr/>
          <p:nvPr/>
        </p:nvSpPr>
        <p:spPr>
          <a:xfrm>
            <a:off x="1591056" y="2743200"/>
            <a:ext cx="4498848" cy="365760"/>
          </a:xfrm>
          <a:prstGeom prst="rect">
            <a:avLst/>
          </a:prstGeom>
          <a:noFill/>
          <a:ln/>
        </p:spPr>
        <p:txBody>
          <a:bodyPr wrap="square" lIns="0" tIns="0" rIns="0" bIns="0" rtlCol="0" anchor="ctr"/>
          <a:lstStyle/>
          <a:p>
            <a:pPr indent="0" marL="0">
              <a:buNone/>
            </a:pPr>
            <a:r>
              <a:rPr lang="en-US" sz="1650" b="1" dirty="0">
                <a:solidFill>
                  <a:srgbClr val="1B2D2A"/>
                </a:solidFill>
                <a:latin typeface="Georgia" pitchFamily="34" charset="0"/>
                <a:ea typeface="Georgia" pitchFamily="34" charset="-122"/>
                <a:cs typeface="Georgia" pitchFamily="34" charset="-120"/>
              </a:rPr>
              <a:t>Ideologia unica</a:t>
            </a:r>
            <a:endParaRPr lang="en-US" sz="1650" dirty="0"/>
          </a:p>
        </p:txBody>
      </p:sp>
      <p:sp>
        <p:nvSpPr>
          <p:cNvPr id="11" name="Text 8"/>
          <p:cNvSpPr/>
          <p:nvPr/>
        </p:nvSpPr>
        <p:spPr>
          <a:xfrm>
            <a:off x="1591056" y="3145536"/>
            <a:ext cx="4453128" cy="777240"/>
          </a:xfrm>
          <a:prstGeom prst="rect">
            <a:avLst/>
          </a:prstGeom>
          <a:noFill/>
          <a:ln/>
        </p:spPr>
        <p:txBody>
          <a:bodyPr wrap="square" lIns="0" tIns="0" rIns="0" bIns="0" rtlCol="0" anchor="t"/>
          <a:lstStyle/>
          <a:p>
            <a:pPr indent="0" marL="0">
              <a:lnSpc>
                <a:spcPct val="108000"/>
              </a:lnSpc>
              <a:buNone/>
            </a:pPr>
            <a:r>
              <a:rPr lang="en-US" sz="1250" dirty="0">
                <a:solidFill>
                  <a:srgbClr val="33433F"/>
                </a:solidFill>
                <a:latin typeface="Calibri" pitchFamily="34" charset="0"/>
                <a:ea typeface="Calibri" pitchFamily="34" charset="-122"/>
                <a:cs typeface="Calibri" pitchFamily="34" charset="-120"/>
              </a:rPr>
              <a:t>Una sola verità imposta a tutti, che giustifica ogni mezzo per i fini del regime.</a:t>
            </a:r>
            <a:endParaRPr lang="en-US" sz="1250" dirty="0"/>
          </a:p>
        </p:txBody>
      </p:sp>
      <p:sp>
        <p:nvSpPr>
          <p:cNvPr id="12" name="Shape 9"/>
          <p:cNvSpPr/>
          <p:nvPr/>
        </p:nvSpPr>
        <p:spPr>
          <a:xfrm>
            <a:off x="6583680" y="2560320"/>
            <a:ext cx="4956048" cy="1417320"/>
          </a:xfrm>
          <a:prstGeom prst="roundRect">
            <a:avLst>
              <a:gd name="adj" fmla="val 5806"/>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3" name="Shape 10"/>
          <p:cNvSpPr/>
          <p:nvPr/>
        </p:nvSpPr>
        <p:spPr>
          <a:xfrm>
            <a:off x="6583680" y="2560320"/>
            <a:ext cx="91440" cy="1417320"/>
          </a:xfrm>
          <a:prstGeom prst="rect">
            <a:avLst/>
          </a:prstGeom>
          <a:solidFill>
            <a:srgbClr val="2D6A4F"/>
          </a:solidFill>
          <a:ln/>
        </p:spPr>
      </p:sp>
      <p:sp>
        <p:nvSpPr>
          <p:cNvPr id="14" name="Text 11"/>
          <p:cNvSpPr/>
          <p:nvPr/>
        </p:nvSpPr>
        <p:spPr>
          <a:xfrm>
            <a:off x="6876288" y="2743200"/>
            <a:ext cx="4498848" cy="365760"/>
          </a:xfrm>
          <a:prstGeom prst="rect">
            <a:avLst/>
          </a:prstGeom>
          <a:noFill/>
          <a:ln/>
        </p:spPr>
        <p:txBody>
          <a:bodyPr wrap="square" lIns="0" tIns="0" rIns="0" bIns="0" rtlCol="0" anchor="ctr"/>
          <a:lstStyle/>
          <a:p>
            <a:pPr indent="0" marL="0">
              <a:buNone/>
            </a:pPr>
            <a:r>
              <a:rPr lang="en-US" sz="1650" b="1" dirty="0">
                <a:solidFill>
                  <a:srgbClr val="1B2D2A"/>
                </a:solidFill>
                <a:latin typeface="Georgia" pitchFamily="34" charset="0"/>
                <a:ea typeface="Georgia" pitchFamily="34" charset="-122"/>
                <a:cs typeface="Georgia" pitchFamily="34" charset="-120"/>
              </a:rPr>
              <a:t>Economia di regime</a:t>
            </a:r>
            <a:endParaRPr lang="en-US" sz="1650" dirty="0"/>
          </a:p>
        </p:txBody>
      </p:sp>
      <p:sp>
        <p:nvSpPr>
          <p:cNvPr id="15" name="Text 12"/>
          <p:cNvSpPr/>
          <p:nvPr/>
        </p:nvSpPr>
        <p:spPr>
          <a:xfrm>
            <a:off x="6876288" y="3145536"/>
            <a:ext cx="4453128" cy="777240"/>
          </a:xfrm>
          <a:prstGeom prst="rect">
            <a:avLst/>
          </a:prstGeom>
          <a:noFill/>
          <a:ln/>
        </p:spPr>
        <p:txBody>
          <a:bodyPr wrap="square" lIns="0" tIns="0" rIns="0" bIns="0" rtlCol="0" anchor="t"/>
          <a:lstStyle/>
          <a:p>
            <a:pPr indent="0" marL="0">
              <a:lnSpc>
                <a:spcPct val="108000"/>
              </a:lnSpc>
              <a:buNone/>
            </a:pPr>
            <a:r>
              <a:rPr lang="en-US" sz="1250" dirty="0">
                <a:solidFill>
                  <a:srgbClr val="33433F"/>
                </a:solidFill>
                <a:latin typeface="Calibri" pitchFamily="34" charset="0"/>
                <a:ea typeface="Calibri" pitchFamily="34" charset="-122"/>
                <a:cs typeface="Calibri" pitchFamily="34" charset="-120"/>
              </a:rPr>
              <a:t>Autarchia o pianificazione totale: il mercato e l'individuo sono soppressi.</a:t>
            </a:r>
            <a:endParaRPr lang="en-US" sz="1250" dirty="0"/>
          </a:p>
        </p:txBody>
      </p:sp>
      <p:sp>
        <p:nvSpPr>
          <p:cNvPr id="16" name="Shape 13"/>
          <p:cNvSpPr/>
          <p:nvPr/>
        </p:nvSpPr>
        <p:spPr>
          <a:xfrm>
            <a:off x="1298448" y="4251960"/>
            <a:ext cx="4956048" cy="1417320"/>
          </a:xfrm>
          <a:prstGeom prst="roundRect">
            <a:avLst>
              <a:gd name="adj" fmla="val 5806"/>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7" name="Shape 14"/>
          <p:cNvSpPr/>
          <p:nvPr/>
        </p:nvSpPr>
        <p:spPr>
          <a:xfrm>
            <a:off x="1298448" y="4251960"/>
            <a:ext cx="91440" cy="1417320"/>
          </a:xfrm>
          <a:prstGeom prst="rect">
            <a:avLst/>
          </a:prstGeom>
          <a:solidFill>
            <a:srgbClr val="2D6A4F"/>
          </a:solidFill>
          <a:ln/>
        </p:spPr>
      </p:sp>
      <p:sp>
        <p:nvSpPr>
          <p:cNvPr id="18" name="Text 15"/>
          <p:cNvSpPr/>
          <p:nvPr/>
        </p:nvSpPr>
        <p:spPr>
          <a:xfrm>
            <a:off x="1591056" y="4434840"/>
            <a:ext cx="4498848" cy="365760"/>
          </a:xfrm>
          <a:prstGeom prst="rect">
            <a:avLst/>
          </a:prstGeom>
          <a:noFill/>
          <a:ln/>
        </p:spPr>
        <p:txBody>
          <a:bodyPr wrap="square" lIns="0" tIns="0" rIns="0" bIns="0" rtlCol="0" anchor="ctr"/>
          <a:lstStyle/>
          <a:p>
            <a:pPr indent="0" marL="0">
              <a:buNone/>
            </a:pPr>
            <a:r>
              <a:rPr lang="en-US" sz="1650" b="1" dirty="0">
                <a:solidFill>
                  <a:srgbClr val="1B2D2A"/>
                </a:solidFill>
                <a:latin typeface="Georgia" pitchFamily="34" charset="0"/>
                <a:ea typeface="Georgia" pitchFamily="34" charset="-122"/>
                <a:cs typeface="Georgia" pitchFamily="34" charset="-120"/>
              </a:rPr>
              <a:t>Terrore e propaganda</a:t>
            </a:r>
            <a:endParaRPr lang="en-US" sz="1650" dirty="0"/>
          </a:p>
        </p:txBody>
      </p:sp>
      <p:sp>
        <p:nvSpPr>
          <p:cNvPr id="19" name="Text 16"/>
          <p:cNvSpPr/>
          <p:nvPr/>
        </p:nvSpPr>
        <p:spPr>
          <a:xfrm>
            <a:off x="1591056" y="4837176"/>
            <a:ext cx="4453128" cy="777240"/>
          </a:xfrm>
          <a:prstGeom prst="rect">
            <a:avLst/>
          </a:prstGeom>
          <a:noFill/>
          <a:ln/>
        </p:spPr>
        <p:txBody>
          <a:bodyPr wrap="square" lIns="0" tIns="0" rIns="0" bIns="0" rtlCol="0" anchor="t"/>
          <a:lstStyle/>
          <a:p>
            <a:pPr indent="0" marL="0">
              <a:lnSpc>
                <a:spcPct val="108000"/>
              </a:lnSpc>
              <a:buNone/>
            </a:pPr>
            <a:r>
              <a:rPr lang="en-US" sz="1250" dirty="0">
                <a:solidFill>
                  <a:srgbClr val="33433F"/>
                </a:solidFill>
                <a:latin typeface="Calibri" pitchFamily="34" charset="0"/>
                <a:ea typeface="Calibri" pitchFamily="34" charset="-122"/>
                <a:cs typeface="Calibri" pitchFamily="34" charset="-120"/>
              </a:rPr>
              <a:t>Polizia segreta, censura e manipolazione delle masse.</a:t>
            </a:r>
            <a:endParaRPr lang="en-US" sz="1250" dirty="0"/>
          </a:p>
        </p:txBody>
      </p:sp>
      <p:sp>
        <p:nvSpPr>
          <p:cNvPr id="20" name="Shape 17"/>
          <p:cNvSpPr/>
          <p:nvPr/>
        </p:nvSpPr>
        <p:spPr>
          <a:xfrm>
            <a:off x="6583680" y="4251960"/>
            <a:ext cx="4956048" cy="1417320"/>
          </a:xfrm>
          <a:prstGeom prst="roundRect">
            <a:avLst>
              <a:gd name="adj" fmla="val 5806"/>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21" name="Shape 18"/>
          <p:cNvSpPr/>
          <p:nvPr/>
        </p:nvSpPr>
        <p:spPr>
          <a:xfrm>
            <a:off x="6583680" y="4251960"/>
            <a:ext cx="91440" cy="1417320"/>
          </a:xfrm>
          <a:prstGeom prst="rect">
            <a:avLst/>
          </a:prstGeom>
          <a:solidFill>
            <a:srgbClr val="2D6A4F"/>
          </a:solidFill>
          <a:ln/>
        </p:spPr>
      </p:sp>
      <p:sp>
        <p:nvSpPr>
          <p:cNvPr id="22" name="Text 19"/>
          <p:cNvSpPr/>
          <p:nvPr/>
        </p:nvSpPr>
        <p:spPr>
          <a:xfrm>
            <a:off x="6876288" y="4434840"/>
            <a:ext cx="4498848" cy="365760"/>
          </a:xfrm>
          <a:prstGeom prst="rect">
            <a:avLst/>
          </a:prstGeom>
          <a:noFill/>
          <a:ln/>
        </p:spPr>
        <p:txBody>
          <a:bodyPr wrap="square" lIns="0" tIns="0" rIns="0" bIns="0" rtlCol="0" anchor="ctr"/>
          <a:lstStyle/>
          <a:p>
            <a:pPr indent="0" marL="0">
              <a:buNone/>
            </a:pPr>
            <a:r>
              <a:rPr lang="en-US" sz="1650" b="1" dirty="0">
                <a:solidFill>
                  <a:srgbClr val="1B2D2A"/>
                </a:solidFill>
                <a:latin typeface="Georgia" pitchFamily="34" charset="0"/>
                <a:ea typeface="Georgia" pitchFamily="34" charset="-122"/>
                <a:cs typeface="Georgia" pitchFamily="34" charset="-120"/>
              </a:rPr>
              <a:t>Negazione della persona</a:t>
            </a:r>
            <a:endParaRPr lang="en-US" sz="1650" dirty="0"/>
          </a:p>
        </p:txBody>
      </p:sp>
      <p:sp>
        <p:nvSpPr>
          <p:cNvPr id="23" name="Text 20"/>
          <p:cNvSpPr/>
          <p:nvPr/>
        </p:nvSpPr>
        <p:spPr>
          <a:xfrm>
            <a:off x="6876288" y="4837176"/>
            <a:ext cx="4453128" cy="777240"/>
          </a:xfrm>
          <a:prstGeom prst="rect">
            <a:avLst/>
          </a:prstGeom>
          <a:noFill/>
          <a:ln/>
        </p:spPr>
        <p:txBody>
          <a:bodyPr wrap="square" lIns="0" tIns="0" rIns="0" bIns="0" rtlCol="0" anchor="t"/>
          <a:lstStyle/>
          <a:p>
            <a:pPr indent="0" marL="0">
              <a:lnSpc>
                <a:spcPct val="108000"/>
              </a:lnSpc>
              <a:buNone/>
            </a:pPr>
            <a:r>
              <a:rPr lang="en-US" sz="1250" dirty="0">
                <a:solidFill>
                  <a:srgbClr val="33433F"/>
                </a:solidFill>
                <a:latin typeface="Calibri" pitchFamily="34" charset="0"/>
                <a:ea typeface="Calibri" pitchFamily="34" charset="-122"/>
                <a:cs typeface="Calibri" pitchFamily="34" charset="-120"/>
              </a:rPr>
              <a:t>Niente diritti né dignità: l'uomo è un mezzo per la produzione e il potere.</a:t>
            </a:r>
            <a:endParaRPr lang="en-US" sz="1250" dirty="0"/>
          </a:p>
        </p:txBody>
      </p:sp>
      <p:sp>
        <p:nvSpPr>
          <p:cNvPr id="24" name="Shape 21"/>
          <p:cNvSpPr/>
          <p:nvPr/>
        </p:nvSpPr>
        <p:spPr>
          <a:xfrm>
            <a:off x="548640" y="6272784"/>
            <a:ext cx="64008" cy="365760"/>
          </a:xfrm>
          <a:prstGeom prst="rect">
            <a:avLst/>
          </a:prstGeom>
          <a:solidFill>
            <a:srgbClr val="BC6C25"/>
          </a:solidFill>
          <a:ln/>
        </p:spPr>
      </p:sp>
      <p:pic>
        <p:nvPicPr>
          <p:cNvPr id="25" name="Image 1" descr="preencoded.png">    </p:cNvPr>
          <p:cNvPicPr>
            <a:picLocks noChangeAspect="1"/>
          </p:cNvPicPr>
          <p:nvPr/>
        </p:nvPicPr>
        <p:blipFill>
          <a:blip r:embed="rId2"/>
          <a:stretch>
            <a:fillRect/>
          </a:stretch>
        </p:blipFill>
        <p:spPr>
          <a:xfrm>
            <a:off x="731520" y="6336792"/>
            <a:ext cx="228600" cy="228600"/>
          </a:xfrm>
          <a:prstGeom prst="rect">
            <a:avLst/>
          </a:prstGeom>
        </p:spPr>
      </p:pic>
      <p:sp>
        <p:nvSpPr>
          <p:cNvPr id="26" name="Text 22"/>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Hannah Arendt ci ricorda perché lo sviluppo deve restare al servizio dell'uomo. → Filosofia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D6A4F"/>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2D6A4F"/>
                </a:solidFill>
                <a:latin typeface="Calibri" pitchFamily="34" charset="0"/>
                <a:ea typeface="Calibri" pitchFamily="34" charset="-122"/>
                <a:cs typeface="Calibri" pitchFamily="34" charset="-120"/>
              </a:rPr>
              <a:t>FILOSOFIA · 2</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03</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Arendt: l'uomo prima della produzione</a:t>
            </a:r>
            <a:endParaRPr lang="en-US" sz="2600" dirty="0"/>
          </a:p>
        </p:txBody>
      </p:sp>
      <p:sp>
        <p:nvSpPr>
          <p:cNvPr id="7" name="Shape 4"/>
          <p:cNvSpPr/>
          <p:nvPr/>
        </p:nvSpPr>
        <p:spPr>
          <a:xfrm>
            <a:off x="1298448" y="1691640"/>
            <a:ext cx="5760720" cy="4023360"/>
          </a:xfrm>
          <a:prstGeom prst="roundRect">
            <a:avLst>
              <a:gd name="adj" fmla="val 2045"/>
            </a:avLst>
          </a:prstGeom>
          <a:solidFill>
            <a:srgbClr val="1B4332"/>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8" name="Text 5"/>
          <p:cNvSpPr/>
          <p:nvPr/>
        </p:nvSpPr>
        <p:spPr>
          <a:xfrm>
            <a:off x="1627632" y="1965960"/>
            <a:ext cx="5120640" cy="41148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Hannah Arendt</a:t>
            </a:r>
            <a:endParaRPr lang="en-US" sz="2000" dirty="0"/>
          </a:p>
        </p:txBody>
      </p:sp>
      <p:sp>
        <p:nvSpPr>
          <p:cNvPr id="9" name="Text 6"/>
          <p:cNvSpPr/>
          <p:nvPr/>
        </p:nvSpPr>
        <p:spPr>
          <a:xfrm>
            <a:off x="1627632" y="2468880"/>
            <a:ext cx="5120640" cy="1280160"/>
          </a:xfrm>
          <a:prstGeom prst="rect">
            <a:avLst/>
          </a:prstGeom>
          <a:noFill/>
          <a:ln/>
        </p:spPr>
        <p:txBody>
          <a:bodyPr wrap="square" lIns="0" tIns="0" rIns="0" bIns="0" rtlCol="0" anchor="t"/>
          <a:lstStyle/>
          <a:p>
            <a:pPr algn="l" indent="0" marL="0">
              <a:lnSpc>
                <a:spcPct val="120000"/>
              </a:lnSpc>
              <a:buNone/>
            </a:pPr>
            <a:r>
              <a:rPr lang="en-US" sz="1400" b="1" dirty="0">
                <a:solidFill>
                  <a:srgbClr val="74C69D"/>
                </a:solidFill>
                <a:latin typeface="Calibri" pitchFamily="34" charset="0"/>
                <a:ea typeface="Calibri" pitchFamily="34" charset="-122"/>
                <a:cs typeface="Calibri" pitchFamily="34" charset="-120"/>
              </a:rPr>
              <a:t>«Le origini del totalitarismo» (1951): </a:t>
            </a:r>
            <a:pPr algn="l" indent="0" marL="0">
              <a:lnSpc>
                <a:spcPct val="120000"/>
              </a:lnSpc>
              <a:buNone/>
            </a:pPr>
            <a:r>
              <a:rPr lang="en-US" sz="1400" dirty="0">
                <a:solidFill>
                  <a:srgbClr val="E9EDC9"/>
                </a:solidFill>
                <a:latin typeface="Calibri" pitchFamily="34" charset="0"/>
                <a:ea typeface="Calibri" pitchFamily="34" charset="-122"/>
                <a:cs typeface="Calibri" pitchFamily="34" charset="-120"/>
              </a:rPr>
              <a:t>il regime rende l'uomo «superfluo», un semplice ingranaggio della macchina produttiva e del potere.</a:t>
            </a:r>
            <a:endParaRPr lang="en-US" sz="1400" dirty="0"/>
          </a:p>
        </p:txBody>
      </p:sp>
      <p:sp>
        <p:nvSpPr>
          <p:cNvPr id="10" name="Text 7"/>
          <p:cNvSpPr/>
          <p:nvPr/>
        </p:nvSpPr>
        <p:spPr>
          <a:xfrm>
            <a:off x="1627632" y="3977640"/>
            <a:ext cx="5120640" cy="1463040"/>
          </a:xfrm>
          <a:prstGeom prst="rect">
            <a:avLst/>
          </a:prstGeom>
          <a:noFill/>
          <a:ln/>
        </p:spPr>
        <p:txBody>
          <a:bodyPr wrap="square" lIns="0" tIns="0" rIns="0" bIns="0" rtlCol="0" anchor="t"/>
          <a:lstStyle/>
          <a:p>
            <a:pPr algn="l" indent="0" marL="0">
              <a:lnSpc>
                <a:spcPct val="120000"/>
              </a:lnSpc>
              <a:buNone/>
            </a:pPr>
            <a:r>
              <a:rPr lang="en-US" sz="1400" b="1" dirty="0">
                <a:solidFill>
                  <a:srgbClr val="74C69D"/>
                </a:solidFill>
                <a:latin typeface="Calibri" pitchFamily="34" charset="0"/>
                <a:ea typeface="Calibri" pitchFamily="34" charset="-122"/>
                <a:cs typeface="Calibri" pitchFamily="34" charset="-120"/>
              </a:rPr>
              <a:t>«La banalità del male» (1963): </a:t>
            </a:r>
            <a:pPr algn="l" indent="0" marL="0">
              <a:lnSpc>
                <a:spcPct val="120000"/>
              </a:lnSpc>
              <a:buNone/>
            </a:pPr>
            <a:r>
              <a:rPr lang="en-US" sz="1400" dirty="0">
                <a:solidFill>
                  <a:srgbClr val="E9EDC9"/>
                </a:solidFill>
                <a:latin typeface="Calibri" pitchFamily="34" charset="0"/>
                <a:ea typeface="Calibri" pitchFamily="34" charset="-122"/>
                <a:cs typeface="Calibri" pitchFamily="34" charset="-120"/>
              </a:rPr>
              <a:t>il male nasce anche da uomini comuni che smettono di pensare e si limitano a «eseguire».</a:t>
            </a:r>
            <a:endParaRPr lang="en-US" sz="1400" dirty="0"/>
          </a:p>
        </p:txBody>
      </p:sp>
      <p:sp>
        <p:nvSpPr>
          <p:cNvPr id="11" name="Text 8"/>
          <p:cNvSpPr/>
          <p:nvPr/>
        </p:nvSpPr>
        <p:spPr>
          <a:xfrm>
            <a:off x="7360920" y="1783080"/>
            <a:ext cx="4297680" cy="411480"/>
          </a:xfrm>
          <a:prstGeom prst="rect">
            <a:avLst/>
          </a:prstGeom>
          <a:noFill/>
          <a:ln/>
        </p:spPr>
        <p:txBody>
          <a:bodyPr wrap="square" lIns="0" tIns="0" rIns="0" bIns="0" rtlCol="0" anchor="ctr"/>
          <a:lstStyle/>
          <a:p>
            <a:pPr indent="0" marL="0">
              <a:buNone/>
            </a:pPr>
            <a:r>
              <a:rPr lang="en-US" sz="1700" b="1" dirty="0">
                <a:solidFill>
                  <a:srgbClr val="2D6A4F"/>
                </a:solidFill>
                <a:latin typeface="Georgia" pitchFamily="34" charset="0"/>
                <a:ea typeface="Georgia" pitchFamily="34" charset="-122"/>
                <a:cs typeface="Georgia" pitchFamily="34" charset="-120"/>
              </a:rPr>
              <a:t>La lezione per lo sviluppo</a:t>
            </a:r>
            <a:endParaRPr lang="en-US" sz="1700" dirty="0"/>
          </a:p>
        </p:txBody>
      </p:sp>
      <p:sp>
        <p:nvSpPr>
          <p:cNvPr id="12" name="Text 9"/>
          <p:cNvSpPr/>
          <p:nvPr/>
        </p:nvSpPr>
        <p:spPr>
          <a:xfrm>
            <a:off x="7360920" y="2331720"/>
            <a:ext cx="4297680" cy="3200400"/>
          </a:xfrm>
          <a:prstGeom prst="rect">
            <a:avLst/>
          </a:prstGeom>
          <a:noFill/>
          <a:ln/>
        </p:spPr>
        <p:txBody>
          <a:bodyPr wrap="square" rtlCol="0" anchor="t"/>
          <a:lstStyle/>
          <a:p>
            <a:pPr algn="l" marL="342900" indent="-342900">
              <a:lnSpc>
                <a:spcPct val="116000"/>
              </a:lnSpc>
              <a:spcAft>
                <a:spcPts val="1200"/>
              </a:spcAft>
              <a:buSzPct val="100000"/>
              <a:buChar char="•"/>
            </a:pPr>
            <a:r>
              <a:rPr lang="en-US" sz="1400" dirty="0">
                <a:solidFill>
                  <a:srgbClr val="33433F"/>
                </a:solidFill>
                <a:latin typeface="Calibri" pitchFamily="34" charset="0"/>
                <a:ea typeface="Calibri" pitchFamily="34" charset="-122"/>
                <a:cs typeface="Calibri" pitchFamily="34" charset="-120"/>
              </a:rPr>
              <a:t>La crescita non è un fine in sé: deve servire le persone, non l'opposto.</a:t>
            </a:r>
            <a:endParaRPr lang="en-US" sz="1400" dirty="0"/>
          </a:p>
          <a:p>
            <a:pPr algn="l" marL="342900" indent="-342900">
              <a:lnSpc>
                <a:spcPct val="116000"/>
              </a:lnSpc>
              <a:spcAft>
                <a:spcPts val="1200"/>
              </a:spcAft>
              <a:buSzPct val="100000"/>
              <a:buChar char="•"/>
            </a:pPr>
            <a:r>
              <a:rPr lang="en-US" sz="1400" dirty="0">
                <a:solidFill>
                  <a:srgbClr val="33433F"/>
                </a:solidFill>
                <a:latin typeface="Calibri" pitchFamily="34" charset="0"/>
                <a:ea typeface="Calibri" pitchFamily="34" charset="-122"/>
                <a:cs typeface="Calibri" pitchFamily="34" charset="-120"/>
              </a:rPr>
              <a:t>Nessuno – né l'uomo né l'ambiente – va trattato come puro «mezzo» da sfruttare.</a:t>
            </a:r>
            <a:endParaRPr lang="en-US" sz="1400" dirty="0"/>
          </a:p>
          <a:p>
            <a:pPr algn="l" marL="342900" indent="-342900">
              <a:lnSpc>
                <a:spcPct val="116000"/>
              </a:lnSpc>
              <a:spcAft>
                <a:spcPts val="1200"/>
              </a:spcAft>
              <a:buSzPct val="100000"/>
              <a:buChar char="•"/>
            </a:pPr>
            <a:r>
              <a:rPr lang="en-US" sz="1400" dirty="0">
                <a:solidFill>
                  <a:srgbClr val="33433F"/>
                </a:solidFill>
                <a:latin typeface="Calibri" pitchFamily="34" charset="0"/>
                <a:ea typeface="Calibri" pitchFamily="34" charset="-122"/>
                <a:cs typeface="Calibri" pitchFamily="34" charset="-120"/>
              </a:rPr>
              <a:t>Serve responsabilità: pensare alle conseguenze del nostro modello economico.</a:t>
            </a:r>
            <a:endParaRPr lang="en-US" sz="1400" dirty="0"/>
          </a:p>
        </p:txBody>
      </p:sp>
      <p:sp>
        <p:nvSpPr>
          <p:cNvPr id="13" name="Shape 10"/>
          <p:cNvSpPr/>
          <p:nvPr/>
        </p:nvSpPr>
        <p:spPr>
          <a:xfrm>
            <a:off x="548640" y="6272784"/>
            <a:ext cx="64008" cy="365760"/>
          </a:xfrm>
          <a:prstGeom prst="rect">
            <a:avLst/>
          </a:prstGeom>
          <a:solidFill>
            <a:srgbClr val="BC6C25"/>
          </a:solidFill>
          <a:ln/>
        </p:spPr>
      </p:sp>
      <p:pic>
        <p:nvPicPr>
          <p:cNvPr id="14" name="Image 1" descr="preencoded.png">    </p:cNvPr>
          <p:cNvPicPr>
            <a:picLocks noChangeAspect="1"/>
          </p:cNvPicPr>
          <p:nvPr/>
        </p:nvPicPr>
        <p:blipFill>
          <a:blip r:embed="rId2"/>
          <a:stretch>
            <a:fillRect/>
          </a:stretch>
        </p:blipFill>
        <p:spPr>
          <a:xfrm>
            <a:off x="731520" y="6336792"/>
            <a:ext cx="228600" cy="228600"/>
          </a:xfrm>
          <a:prstGeom prst="rect">
            <a:avLst/>
          </a:prstGeom>
        </p:spPr>
      </p:pic>
      <p:sp>
        <p:nvSpPr>
          <p:cNvPr id="15" name="Text 11"/>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Se lo sviluppo deve servire l'uomo, la scienza è lo strumento per renderlo sostenibile. → Scienze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40916C"/>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40916C"/>
                </a:solidFill>
                <a:latin typeface="Calibri" pitchFamily="34" charset="0"/>
                <a:ea typeface="Calibri" pitchFamily="34" charset="-122"/>
                <a:cs typeface="Calibri" pitchFamily="34" charset="-120"/>
              </a:rPr>
              <a:t>SCIENZE · 1</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04</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Innovazione e green economy</a:t>
            </a:r>
            <a:endParaRPr lang="en-US" sz="2600" dirty="0"/>
          </a:p>
        </p:txBody>
      </p:sp>
      <p:sp>
        <p:nvSpPr>
          <p:cNvPr id="7" name="Text 4"/>
          <p:cNvSpPr/>
          <p:nvPr/>
        </p:nvSpPr>
        <p:spPr>
          <a:xfrm>
            <a:off x="1298448" y="1572768"/>
            <a:ext cx="10241280" cy="457200"/>
          </a:xfrm>
          <a:prstGeom prst="rect">
            <a:avLst/>
          </a:prstGeom>
          <a:noFill/>
          <a:ln/>
        </p:spPr>
        <p:txBody>
          <a:bodyPr wrap="square" rtlCol="0" anchor="ctr"/>
          <a:lstStyle/>
          <a:p>
            <a:pPr indent="0" marL="0">
              <a:lnSpc>
                <a:spcPct val="105000"/>
              </a:lnSpc>
              <a:buNone/>
            </a:pPr>
            <a:r>
              <a:rPr lang="en-US" sz="1400" dirty="0">
                <a:solidFill>
                  <a:srgbClr val="33433F"/>
                </a:solidFill>
                <a:latin typeface="Calibri" pitchFamily="34" charset="0"/>
                <a:ea typeface="Calibri" pitchFamily="34" charset="-122"/>
                <a:cs typeface="Calibri" pitchFamily="34" charset="-120"/>
              </a:rPr>
              <a:t>La scienza è il motore di un nuovo sviluppo: la «green economy», che crea valore e lavoro riducendo l'impatto ambientale.</a:t>
            </a:r>
            <a:endParaRPr lang="en-US" sz="1400" dirty="0"/>
          </a:p>
        </p:txBody>
      </p:sp>
      <p:sp>
        <p:nvSpPr>
          <p:cNvPr id="8" name="Shape 5"/>
          <p:cNvSpPr/>
          <p:nvPr/>
        </p:nvSpPr>
        <p:spPr>
          <a:xfrm>
            <a:off x="1298448" y="2148840"/>
            <a:ext cx="5029200" cy="3611880"/>
          </a:xfrm>
          <a:prstGeom prst="roundRect">
            <a:avLst>
              <a:gd name="adj" fmla="val 2278"/>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9" name="Shape 6"/>
          <p:cNvSpPr/>
          <p:nvPr/>
        </p:nvSpPr>
        <p:spPr>
          <a:xfrm>
            <a:off x="1591056" y="2468880"/>
            <a:ext cx="713232" cy="713232"/>
          </a:xfrm>
          <a:prstGeom prst="ellipse">
            <a:avLst/>
          </a:prstGeom>
          <a:solidFill>
            <a:srgbClr val="2D6A4F"/>
          </a:solidFill>
          <a:ln/>
        </p:spPr>
      </p:sp>
      <p:pic>
        <p:nvPicPr>
          <p:cNvPr id="10" name="Image 1" descr="preencoded.png">    </p:cNvPr>
          <p:cNvPicPr>
            <a:picLocks noChangeAspect="1"/>
          </p:cNvPicPr>
          <p:nvPr/>
        </p:nvPicPr>
        <p:blipFill>
          <a:blip r:embed="rId2"/>
          <a:stretch>
            <a:fillRect/>
          </a:stretch>
        </p:blipFill>
        <p:spPr>
          <a:xfrm>
            <a:off x="1764792" y="2642616"/>
            <a:ext cx="365760" cy="365760"/>
          </a:xfrm>
          <a:prstGeom prst="rect">
            <a:avLst/>
          </a:prstGeom>
        </p:spPr>
      </p:pic>
      <p:sp>
        <p:nvSpPr>
          <p:cNvPr id="11" name="Text 7"/>
          <p:cNvSpPr/>
          <p:nvPr/>
        </p:nvSpPr>
        <p:spPr>
          <a:xfrm>
            <a:off x="2468880" y="2578608"/>
            <a:ext cx="3657600" cy="502920"/>
          </a:xfrm>
          <a:prstGeom prst="rect">
            <a:avLst/>
          </a:prstGeom>
          <a:noFill/>
          <a:ln/>
        </p:spPr>
        <p:txBody>
          <a:bodyPr wrap="square" lIns="0" tIns="0" rIns="0" bIns="0" rtlCol="0" anchor="ctr"/>
          <a:lstStyle/>
          <a:p>
            <a:pPr indent="0" marL="0">
              <a:buNone/>
            </a:pPr>
            <a:r>
              <a:rPr lang="en-US" sz="1900" b="1" dirty="0">
                <a:solidFill>
                  <a:srgbClr val="1B2D2A"/>
                </a:solidFill>
                <a:latin typeface="Georgia" pitchFamily="34" charset="0"/>
                <a:ea typeface="Georgia" pitchFamily="34" charset="-122"/>
                <a:cs typeface="Georgia" pitchFamily="34" charset="-120"/>
              </a:rPr>
              <a:t>Biotecnologie</a:t>
            </a:r>
            <a:endParaRPr lang="en-US" sz="1900" dirty="0"/>
          </a:p>
        </p:txBody>
      </p:sp>
      <p:sp>
        <p:nvSpPr>
          <p:cNvPr id="12" name="Text 8"/>
          <p:cNvSpPr/>
          <p:nvPr/>
        </p:nvSpPr>
        <p:spPr>
          <a:xfrm>
            <a:off x="1591056" y="3429000"/>
            <a:ext cx="4572000" cy="2194560"/>
          </a:xfrm>
          <a:prstGeom prst="rect">
            <a:avLst/>
          </a:prstGeom>
          <a:noFill/>
          <a:ln/>
        </p:spPr>
        <p:txBody>
          <a:bodyPr wrap="square" lIns="0" tIns="0" rIns="0" bIns="0" rtlCol="0" anchor="t"/>
          <a:lstStyle/>
          <a:p>
            <a:pPr algn="l" indent="0" marL="0">
              <a:lnSpc>
                <a:spcPct val="116000"/>
              </a:lnSpc>
              <a:spcAft>
                <a:spcPts val="800"/>
              </a:spcAft>
              <a:buNone/>
            </a:pPr>
            <a:r>
              <a:rPr lang="en-US" sz="1350" b="1" dirty="0">
                <a:solidFill>
                  <a:srgbClr val="2D6A4F"/>
                </a:solidFill>
                <a:latin typeface="Calibri" pitchFamily="34" charset="0"/>
                <a:ea typeface="Calibri" pitchFamily="34" charset="-122"/>
                <a:cs typeface="Calibri" pitchFamily="34" charset="-120"/>
              </a:rPr>
              <a:t>Bioeconomia: </a:t>
            </a:r>
            <a:pPr algn="l" indent="0" marL="0">
              <a:lnSpc>
                <a:spcPct val="116000"/>
              </a:lnSpc>
              <a:spcAft>
                <a:spcPts val="800"/>
              </a:spcAft>
              <a:buNone/>
            </a:pPr>
            <a:r>
              <a:rPr lang="en-US" sz="1350" dirty="0">
                <a:solidFill>
                  <a:srgbClr val="33433F"/>
                </a:solidFill>
                <a:latin typeface="Calibri" pitchFamily="34" charset="0"/>
                <a:ea typeface="Calibri" pitchFamily="34" charset="-122"/>
                <a:cs typeface="Calibri" pitchFamily="34" charset="-120"/>
              </a:rPr>
              <a:t>biocarburanti e bioplastiche al posto dei derivati del petrolio.</a:t>
            </a:r>
            <a:endParaRPr lang="en-US" sz="1350" dirty="0"/>
          </a:p>
          <a:p>
            <a:pPr algn="l" indent="0" marL="0">
              <a:lnSpc>
                <a:spcPct val="116000"/>
              </a:lnSpc>
              <a:spcAft>
                <a:spcPts val="800"/>
              </a:spcAft>
              <a:buNone/>
            </a:pPr>
            <a:r>
              <a:rPr lang="en-US" sz="1350" b="1" dirty="0">
                <a:solidFill>
                  <a:srgbClr val="2D6A4F"/>
                </a:solidFill>
                <a:latin typeface="Calibri" pitchFamily="34" charset="0"/>
                <a:ea typeface="Calibri" pitchFamily="34" charset="-122"/>
                <a:cs typeface="Calibri" pitchFamily="34" charset="-120"/>
              </a:rPr>
              <a:t>Biorisanamento: </a:t>
            </a:r>
            <a:pPr algn="l" indent="0" marL="0">
              <a:lnSpc>
                <a:spcPct val="116000"/>
              </a:lnSpc>
              <a:spcAft>
                <a:spcPts val="800"/>
              </a:spcAft>
              <a:buNone/>
            </a:pPr>
            <a:r>
              <a:rPr lang="en-US" sz="1350" dirty="0">
                <a:solidFill>
                  <a:srgbClr val="33433F"/>
                </a:solidFill>
                <a:latin typeface="Calibri" pitchFamily="34" charset="0"/>
                <a:ea typeface="Calibri" pitchFamily="34" charset="-122"/>
                <a:cs typeface="Calibri" pitchFamily="34" charset="-120"/>
              </a:rPr>
              <a:t>microrganismi che ripuliscono suoli e acque, riducendo i costi del danno.</a:t>
            </a:r>
            <a:endParaRPr lang="en-US" sz="1350" dirty="0"/>
          </a:p>
          <a:p>
            <a:pPr algn="l" indent="0" marL="0">
              <a:lnSpc>
                <a:spcPct val="116000"/>
              </a:lnSpc>
              <a:spcAft>
                <a:spcPts val="800"/>
              </a:spcAft>
              <a:buNone/>
            </a:pPr>
            <a:r>
              <a:rPr lang="en-US" sz="1350" b="1" dirty="0">
                <a:solidFill>
                  <a:srgbClr val="2D6A4F"/>
                </a:solidFill>
                <a:latin typeface="Calibri" pitchFamily="34" charset="0"/>
                <a:ea typeface="Calibri" pitchFamily="34" charset="-122"/>
                <a:cs typeface="Calibri" pitchFamily="34" charset="-120"/>
              </a:rPr>
              <a:t>Biogas: </a:t>
            </a:r>
            <a:pPr algn="l" indent="0" marL="0">
              <a:lnSpc>
                <a:spcPct val="116000"/>
              </a:lnSpc>
              <a:spcAft>
                <a:spcPts val="800"/>
              </a:spcAft>
              <a:buNone/>
            </a:pPr>
            <a:r>
              <a:rPr lang="en-US" sz="1350" dirty="0">
                <a:solidFill>
                  <a:srgbClr val="33433F"/>
                </a:solidFill>
                <a:latin typeface="Calibri" pitchFamily="34" charset="0"/>
                <a:ea typeface="Calibri" pitchFamily="34" charset="-122"/>
                <a:cs typeface="Calibri" pitchFamily="34" charset="-120"/>
              </a:rPr>
              <a:t>energia ed economia circolare dai rifiuti organici.</a:t>
            </a:r>
            <a:endParaRPr lang="en-US" sz="1350" dirty="0"/>
          </a:p>
        </p:txBody>
      </p:sp>
      <p:sp>
        <p:nvSpPr>
          <p:cNvPr id="13" name="Shape 9"/>
          <p:cNvSpPr/>
          <p:nvPr/>
        </p:nvSpPr>
        <p:spPr>
          <a:xfrm>
            <a:off x="6629400" y="2148840"/>
            <a:ext cx="5029200" cy="3611880"/>
          </a:xfrm>
          <a:prstGeom prst="roundRect">
            <a:avLst>
              <a:gd name="adj" fmla="val 2278"/>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4" name="Shape 10"/>
          <p:cNvSpPr/>
          <p:nvPr/>
        </p:nvSpPr>
        <p:spPr>
          <a:xfrm>
            <a:off x="6922008" y="2468880"/>
            <a:ext cx="713232" cy="713232"/>
          </a:xfrm>
          <a:prstGeom prst="ellipse">
            <a:avLst/>
          </a:prstGeom>
          <a:solidFill>
            <a:srgbClr val="BC6C25"/>
          </a:solidFill>
          <a:ln/>
        </p:spPr>
      </p:sp>
      <p:pic>
        <p:nvPicPr>
          <p:cNvPr id="15" name="Image 2" descr="preencoded.png">    </p:cNvPr>
          <p:cNvPicPr>
            <a:picLocks noChangeAspect="1"/>
          </p:cNvPicPr>
          <p:nvPr/>
        </p:nvPicPr>
        <p:blipFill>
          <a:blip r:embed="rId3"/>
          <a:stretch>
            <a:fillRect/>
          </a:stretch>
        </p:blipFill>
        <p:spPr>
          <a:xfrm>
            <a:off x="7095744" y="2642616"/>
            <a:ext cx="365760" cy="365760"/>
          </a:xfrm>
          <a:prstGeom prst="rect">
            <a:avLst/>
          </a:prstGeom>
        </p:spPr>
      </p:pic>
      <p:sp>
        <p:nvSpPr>
          <p:cNvPr id="16" name="Text 11"/>
          <p:cNvSpPr/>
          <p:nvPr/>
        </p:nvSpPr>
        <p:spPr>
          <a:xfrm>
            <a:off x="7799832" y="2578608"/>
            <a:ext cx="3657600" cy="502920"/>
          </a:xfrm>
          <a:prstGeom prst="rect">
            <a:avLst/>
          </a:prstGeom>
          <a:noFill/>
          <a:ln/>
        </p:spPr>
        <p:txBody>
          <a:bodyPr wrap="square" lIns="0" tIns="0" rIns="0" bIns="0" rtlCol="0" anchor="ctr"/>
          <a:lstStyle/>
          <a:p>
            <a:pPr indent="0" marL="0">
              <a:buNone/>
            </a:pPr>
            <a:r>
              <a:rPr lang="en-US" sz="1900" b="1" dirty="0">
                <a:solidFill>
                  <a:srgbClr val="1B2D2A"/>
                </a:solidFill>
                <a:latin typeface="Georgia" pitchFamily="34" charset="0"/>
                <a:ea typeface="Georgia" pitchFamily="34" charset="-122"/>
                <a:cs typeface="Georgia" pitchFamily="34" charset="-120"/>
              </a:rPr>
              <a:t>Centrali geotermiche</a:t>
            </a:r>
            <a:endParaRPr lang="en-US" sz="1900" dirty="0"/>
          </a:p>
        </p:txBody>
      </p:sp>
      <p:sp>
        <p:nvSpPr>
          <p:cNvPr id="17" name="Text 12"/>
          <p:cNvSpPr/>
          <p:nvPr/>
        </p:nvSpPr>
        <p:spPr>
          <a:xfrm>
            <a:off x="6922008" y="3429000"/>
            <a:ext cx="4572000" cy="2194560"/>
          </a:xfrm>
          <a:prstGeom prst="rect">
            <a:avLst/>
          </a:prstGeom>
          <a:noFill/>
          <a:ln/>
        </p:spPr>
        <p:txBody>
          <a:bodyPr wrap="square" lIns="0" tIns="0" rIns="0" bIns="0" rtlCol="0" anchor="t"/>
          <a:lstStyle/>
          <a:p>
            <a:pPr algn="l" indent="0" marL="0">
              <a:lnSpc>
                <a:spcPct val="116000"/>
              </a:lnSpc>
              <a:spcAft>
                <a:spcPts val="800"/>
              </a:spcAft>
              <a:buNone/>
            </a:pPr>
            <a:r>
              <a:rPr lang="en-US" sz="1350" b="1" dirty="0">
                <a:solidFill>
                  <a:srgbClr val="BC6C25"/>
                </a:solidFill>
                <a:latin typeface="Calibri" pitchFamily="34" charset="0"/>
                <a:ea typeface="Calibri" pitchFamily="34" charset="-122"/>
                <a:cs typeface="Calibri" pitchFamily="34" charset="-120"/>
              </a:rPr>
              <a:t>Energia dal calore della Terra: </a:t>
            </a:r>
            <a:pPr algn="l" indent="0" marL="0">
              <a:lnSpc>
                <a:spcPct val="116000"/>
              </a:lnSpc>
              <a:spcAft>
                <a:spcPts val="800"/>
              </a:spcAft>
              <a:buNone/>
            </a:pPr>
            <a:r>
              <a:rPr lang="en-US" sz="1350" dirty="0">
                <a:solidFill>
                  <a:srgbClr val="33433F"/>
                </a:solidFill>
                <a:latin typeface="Calibri" pitchFamily="34" charset="0"/>
                <a:ea typeface="Calibri" pitchFamily="34" charset="-122"/>
                <a:cs typeface="Calibri" pitchFamily="34" charset="-120"/>
              </a:rPr>
              <a:t>produzione continua, a basse emissioni.</a:t>
            </a:r>
            <a:endParaRPr lang="en-US" sz="1350" dirty="0"/>
          </a:p>
          <a:p>
            <a:pPr algn="l" indent="0" marL="0">
              <a:lnSpc>
                <a:spcPct val="116000"/>
              </a:lnSpc>
              <a:spcAft>
                <a:spcPts val="800"/>
              </a:spcAft>
              <a:buNone/>
            </a:pPr>
            <a:r>
              <a:rPr lang="en-US" sz="1350" b="1" dirty="0">
                <a:solidFill>
                  <a:srgbClr val="BC6C25"/>
                </a:solidFill>
                <a:latin typeface="Calibri" pitchFamily="34" charset="0"/>
                <a:ea typeface="Calibri" pitchFamily="34" charset="-122"/>
                <a:cs typeface="Calibri" pitchFamily="34" charset="-120"/>
              </a:rPr>
              <a:t>Larderello (Toscana): </a:t>
            </a:r>
            <a:pPr algn="l" indent="0" marL="0">
              <a:lnSpc>
                <a:spcPct val="116000"/>
              </a:lnSpc>
              <a:spcAft>
                <a:spcPts val="800"/>
              </a:spcAft>
              <a:buNone/>
            </a:pPr>
            <a:r>
              <a:rPr lang="en-US" sz="1350" dirty="0">
                <a:solidFill>
                  <a:srgbClr val="33433F"/>
                </a:solidFill>
                <a:latin typeface="Calibri" pitchFamily="34" charset="0"/>
                <a:ea typeface="Calibri" pitchFamily="34" charset="-122"/>
                <a:cs typeface="Calibri" pitchFamily="34" charset="-120"/>
              </a:rPr>
              <a:t>nel 1904 vi nacque la prima centrale geotermica al mondo, un primato industriale italiano.</a:t>
            </a:r>
            <a:endParaRPr lang="en-US" sz="1350" dirty="0"/>
          </a:p>
          <a:p>
            <a:pPr algn="l" indent="0" marL="0">
              <a:lnSpc>
                <a:spcPct val="116000"/>
              </a:lnSpc>
              <a:spcAft>
                <a:spcPts val="800"/>
              </a:spcAft>
              <a:buNone/>
            </a:pPr>
            <a:r>
              <a:rPr lang="en-US" sz="1350" b="1" dirty="0">
                <a:solidFill>
                  <a:srgbClr val="BC6C25"/>
                </a:solidFill>
                <a:latin typeface="Calibri" pitchFamily="34" charset="0"/>
                <a:ea typeface="Calibri" pitchFamily="34" charset="-122"/>
                <a:cs typeface="Calibri" pitchFamily="34" charset="-120"/>
              </a:rPr>
              <a:t>Oggi </a:t>
            </a:r>
            <a:pPr algn="l" indent="0" marL="0">
              <a:lnSpc>
                <a:spcPct val="116000"/>
              </a:lnSpc>
              <a:spcAft>
                <a:spcPts val="800"/>
              </a:spcAft>
              <a:buNone/>
            </a:pPr>
            <a:r>
              <a:rPr lang="en-US" sz="1350" dirty="0">
                <a:solidFill>
                  <a:srgbClr val="33433F"/>
                </a:solidFill>
                <a:latin typeface="Calibri" pitchFamily="34" charset="0"/>
                <a:ea typeface="Calibri" pitchFamily="34" charset="-122"/>
                <a:cs typeface="Calibri" pitchFamily="34" charset="-120"/>
              </a:rPr>
              <a:t>copre circa il 4% dell'elettricità rinnovabile nazionale.</a:t>
            </a:r>
            <a:endParaRPr lang="en-US" sz="1350" dirty="0"/>
          </a:p>
        </p:txBody>
      </p:sp>
      <p:sp>
        <p:nvSpPr>
          <p:cNvPr id="18" name="Shape 13"/>
          <p:cNvSpPr/>
          <p:nvPr/>
        </p:nvSpPr>
        <p:spPr>
          <a:xfrm>
            <a:off x="548640" y="6272784"/>
            <a:ext cx="64008" cy="365760"/>
          </a:xfrm>
          <a:prstGeom prst="rect">
            <a:avLst/>
          </a:prstGeom>
          <a:solidFill>
            <a:srgbClr val="BC6C25"/>
          </a:solidFill>
          <a:ln/>
        </p:spPr>
      </p:sp>
      <p:pic>
        <p:nvPicPr>
          <p:cNvPr id="19" name="Image 3" descr="preencoded.png">    </p:cNvPr>
          <p:cNvPicPr>
            <a:picLocks noChangeAspect="1"/>
          </p:cNvPicPr>
          <p:nvPr/>
        </p:nvPicPr>
        <p:blipFill>
          <a:blip r:embed="rId4"/>
          <a:stretch>
            <a:fillRect/>
          </a:stretch>
        </p:blipFill>
        <p:spPr>
          <a:xfrm>
            <a:off x="731520" y="6336792"/>
            <a:ext cx="228600" cy="228600"/>
          </a:xfrm>
          <a:prstGeom prst="rect">
            <a:avLst/>
          </a:prstGeom>
        </p:spPr>
      </p:pic>
      <p:sp>
        <p:nvSpPr>
          <p:cNvPr id="20" name="Text 14"/>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Ma lo sviluppo industriale è nato da una fonte ben diversa: gli idrocarburi. → Scienze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40916C"/>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40916C"/>
                </a:solidFill>
                <a:latin typeface="Calibri" pitchFamily="34" charset="0"/>
                <a:ea typeface="Calibri" pitchFamily="34" charset="-122"/>
                <a:cs typeface="Calibri" pitchFamily="34" charset="-120"/>
              </a:rPr>
              <a:t>SCIENZE · 2</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04</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Idrocarburi: il costo della crescita</a:t>
            </a:r>
            <a:endParaRPr lang="en-US" sz="2600" dirty="0"/>
          </a:p>
        </p:txBody>
      </p:sp>
      <p:sp>
        <p:nvSpPr>
          <p:cNvPr id="7" name="Text 4"/>
          <p:cNvSpPr/>
          <p:nvPr/>
        </p:nvSpPr>
        <p:spPr>
          <a:xfrm>
            <a:off x="1298448" y="1554480"/>
            <a:ext cx="10241280" cy="502920"/>
          </a:xfrm>
          <a:prstGeom prst="rect">
            <a:avLst/>
          </a:prstGeom>
          <a:noFill/>
          <a:ln/>
        </p:spPr>
        <p:txBody>
          <a:bodyPr wrap="square" rtlCol="0" anchor="ctr"/>
          <a:lstStyle/>
          <a:p>
            <a:pPr indent="0" marL="0">
              <a:lnSpc>
                <a:spcPct val="105000"/>
              </a:lnSpc>
              <a:buNone/>
            </a:pPr>
            <a:r>
              <a:rPr lang="en-US" sz="1400" dirty="0">
                <a:solidFill>
                  <a:srgbClr val="33433F"/>
                </a:solidFill>
                <a:latin typeface="Calibri" pitchFamily="34" charset="0"/>
                <a:ea typeface="Calibri" pitchFamily="34" charset="-122"/>
                <a:cs typeface="Calibri" pitchFamily="34" charset="-120"/>
              </a:rPr>
              <a:t>Gli idrocarburi (composti di carbonio e idrogeno) sono i combustibili fossili che hanno alimentato la crescita industriale. Tra quelli ad anello distinguiamo due famiglie.</a:t>
            </a:r>
            <a:endParaRPr lang="en-US" sz="1400" dirty="0"/>
          </a:p>
        </p:txBody>
      </p:sp>
      <p:sp>
        <p:nvSpPr>
          <p:cNvPr id="8" name="Shape 5"/>
          <p:cNvSpPr/>
          <p:nvPr/>
        </p:nvSpPr>
        <p:spPr>
          <a:xfrm>
            <a:off x="1298448" y="2194560"/>
            <a:ext cx="5029200" cy="2331720"/>
          </a:xfrm>
          <a:prstGeom prst="roundRect">
            <a:avLst>
              <a:gd name="adj" fmla="val 3529"/>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9" name="Shape 6"/>
          <p:cNvSpPr/>
          <p:nvPr/>
        </p:nvSpPr>
        <p:spPr>
          <a:xfrm>
            <a:off x="1298448" y="2194560"/>
            <a:ext cx="91440" cy="2331720"/>
          </a:xfrm>
          <a:prstGeom prst="rect">
            <a:avLst/>
          </a:prstGeom>
          <a:solidFill>
            <a:srgbClr val="2D6A4F"/>
          </a:solidFill>
          <a:ln/>
        </p:spPr>
      </p:sp>
      <p:sp>
        <p:nvSpPr>
          <p:cNvPr id="10" name="Text 7"/>
          <p:cNvSpPr/>
          <p:nvPr/>
        </p:nvSpPr>
        <p:spPr>
          <a:xfrm>
            <a:off x="1591056" y="2377440"/>
            <a:ext cx="4572000" cy="365760"/>
          </a:xfrm>
          <a:prstGeom prst="rect">
            <a:avLst/>
          </a:prstGeom>
          <a:noFill/>
          <a:ln/>
        </p:spPr>
        <p:txBody>
          <a:bodyPr wrap="square" lIns="0" tIns="0" rIns="0" bIns="0" rtlCol="0" anchor="ctr"/>
          <a:lstStyle/>
          <a:p>
            <a:pPr indent="0" marL="0">
              <a:buNone/>
            </a:pPr>
            <a:r>
              <a:rPr lang="en-US" sz="1700" b="1" dirty="0">
                <a:solidFill>
                  <a:srgbClr val="1B2D2A"/>
                </a:solidFill>
                <a:latin typeface="Georgia" pitchFamily="34" charset="0"/>
                <a:ea typeface="Georgia" pitchFamily="34" charset="-122"/>
                <a:cs typeface="Georgia" pitchFamily="34" charset="-120"/>
              </a:rPr>
              <a:t>Aliciclici</a:t>
            </a:r>
            <a:endParaRPr lang="en-US" sz="1700" dirty="0"/>
          </a:p>
        </p:txBody>
      </p:sp>
      <p:sp>
        <p:nvSpPr>
          <p:cNvPr id="11" name="Text 8"/>
          <p:cNvSpPr/>
          <p:nvPr/>
        </p:nvSpPr>
        <p:spPr>
          <a:xfrm>
            <a:off x="1591056" y="2788920"/>
            <a:ext cx="4526280" cy="1645920"/>
          </a:xfrm>
          <a:prstGeom prst="rect">
            <a:avLst/>
          </a:prstGeom>
          <a:noFill/>
          <a:ln/>
        </p:spPr>
        <p:txBody>
          <a:bodyPr wrap="square" lIns="0" tIns="0" rIns="0" bIns="0" rtlCol="0" anchor="t"/>
          <a:lstStyle/>
          <a:p>
            <a:pPr indent="0" marL="0">
              <a:lnSpc>
                <a:spcPct val="116000"/>
              </a:lnSpc>
              <a:buNone/>
            </a:pPr>
            <a:r>
              <a:rPr lang="en-US" sz="1350" dirty="0">
                <a:solidFill>
                  <a:srgbClr val="33433F"/>
                </a:solidFill>
                <a:latin typeface="Calibri" pitchFamily="34" charset="0"/>
                <a:ea typeface="Calibri" pitchFamily="34" charset="-122"/>
                <a:cs typeface="Calibri" pitchFamily="34" charset="-120"/>
              </a:rPr>
              <a:t>Anelli di atomi di carbonio senza carattere aromatico (cicloalcani); si comportano come gli idrocarburi a catena aperta.</a:t>
            </a:r>
            <a:endParaRPr lang="en-US" sz="1350" dirty="0"/>
          </a:p>
          <a:p>
            <a:pPr indent="0" marL="0">
              <a:lnSpc>
                <a:spcPct val="116000"/>
              </a:lnSpc>
              <a:buNone/>
            </a:pPr>
            <a:r>
              <a:rPr lang="en-US" sz="1350" dirty="0">
                <a:solidFill>
                  <a:srgbClr val="33433F"/>
                </a:solidFill>
                <a:latin typeface="Calibri" pitchFamily="34" charset="0"/>
                <a:ea typeface="Calibri" pitchFamily="34" charset="-122"/>
                <a:cs typeface="Calibri" pitchFamily="34" charset="-120"/>
              </a:rPr>
              <a:t>Esempio: il cicloesano (C₆H₁₂).</a:t>
            </a:r>
            <a:endParaRPr lang="en-US" sz="1350" dirty="0"/>
          </a:p>
        </p:txBody>
      </p:sp>
      <p:sp>
        <p:nvSpPr>
          <p:cNvPr id="12" name="Shape 9"/>
          <p:cNvSpPr/>
          <p:nvPr/>
        </p:nvSpPr>
        <p:spPr>
          <a:xfrm>
            <a:off x="6629400" y="2194560"/>
            <a:ext cx="5029200" cy="2331720"/>
          </a:xfrm>
          <a:prstGeom prst="roundRect">
            <a:avLst>
              <a:gd name="adj" fmla="val 3529"/>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3" name="Shape 10"/>
          <p:cNvSpPr/>
          <p:nvPr/>
        </p:nvSpPr>
        <p:spPr>
          <a:xfrm>
            <a:off x="6629400" y="2194560"/>
            <a:ext cx="91440" cy="2331720"/>
          </a:xfrm>
          <a:prstGeom prst="rect">
            <a:avLst/>
          </a:prstGeom>
          <a:solidFill>
            <a:srgbClr val="BC6C25"/>
          </a:solidFill>
          <a:ln/>
        </p:spPr>
      </p:sp>
      <p:sp>
        <p:nvSpPr>
          <p:cNvPr id="14" name="Text 11"/>
          <p:cNvSpPr/>
          <p:nvPr/>
        </p:nvSpPr>
        <p:spPr>
          <a:xfrm>
            <a:off x="6922008" y="2377440"/>
            <a:ext cx="4572000" cy="365760"/>
          </a:xfrm>
          <a:prstGeom prst="rect">
            <a:avLst/>
          </a:prstGeom>
          <a:noFill/>
          <a:ln/>
        </p:spPr>
        <p:txBody>
          <a:bodyPr wrap="square" lIns="0" tIns="0" rIns="0" bIns="0" rtlCol="0" anchor="ctr"/>
          <a:lstStyle/>
          <a:p>
            <a:pPr indent="0" marL="0">
              <a:buNone/>
            </a:pPr>
            <a:r>
              <a:rPr lang="en-US" sz="1700" b="1" dirty="0">
                <a:solidFill>
                  <a:srgbClr val="1B2D2A"/>
                </a:solidFill>
                <a:latin typeface="Georgia" pitchFamily="34" charset="0"/>
                <a:ea typeface="Georgia" pitchFamily="34" charset="-122"/>
                <a:cs typeface="Georgia" pitchFamily="34" charset="-120"/>
              </a:rPr>
              <a:t>Aromatici</a:t>
            </a:r>
            <a:endParaRPr lang="en-US" sz="1700" dirty="0"/>
          </a:p>
        </p:txBody>
      </p:sp>
      <p:sp>
        <p:nvSpPr>
          <p:cNvPr id="15" name="Text 12"/>
          <p:cNvSpPr/>
          <p:nvPr/>
        </p:nvSpPr>
        <p:spPr>
          <a:xfrm>
            <a:off x="6922008" y="2788920"/>
            <a:ext cx="4526280" cy="1645920"/>
          </a:xfrm>
          <a:prstGeom prst="rect">
            <a:avLst/>
          </a:prstGeom>
          <a:noFill/>
          <a:ln/>
        </p:spPr>
        <p:txBody>
          <a:bodyPr wrap="square" lIns="0" tIns="0" rIns="0" bIns="0" rtlCol="0" anchor="t"/>
          <a:lstStyle/>
          <a:p>
            <a:pPr indent="0" marL="0">
              <a:lnSpc>
                <a:spcPct val="116000"/>
              </a:lnSpc>
              <a:buNone/>
            </a:pPr>
            <a:r>
              <a:rPr lang="en-US" sz="1350" dirty="0">
                <a:solidFill>
                  <a:srgbClr val="33433F"/>
                </a:solidFill>
                <a:latin typeface="Calibri" pitchFamily="34" charset="0"/>
                <a:ea typeface="Calibri" pitchFamily="34" charset="-122"/>
                <a:cs typeface="Calibri" pitchFamily="34" charset="-120"/>
              </a:rPr>
              <a:t>Contengono l'anello benzenico, molto stabile per la risonanza degli elettroni (aromaticità).</a:t>
            </a:r>
            <a:endParaRPr lang="en-US" sz="1350" dirty="0"/>
          </a:p>
          <a:p>
            <a:pPr indent="0" marL="0">
              <a:lnSpc>
                <a:spcPct val="116000"/>
              </a:lnSpc>
              <a:buNone/>
            </a:pPr>
            <a:r>
              <a:rPr lang="en-US" sz="1350" dirty="0">
                <a:solidFill>
                  <a:srgbClr val="33433F"/>
                </a:solidFill>
                <a:latin typeface="Calibri" pitchFamily="34" charset="0"/>
                <a:ea typeface="Calibri" pitchFamily="34" charset="-122"/>
                <a:cs typeface="Calibri" pitchFamily="34" charset="-120"/>
              </a:rPr>
              <a:t>Esempio: il benzene (C₆H₆); più anelli uniti formano gli IPA.</a:t>
            </a:r>
            <a:endParaRPr lang="en-US" sz="1350" dirty="0"/>
          </a:p>
        </p:txBody>
      </p:sp>
      <p:sp>
        <p:nvSpPr>
          <p:cNvPr id="16" name="Shape 13"/>
          <p:cNvSpPr/>
          <p:nvPr/>
        </p:nvSpPr>
        <p:spPr>
          <a:xfrm>
            <a:off x="1298448" y="4709160"/>
            <a:ext cx="10360152" cy="1005840"/>
          </a:xfrm>
          <a:prstGeom prst="roundRect">
            <a:avLst>
              <a:gd name="adj" fmla="val 8182"/>
            </a:avLst>
          </a:prstGeom>
          <a:solidFill>
            <a:srgbClr val="D8F3DC"/>
          </a:solidFill>
          <a:ln w="12700">
            <a:solidFill>
              <a:srgbClr val="D8F3DC"/>
            </a:solidFill>
            <a:prstDash val="solid"/>
          </a:ln>
          <a:effectLst>
            <a:outerShdw sx="100000" sy="100000" kx="0" ky="0" algn="bl" rotWithShape="0" blurRad="88900" dist="25400" dir="8100000">
              <a:srgbClr val="1B2D2A">
                <a:alpha val="10000"/>
              </a:srgbClr>
            </a:outerShdw>
          </a:effectLst>
        </p:spPr>
      </p:sp>
      <p:sp>
        <p:nvSpPr>
          <p:cNvPr id="17" name="Text 14"/>
          <p:cNvSpPr/>
          <p:nvPr/>
        </p:nvSpPr>
        <p:spPr>
          <a:xfrm>
            <a:off x="1591056" y="4809744"/>
            <a:ext cx="9784080" cy="822960"/>
          </a:xfrm>
          <a:prstGeom prst="rect">
            <a:avLst/>
          </a:prstGeom>
          <a:noFill/>
          <a:ln/>
        </p:spPr>
        <p:txBody>
          <a:bodyPr wrap="square" lIns="0" tIns="0" rIns="0" bIns="0" rtlCol="0" anchor="ctr"/>
          <a:lstStyle/>
          <a:p>
            <a:pPr algn="l" indent="0" marL="0">
              <a:lnSpc>
                <a:spcPct val="110000"/>
              </a:lnSpc>
              <a:buNone/>
            </a:pPr>
            <a:r>
              <a:rPr lang="en-US" sz="1300" b="1" dirty="0">
                <a:solidFill>
                  <a:srgbClr val="2D6A4F"/>
                </a:solidFill>
                <a:latin typeface="Calibri" pitchFamily="34" charset="0"/>
                <a:ea typeface="Calibri" pitchFamily="34" charset="-122"/>
                <a:cs typeface="Calibri" pitchFamily="34" charset="-120"/>
              </a:rPr>
              <a:t>Il prezzo nascosto della crescita:  </a:t>
            </a:r>
            <a:pPr algn="l" indent="0" marL="0">
              <a:lnSpc>
                <a:spcPct val="110000"/>
              </a:lnSpc>
              <a:buNone/>
            </a:pPr>
            <a:r>
              <a:rPr lang="en-US" sz="1300" dirty="0">
                <a:solidFill>
                  <a:srgbClr val="33433F"/>
                </a:solidFill>
                <a:latin typeface="Calibri" pitchFamily="34" charset="0"/>
                <a:ea typeface="Calibri" pitchFamily="34" charset="-122"/>
                <a:cs typeface="Calibri" pitchFamily="34" charset="-120"/>
              </a:rPr>
              <a:t>bruciare idrocarburi libera CO₂ (gas serra) e, se la combustione è incompleta, IPA e particolato, nocivi per ambiente e salute. È un costo che l'economia deve imparare a contabilizzare.</a:t>
            </a:r>
            <a:endParaRPr lang="en-US" sz="1300" dirty="0"/>
          </a:p>
        </p:txBody>
      </p:sp>
      <p:sp>
        <p:nvSpPr>
          <p:cNvPr id="18" name="Shape 15"/>
          <p:cNvSpPr/>
          <p:nvPr/>
        </p:nvSpPr>
        <p:spPr>
          <a:xfrm>
            <a:off x="548640" y="6272784"/>
            <a:ext cx="64008" cy="365760"/>
          </a:xfrm>
          <a:prstGeom prst="rect">
            <a:avLst/>
          </a:prstGeom>
          <a:solidFill>
            <a:srgbClr val="BC6C25"/>
          </a:solidFill>
          <a:ln/>
        </p:spPr>
      </p:sp>
      <p:pic>
        <p:nvPicPr>
          <p:cNvPr id="19" name="Image 1" descr="preencoded.png">    </p:cNvPr>
          <p:cNvPicPr>
            <a:picLocks noChangeAspect="1"/>
          </p:cNvPicPr>
          <p:nvPr/>
        </p:nvPicPr>
        <p:blipFill>
          <a:blip r:embed="rId2"/>
          <a:stretch>
            <a:fillRect/>
          </a:stretch>
        </p:blipFill>
        <p:spPr>
          <a:xfrm>
            <a:off x="731520" y="6336792"/>
            <a:ext cx="228600" cy="228600"/>
          </a:xfrm>
          <a:prstGeom prst="rect">
            <a:avLst/>
          </a:prstGeom>
        </p:spPr>
      </p:pic>
      <p:sp>
        <p:nvSpPr>
          <p:cNvPr id="20" name="Text 16"/>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Se la crescita ha un costo per tutti, chi stabilisce ciò che è giusto? L'etica. → Religione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6C25"/>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BC6C25"/>
                </a:solidFill>
                <a:latin typeface="Calibri" pitchFamily="34" charset="0"/>
                <a:ea typeface="Calibri" pitchFamily="34" charset="-122"/>
                <a:cs typeface="Calibri" pitchFamily="34" charset="-120"/>
              </a:rPr>
              <a:t>RELIGIONE</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05</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Un'economia al servizio della persona</a:t>
            </a:r>
            <a:endParaRPr lang="en-US" sz="2600" dirty="0"/>
          </a:p>
        </p:txBody>
      </p:sp>
      <p:sp>
        <p:nvSpPr>
          <p:cNvPr id="7" name="Shape 4"/>
          <p:cNvSpPr/>
          <p:nvPr/>
        </p:nvSpPr>
        <p:spPr>
          <a:xfrm>
            <a:off x="1298448" y="1691640"/>
            <a:ext cx="5486400" cy="4023360"/>
          </a:xfrm>
          <a:prstGeom prst="roundRect">
            <a:avLst>
              <a:gd name="adj" fmla="val 2045"/>
            </a:avLst>
          </a:prstGeom>
          <a:solidFill>
            <a:srgbClr val="1B4332"/>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8" name="Text 5"/>
          <p:cNvSpPr/>
          <p:nvPr/>
        </p:nvSpPr>
        <p:spPr>
          <a:xfrm>
            <a:off x="1627632" y="1965960"/>
            <a:ext cx="4572000" cy="320040"/>
          </a:xfrm>
          <a:prstGeom prst="rect">
            <a:avLst/>
          </a:prstGeom>
          <a:noFill/>
          <a:ln/>
        </p:spPr>
        <p:txBody>
          <a:bodyPr wrap="square" lIns="0" tIns="0" rIns="0" bIns="0" rtlCol="0" anchor="ctr"/>
          <a:lstStyle/>
          <a:p>
            <a:pPr indent="0" marL="0">
              <a:buNone/>
            </a:pPr>
            <a:r>
              <a:rPr lang="en-US" sz="1300" b="1" spc="300" kern="0" dirty="0">
                <a:solidFill>
                  <a:srgbClr val="74C69D"/>
                </a:solidFill>
                <a:latin typeface="Calibri" pitchFamily="34" charset="0"/>
                <a:ea typeface="Calibri" pitchFamily="34" charset="-122"/>
                <a:cs typeface="Calibri" pitchFamily="34" charset="-120"/>
              </a:rPr>
              <a:t>ARTICOLO 3</a:t>
            </a:r>
            <a:endParaRPr lang="en-US" sz="1300" dirty="0"/>
          </a:p>
        </p:txBody>
      </p:sp>
      <p:sp>
        <p:nvSpPr>
          <p:cNvPr id="9" name="Text 6"/>
          <p:cNvSpPr/>
          <p:nvPr/>
        </p:nvSpPr>
        <p:spPr>
          <a:xfrm>
            <a:off x="1627632" y="2331720"/>
            <a:ext cx="4937760" cy="1097280"/>
          </a:xfrm>
          <a:prstGeom prst="rect">
            <a:avLst/>
          </a:prstGeom>
          <a:noFill/>
          <a:ln/>
        </p:spPr>
        <p:txBody>
          <a:bodyPr wrap="square" lIns="0" tIns="0" rIns="0" bIns="0" rtlCol="0" anchor="t"/>
          <a:lstStyle/>
          <a:p>
            <a:pPr algn="l" indent="0" marL="0">
              <a:lnSpc>
                <a:spcPct val="118000"/>
              </a:lnSpc>
              <a:buNone/>
            </a:pPr>
            <a:r>
              <a:rPr lang="en-US" sz="1700" i="1" dirty="0">
                <a:solidFill>
                  <a:srgbClr val="FFFFFF"/>
                </a:solidFill>
                <a:latin typeface="Georgia" pitchFamily="34" charset="0"/>
                <a:ea typeface="Georgia" pitchFamily="34" charset="-122"/>
                <a:cs typeface="Georgia" pitchFamily="34" charset="-120"/>
              </a:rPr>
              <a:t>«Tutti i cittadini hanno pari dignità sociale e sono eguali davanti alla legge.»</a:t>
            </a:r>
            <a:endParaRPr lang="en-US" sz="1700" dirty="0"/>
          </a:p>
        </p:txBody>
      </p:sp>
      <p:sp>
        <p:nvSpPr>
          <p:cNvPr id="10" name="Text 7"/>
          <p:cNvSpPr/>
          <p:nvPr/>
        </p:nvSpPr>
        <p:spPr>
          <a:xfrm>
            <a:off x="1627632" y="3611880"/>
            <a:ext cx="4937760" cy="1371600"/>
          </a:xfrm>
          <a:prstGeom prst="rect">
            <a:avLst/>
          </a:prstGeom>
          <a:noFill/>
          <a:ln/>
        </p:spPr>
        <p:txBody>
          <a:bodyPr wrap="square" lIns="0" tIns="0" rIns="0" bIns="0" rtlCol="0" anchor="t"/>
          <a:lstStyle/>
          <a:p>
            <a:pPr algn="l" indent="0" marL="0">
              <a:lnSpc>
                <a:spcPct val="120000"/>
              </a:lnSpc>
              <a:buNone/>
            </a:pPr>
            <a:r>
              <a:rPr lang="en-US" sz="1350" dirty="0">
                <a:solidFill>
                  <a:srgbClr val="E9EDC9"/>
                </a:solidFill>
                <a:latin typeface="Calibri" pitchFamily="34" charset="0"/>
                <a:ea typeface="Calibri" pitchFamily="34" charset="-122"/>
                <a:cs typeface="Calibri" pitchFamily="34" charset="-120"/>
              </a:rPr>
              <a:t>È compito della Repubblica rimuovere gli ostacoli economici e sociali che limitano di fatto l'uguaglianza (uguaglianza sostanziale).</a:t>
            </a:r>
            <a:endParaRPr lang="en-US" sz="1350" dirty="0"/>
          </a:p>
        </p:txBody>
      </p:sp>
      <p:sp>
        <p:nvSpPr>
          <p:cNvPr id="11" name="Text 8"/>
          <p:cNvSpPr/>
          <p:nvPr/>
        </p:nvSpPr>
        <p:spPr>
          <a:xfrm>
            <a:off x="7040880" y="1783080"/>
            <a:ext cx="4617720" cy="3931920"/>
          </a:xfrm>
          <a:prstGeom prst="rect">
            <a:avLst/>
          </a:prstGeom>
          <a:noFill/>
          <a:ln/>
        </p:spPr>
        <p:txBody>
          <a:bodyPr wrap="square" rtlCol="0" anchor="t"/>
          <a:lstStyle/>
          <a:p>
            <a:pPr algn="l" indent="0" marL="0">
              <a:lnSpc>
                <a:spcPct val="116000"/>
              </a:lnSpc>
              <a:buNone/>
            </a:pPr>
            <a:r>
              <a:rPr lang="en-US" sz="1600" b="1" dirty="0">
                <a:solidFill>
                  <a:srgbClr val="BC6C25"/>
                </a:solidFill>
                <a:latin typeface="Calibri" pitchFamily="34" charset="0"/>
                <a:ea typeface="Calibri" pitchFamily="34" charset="-122"/>
                <a:cs typeface="Calibri" pitchFamily="34" charset="-120"/>
              </a:rPr>
              <a:t>L'etica e l'«ecologia integrale»</a:t>
            </a:r>
            <a:endParaRPr lang="en-US" sz="1350" dirty="0"/>
          </a:p>
          <a:p>
            <a:pPr algn="l" indent="0" marL="0">
              <a:lnSpc>
                <a:spcPct val="116000"/>
              </a:lnSpc>
              <a:buNone/>
            </a:pPr>
            <a:r>
              <a:rPr lang="en-US" sz="800" dirty="0">
                <a:solidFill>
                  <a:srgbClr val="000000"/>
                </a:solidFill>
                <a:latin typeface="Calibri" pitchFamily="34" charset="0"/>
                <a:ea typeface="Calibri" pitchFamily="34" charset="-122"/>
                <a:cs typeface="Calibri" pitchFamily="34" charset="-120"/>
              </a:rPr>
              <a:t> </a:t>
            </a:r>
            <a:endParaRPr lang="en-US" sz="1350" dirty="0"/>
          </a:p>
          <a:p>
            <a:pPr algn="l" indent="0" marL="0">
              <a:lnSpc>
                <a:spcPct val="116000"/>
              </a:lnSpc>
              <a:buNone/>
            </a:pPr>
            <a:r>
              <a:rPr lang="en-US" sz="1350" dirty="0">
                <a:solidFill>
                  <a:srgbClr val="33433F"/>
                </a:solidFill>
                <a:latin typeface="Calibri" pitchFamily="34" charset="0"/>
                <a:ea typeface="Calibri" pitchFamily="34" charset="-122"/>
                <a:cs typeface="Calibri" pitchFamily="34" charset="-120"/>
              </a:rPr>
              <a:t>L'economia non è neutra: deve servire la persona, non il solo profitto.</a:t>
            </a:r>
            <a:endParaRPr lang="en-US" sz="1350" dirty="0"/>
          </a:p>
          <a:p>
            <a:pPr algn="l" indent="0" marL="0">
              <a:lnSpc>
                <a:spcPct val="116000"/>
              </a:lnSpc>
              <a:buNone/>
            </a:pPr>
            <a:r>
              <a:rPr lang="en-US" sz="800" dirty="0">
                <a:solidFill>
                  <a:srgbClr val="000000"/>
                </a:solidFill>
                <a:latin typeface="Calibri" pitchFamily="34" charset="0"/>
                <a:ea typeface="Calibri" pitchFamily="34" charset="-122"/>
                <a:cs typeface="Calibri" pitchFamily="34" charset="-120"/>
              </a:rPr>
              <a:t> </a:t>
            </a:r>
            <a:endParaRPr lang="en-US" sz="1350" dirty="0"/>
          </a:p>
          <a:p>
            <a:pPr algn="l" indent="0" marL="0">
              <a:lnSpc>
                <a:spcPct val="116000"/>
              </a:lnSpc>
              <a:buNone/>
            </a:pPr>
            <a:r>
              <a:rPr lang="en-US" sz="1350" dirty="0">
                <a:solidFill>
                  <a:srgbClr val="33433F"/>
                </a:solidFill>
                <a:latin typeface="Calibri" pitchFamily="34" charset="0"/>
                <a:ea typeface="Calibri" pitchFamily="34" charset="-122"/>
                <a:cs typeface="Calibri" pitchFamily="34" charset="-120"/>
              </a:rPr>
              <a:t>L'enciclica «Laudato si'» (2015) critica il «paradigma tecnocratico» e un'economia che scarta i più deboli. «Tutto è connesso»: la crisi sociale e quella ambientale sono lo stesso problema, e curare la «casa comune» è un dovere verso le generazioni future.</a:t>
            </a:r>
            <a:endParaRPr lang="en-US" sz="1350" dirty="0"/>
          </a:p>
        </p:txBody>
      </p:sp>
      <p:sp>
        <p:nvSpPr>
          <p:cNvPr id="12" name="Shape 9"/>
          <p:cNvSpPr/>
          <p:nvPr/>
        </p:nvSpPr>
        <p:spPr>
          <a:xfrm>
            <a:off x="548640" y="6272784"/>
            <a:ext cx="64008" cy="365760"/>
          </a:xfrm>
          <a:prstGeom prst="rect">
            <a:avLst/>
          </a:prstGeom>
          <a:solidFill>
            <a:srgbClr val="BC6C25"/>
          </a:solidFill>
          <a:ln/>
        </p:spPr>
      </p:sp>
      <p:pic>
        <p:nvPicPr>
          <p:cNvPr id="13" name="Image 1" descr="preencoded.png">    </p:cNvPr>
          <p:cNvPicPr>
            <a:picLocks noChangeAspect="1"/>
          </p:cNvPicPr>
          <p:nvPr/>
        </p:nvPicPr>
        <p:blipFill>
          <a:blip r:embed="rId2"/>
          <a:stretch>
            <a:fillRect/>
          </a:stretch>
        </p:blipFill>
        <p:spPr>
          <a:xfrm>
            <a:off x="731520" y="6336792"/>
            <a:ext cx="228600" cy="228600"/>
          </a:xfrm>
          <a:prstGeom prst="rect">
            <a:avLst/>
          </a:prstGeom>
        </p:spPr>
      </p:pic>
      <p:sp>
        <p:nvSpPr>
          <p:cNvPr id="14" name="Text 10"/>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Questi principi etici sono diventati norma: la Costituzione mette dei limiti all'impresa. → Arte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D6A4F"/>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2D6A4F"/>
                </a:solidFill>
                <a:latin typeface="Calibri" pitchFamily="34" charset="0"/>
                <a:ea typeface="Calibri" pitchFamily="34" charset="-122"/>
                <a:cs typeface="Calibri" pitchFamily="34" charset="-120"/>
              </a:rPr>
              <a:t>ARTE · 1</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06</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Impresa e ambiente in Costituzione</a:t>
            </a:r>
            <a:endParaRPr lang="en-US" sz="2600" dirty="0"/>
          </a:p>
        </p:txBody>
      </p:sp>
      <p:sp>
        <p:nvSpPr>
          <p:cNvPr id="7" name="Shape 4"/>
          <p:cNvSpPr/>
          <p:nvPr/>
        </p:nvSpPr>
        <p:spPr>
          <a:xfrm>
            <a:off x="1298448" y="1691640"/>
            <a:ext cx="5669280" cy="4023360"/>
          </a:xfrm>
          <a:prstGeom prst="roundRect">
            <a:avLst>
              <a:gd name="adj" fmla="val 2045"/>
            </a:avLst>
          </a:prstGeom>
          <a:solidFill>
            <a:srgbClr val="1B4332"/>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8" name="Text 5"/>
          <p:cNvSpPr/>
          <p:nvPr/>
        </p:nvSpPr>
        <p:spPr>
          <a:xfrm>
            <a:off x="1627632" y="1938528"/>
            <a:ext cx="4937760" cy="320040"/>
          </a:xfrm>
          <a:prstGeom prst="rect">
            <a:avLst/>
          </a:prstGeom>
          <a:noFill/>
          <a:ln/>
        </p:spPr>
        <p:txBody>
          <a:bodyPr wrap="square" lIns="0" tIns="0" rIns="0" bIns="0" rtlCol="0" anchor="ctr"/>
          <a:lstStyle/>
          <a:p>
            <a:pPr indent="0" marL="0">
              <a:buNone/>
            </a:pPr>
            <a:r>
              <a:rPr lang="en-US" sz="1300" b="1" spc="200" kern="0" dirty="0">
                <a:solidFill>
                  <a:srgbClr val="74C69D"/>
                </a:solidFill>
                <a:latin typeface="Calibri" pitchFamily="34" charset="0"/>
                <a:ea typeface="Calibri" pitchFamily="34" charset="-122"/>
                <a:cs typeface="Calibri" pitchFamily="34" charset="-120"/>
              </a:rPr>
              <a:t>ARTICOLO 41  (riforma 2022)</a:t>
            </a:r>
            <a:endParaRPr lang="en-US" sz="1300" dirty="0"/>
          </a:p>
        </p:txBody>
      </p:sp>
      <p:sp>
        <p:nvSpPr>
          <p:cNvPr id="9" name="Text 6"/>
          <p:cNvSpPr/>
          <p:nvPr/>
        </p:nvSpPr>
        <p:spPr>
          <a:xfrm>
            <a:off x="1627632" y="2331720"/>
            <a:ext cx="5029200" cy="1463040"/>
          </a:xfrm>
          <a:prstGeom prst="rect">
            <a:avLst/>
          </a:prstGeom>
          <a:noFill/>
          <a:ln/>
        </p:spPr>
        <p:txBody>
          <a:bodyPr wrap="square" lIns="0" tIns="0" rIns="0" bIns="0" rtlCol="0" anchor="t"/>
          <a:lstStyle/>
          <a:p>
            <a:pPr algn="l" indent="0" marL="0">
              <a:lnSpc>
                <a:spcPct val="118000"/>
              </a:lnSpc>
              <a:buNone/>
            </a:pPr>
            <a:r>
              <a:rPr lang="en-US" sz="1600" i="1" dirty="0">
                <a:solidFill>
                  <a:srgbClr val="FFFFFF"/>
                </a:solidFill>
                <a:latin typeface="Georgia" pitchFamily="34" charset="0"/>
                <a:ea typeface="Georgia" pitchFamily="34" charset="-122"/>
                <a:cs typeface="Georgia" pitchFamily="34" charset="-120"/>
              </a:rPr>
              <a:t>L'iniziativa economica privata «non può svolgersi in modo da recare danno alla salute, all'ambiente, alla sicurezza, alla libertà, alla dignità umana».</a:t>
            </a:r>
            <a:endParaRPr lang="en-US" sz="1600" dirty="0"/>
          </a:p>
        </p:txBody>
      </p:sp>
      <p:sp>
        <p:nvSpPr>
          <p:cNvPr id="10" name="Text 7"/>
          <p:cNvSpPr/>
          <p:nvPr/>
        </p:nvSpPr>
        <p:spPr>
          <a:xfrm>
            <a:off x="1627632" y="3977640"/>
            <a:ext cx="5029200" cy="1463040"/>
          </a:xfrm>
          <a:prstGeom prst="rect">
            <a:avLst/>
          </a:prstGeom>
          <a:noFill/>
          <a:ln/>
        </p:spPr>
        <p:txBody>
          <a:bodyPr wrap="square" lIns="0" tIns="0" rIns="0" bIns="0" rtlCol="0" anchor="t"/>
          <a:lstStyle/>
          <a:p>
            <a:pPr algn="l" indent="0" marL="0">
              <a:lnSpc>
                <a:spcPct val="120000"/>
              </a:lnSpc>
              <a:buNone/>
            </a:pPr>
            <a:r>
              <a:rPr lang="en-US" sz="1300" dirty="0">
                <a:solidFill>
                  <a:srgbClr val="E9EDC9"/>
                </a:solidFill>
                <a:latin typeface="Calibri" pitchFamily="34" charset="0"/>
                <a:ea typeface="Calibri" pitchFamily="34" charset="-122"/>
                <a:cs typeface="Calibri" pitchFamily="34" charset="-120"/>
              </a:rPr>
              <a:t>Le parole «salute» e «ambiente» sono state aggiunte nel 2022: la sostenibilità diventa un limite costituzionale all'impresa.</a:t>
            </a:r>
            <a:endParaRPr lang="en-US" sz="1300" dirty="0"/>
          </a:p>
        </p:txBody>
      </p:sp>
      <p:sp>
        <p:nvSpPr>
          <p:cNvPr id="11" name="Text 8"/>
          <p:cNvSpPr/>
          <p:nvPr/>
        </p:nvSpPr>
        <p:spPr>
          <a:xfrm>
            <a:off x="7223760" y="1783080"/>
            <a:ext cx="4434840" cy="3931920"/>
          </a:xfrm>
          <a:prstGeom prst="rect">
            <a:avLst/>
          </a:prstGeom>
          <a:noFill/>
          <a:ln/>
        </p:spPr>
        <p:txBody>
          <a:bodyPr wrap="square" rtlCol="0" anchor="t"/>
          <a:lstStyle/>
          <a:p>
            <a:pPr algn="l" indent="0" marL="0">
              <a:lnSpc>
                <a:spcPct val="116000"/>
              </a:lnSpc>
              <a:buNone/>
            </a:pPr>
            <a:r>
              <a:rPr lang="en-US" sz="1600" b="1" dirty="0">
                <a:solidFill>
                  <a:srgbClr val="2D6A4F"/>
                </a:solidFill>
                <a:latin typeface="Calibri" pitchFamily="34" charset="0"/>
                <a:ea typeface="Calibri" pitchFamily="34" charset="-122"/>
                <a:cs typeface="Calibri" pitchFamily="34" charset="-120"/>
              </a:rPr>
              <a:t>Patrimonio: sviluppo che dura</a:t>
            </a:r>
            <a:endParaRPr lang="en-US" sz="1350" dirty="0"/>
          </a:p>
          <a:p>
            <a:pPr algn="l" indent="0" marL="0">
              <a:lnSpc>
                <a:spcPct val="116000"/>
              </a:lnSpc>
              <a:buNone/>
            </a:pPr>
            <a:r>
              <a:rPr lang="en-US" sz="800" dirty="0">
                <a:solidFill>
                  <a:srgbClr val="000000"/>
                </a:solidFill>
                <a:latin typeface="Calibri" pitchFamily="34" charset="0"/>
                <a:ea typeface="Calibri" pitchFamily="34" charset="-122"/>
                <a:cs typeface="Calibri" pitchFamily="34" charset="-120"/>
              </a:rPr>
              <a:t> </a:t>
            </a:r>
            <a:endParaRPr lang="en-US" sz="1350" dirty="0"/>
          </a:p>
          <a:p>
            <a:pPr algn="l" indent="0" marL="0">
              <a:lnSpc>
                <a:spcPct val="116000"/>
              </a:lnSpc>
              <a:buNone/>
            </a:pPr>
            <a:r>
              <a:rPr lang="en-US" sz="1350" dirty="0">
                <a:solidFill>
                  <a:srgbClr val="33433F"/>
                </a:solidFill>
                <a:latin typeface="Calibri" pitchFamily="34" charset="0"/>
                <a:ea typeface="Calibri" pitchFamily="34" charset="-122"/>
                <a:cs typeface="Calibri" pitchFamily="34" charset="-120"/>
              </a:rPr>
              <a:t>La stessa riforma del 2022 ha inserito nell'art. 9 la tutela dell'ambiente «nell'interesse delle future generazioni».</a:t>
            </a:r>
            <a:endParaRPr lang="en-US" sz="1350" dirty="0"/>
          </a:p>
          <a:p>
            <a:pPr algn="l" indent="0" marL="0">
              <a:lnSpc>
                <a:spcPct val="116000"/>
              </a:lnSpc>
              <a:buNone/>
            </a:pPr>
            <a:r>
              <a:rPr lang="en-US" sz="800" dirty="0">
                <a:solidFill>
                  <a:srgbClr val="000000"/>
                </a:solidFill>
                <a:latin typeface="Calibri" pitchFamily="34" charset="0"/>
                <a:ea typeface="Calibri" pitchFamily="34" charset="-122"/>
                <a:cs typeface="Calibri" pitchFamily="34" charset="-120"/>
              </a:rPr>
              <a:t> </a:t>
            </a:r>
            <a:endParaRPr lang="en-US" sz="1350" dirty="0"/>
          </a:p>
          <a:p>
            <a:pPr algn="l" indent="0" marL="0">
              <a:lnSpc>
                <a:spcPct val="116000"/>
              </a:lnSpc>
              <a:buNone/>
            </a:pPr>
            <a:r>
              <a:rPr lang="en-US" sz="1350" dirty="0">
                <a:solidFill>
                  <a:srgbClr val="33433F"/>
                </a:solidFill>
                <a:latin typeface="Calibri" pitchFamily="34" charset="0"/>
                <a:ea typeface="Calibri" pitchFamily="34" charset="-122"/>
                <a:cs typeface="Calibri" pitchFamily="34" charset="-120"/>
              </a:rPr>
              <a:t>Il patrimonio storico-artistico è anche una grande risorsa economica (cultura, turismo): un capitale da custodire e trasmettere, non da consumare.</a:t>
            </a:r>
            <a:endParaRPr lang="en-US" sz="1350" dirty="0"/>
          </a:p>
        </p:txBody>
      </p:sp>
      <p:sp>
        <p:nvSpPr>
          <p:cNvPr id="12" name="Shape 9"/>
          <p:cNvSpPr/>
          <p:nvPr/>
        </p:nvSpPr>
        <p:spPr>
          <a:xfrm>
            <a:off x="548640" y="6272784"/>
            <a:ext cx="64008" cy="365760"/>
          </a:xfrm>
          <a:prstGeom prst="rect">
            <a:avLst/>
          </a:prstGeom>
          <a:solidFill>
            <a:srgbClr val="BC6C25"/>
          </a:solidFill>
          <a:ln/>
        </p:spPr>
      </p:sp>
      <p:pic>
        <p:nvPicPr>
          <p:cNvPr id="13" name="Image 1" descr="preencoded.png">    </p:cNvPr>
          <p:cNvPicPr>
            <a:picLocks noChangeAspect="1"/>
          </p:cNvPicPr>
          <p:nvPr/>
        </p:nvPicPr>
        <p:blipFill>
          <a:blip r:embed="rId2"/>
          <a:stretch>
            <a:fillRect/>
          </a:stretch>
        </p:blipFill>
        <p:spPr>
          <a:xfrm>
            <a:off x="731520" y="6336792"/>
            <a:ext cx="228600" cy="228600"/>
          </a:xfrm>
          <a:prstGeom prst="rect">
            <a:avLst/>
          </a:prstGeom>
        </p:spPr>
      </p:pic>
      <p:sp>
        <p:nvSpPr>
          <p:cNvPr id="14" name="Text 10"/>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Una regola vale solo se qualcuno la fa rispettare: serve l'equilibrio dei poteri. → Arte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D6A4F"/>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2D6A4F"/>
                </a:solidFill>
                <a:latin typeface="Calibri" pitchFamily="34" charset="0"/>
                <a:ea typeface="Calibri" pitchFamily="34" charset="-122"/>
                <a:cs typeface="Calibri" pitchFamily="34" charset="-120"/>
              </a:rPr>
              <a:t>ARTE · 2</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06</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La divisione dei poteri</a:t>
            </a:r>
            <a:endParaRPr lang="en-US" sz="2600" dirty="0"/>
          </a:p>
        </p:txBody>
      </p:sp>
      <p:sp>
        <p:nvSpPr>
          <p:cNvPr id="7" name="Text 4"/>
          <p:cNvSpPr/>
          <p:nvPr/>
        </p:nvSpPr>
        <p:spPr>
          <a:xfrm>
            <a:off x="1298448" y="1572768"/>
            <a:ext cx="10241280" cy="914400"/>
          </a:xfrm>
          <a:prstGeom prst="rect">
            <a:avLst/>
          </a:prstGeom>
          <a:noFill/>
          <a:ln/>
        </p:spPr>
        <p:txBody>
          <a:bodyPr wrap="square" rtlCol="0" anchor="t"/>
          <a:lstStyle/>
          <a:p>
            <a:pPr algn="l" indent="0" marL="0">
              <a:lnSpc>
                <a:spcPct val="114000"/>
              </a:lnSpc>
              <a:buNone/>
            </a:pPr>
            <a:r>
              <a:rPr lang="en-US" sz="1400" b="1" dirty="0">
                <a:solidFill>
                  <a:srgbClr val="2D6A4F"/>
                </a:solidFill>
                <a:latin typeface="Calibri" pitchFamily="34" charset="0"/>
                <a:ea typeface="Calibri" pitchFamily="34" charset="-122"/>
                <a:cs typeface="Calibri" pitchFamily="34" charset="-120"/>
              </a:rPr>
              <a:t>Montesquieu, «Lo spirito delle leggi» (1748): </a:t>
            </a:r>
            <a:pPr algn="l" indent="0" marL="0">
              <a:lnSpc>
                <a:spcPct val="114000"/>
              </a:lnSpc>
              <a:buNone/>
            </a:pPr>
            <a:r>
              <a:rPr lang="en-US" sz="1400" dirty="0">
                <a:solidFill>
                  <a:srgbClr val="33433F"/>
                </a:solidFill>
                <a:latin typeface="Calibri" pitchFamily="34" charset="0"/>
                <a:ea typeface="Calibri" pitchFamily="34" charset="-122"/>
                <a:cs typeface="Calibri" pitchFamily="34" charset="-120"/>
              </a:rPr>
              <a:t>per evitare l'abuso, il potere è diviso in tre funzioni che si controllano a vicenda. È così che le regole sull'economia diventano effettive.</a:t>
            </a:r>
            <a:endParaRPr lang="en-US" sz="1400" dirty="0"/>
          </a:p>
        </p:txBody>
      </p:sp>
      <p:sp>
        <p:nvSpPr>
          <p:cNvPr id="8" name="Shape 5"/>
          <p:cNvSpPr/>
          <p:nvPr/>
        </p:nvSpPr>
        <p:spPr>
          <a:xfrm>
            <a:off x="1298448" y="2743200"/>
            <a:ext cx="3310128" cy="2926080"/>
          </a:xfrm>
          <a:prstGeom prst="roundRect">
            <a:avLst>
              <a:gd name="adj" fmla="val 2813"/>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9" name="Shape 6"/>
          <p:cNvSpPr/>
          <p:nvPr/>
        </p:nvSpPr>
        <p:spPr>
          <a:xfrm>
            <a:off x="1591056" y="3063240"/>
            <a:ext cx="713232" cy="713232"/>
          </a:xfrm>
          <a:prstGeom prst="ellipse">
            <a:avLst/>
          </a:prstGeom>
          <a:solidFill>
            <a:srgbClr val="2D6A4F"/>
          </a:solidFill>
          <a:ln/>
        </p:spPr>
      </p:sp>
      <p:sp>
        <p:nvSpPr>
          <p:cNvPr id="10" name="Text 7"/>
          <p:cNvSpPr/>
          <p:nvPr/>
        </p:nvSpPr>
        <p:spPr>
          <a:xfrm>
            <a:off x="1591056" y="306324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1</a:t>
            </a:r>
            <a:endParaRPr lang="en-US" sz="2400" dirty="0"/>
          </a:p>
        </p:txBody>
      </p:sp>
      <p:sp>
        <p:nvSpPr>
          <p:cNvPr id="11" name="Text 8"/>
          <p:cNvSpPr/>
          <p:nvPr/>
        </p:nvSpPr>
        <p:spPr>
          <a:xfrm>
            <a:off x="1591056" y="3913632"/>
            <a:ext cx="2852928" cy="365760"/>
          </a:xfrm>
          <a:prstGeom prst="rect">
            <a:avLst/>
          </a:prstGeom>
          <a:noFill/>
          <a:ln/>
        </p:spPr>
        <p:txBody>
          <a:bodyPr wrap="square" lIns="0" tIns="0" rIns="0" bIns="0" rtlCol="0" anchor="ctr"/>
          <a:lstStyle/>
          <a:p>
            <a:pPr indent="0" marL="0">
              <a:buNone/>
            </a:pPr>
            <a:r>
              <a:rPr lang="en-US" sz="1800" b="1" dirty="0">
                <a:solidFill>
                  <a:srgbClr val="1B2D2A"/>
                </a:solidFill>
                <a:latin typeface="Georgia" pitchFamily="34" charset="0"/>
                <a:ea typeface="Georgia" pitchFamily="34" charset="-122"/>
                <a:cs typeface="Georgia" pitchFamily="34" charset="-120"/>
              </a:rPr>
              <a:t>Legislativo</a:t>
            </a:r>
            <a:endParaRPr lang="en-US" sz="1800" dirty="0"/>
          </a:p>
        </p:txBody>
      </p:sp>
      <p:sp>
        <p:nvSpPr>
          <p:cNvPr id="12" name="Text 9"/>
          <p:cNvSpPr/>
          <p:nvPr/>
        </p:nvSpPr>
        <p:spPr>
          <a:xfrm>
            <a:off x="1591056" y="4297680"/>
            <a:ext cx="2852928" cy="320040"/>
          </a:xfrm>
          <a:prstGeom prst="rect">
            <a:avLst/>
          </a:prstGeom>
          <a:noFill/>
          <a:ln/>
        </p:spPr>
        <p:txBody>
          <a:bodyPr wrap="square" lIns="0" tIns="0" rIns="0" bIns="0" rtlCol="0" anchor="ctr"/>
          <a:lstStyle/>
          <a:p>
            <a:pPr indent="0" marL="0">
              <a:buNone/>
            </a:pPr>
            <a:r>
              <a:rPr lang="en-US" sz="1300" b="1" dirty="0">
                <a:solidFill>
                  <a:srgbClr val="2D6A4F"/>
                </a:solidFill>
                <a:latin typeface="Calibri" pitchFamily="34" charset="0"/>
                <a:ea typeface="Calibri" pitchFamily="34" charset="-122"/>
                <a:cs typeface="Calibri" pitchFamily="34" charset="-120"/>
              </a:rPr>
              <a:t>Parlamento</a:t>
            </a:r>
            <a:endParaRPr lang="en-US" sz="1300" dirty="0"/>
          </a:p>
        </p:txBody>
      </p:sp>
      <p:sp>
        <p:nvSpPr>
          <p:cNvPr id="13" name="Text 10"/>
          <p:cNvSpPr/>
          <p:nvPr/>
        </p:nvSpPr>
        <p:spPr>
          <a:xfrm>
            <a:off x="1591056" y="4663440"/>
            <a:ext cx="2761488" cy="914400"/>
          </a:xfrm>
          <a:prstGeom prst="rect">
            <a:avLst/>
          </a:prstGeom>
          <a:noFill/>
          <a:ln/>
        </p:spPr>
        <p:txBody>
          <a:bodyPr wrap="square" lIns="0" tIns="0" rIns="0" bIns="0" rtlCol="0" anchor="t"/>
          <a:lstStyle/>
          <a:p>
            <a:pPr indent="0" marL="0">
              <a:lnSpc>
                <a:spcPct val="112000"/>
              </a:lnSpc>
              <a:buNone/>
            </a:pPr>
            <a:r>
              <a:rPr lang="en-US" sz="1300" dirty="0">
                <a:solidFill>
                  <a:srgbClr val="33433F"/>
                </a:solidFill>
                <a:latin typeface="Calibri" pitchFamily="34" charset="0"/>
                <a:ea typeface="Calibri" pitchFamily="34" charset="-122"/>
                <a:cs typeface="Calibri" pitchFamily="34" charset="-120"/>
              </a:rPr>
              <a:t>Approva le leggi che regolano impresa e ambiente.</a:t>
            </a:r>
            <a:endParaRPr lang="en-US" sz="1300" dirty="0"/>
          </a:p>
        </p:txBody>
      </p:sp>
      <p:sp>
        <p:nvSpPr>
          <p:cNvPr id="14" name="Shape 11"/>
          <p:cNvSpPr/>
          <p:nvPr/>
        </p:nvSpPr>
        <p:spPr>
          <a:xfrm>
            <a:off x="4992624" y="2743200"/>
            <a:ext cx="3310128" cy="2926080"/>
          </a:xfrm>
          <a:prstGeom prst="roundRect">
            <a:avLst>
              <a:gd name="adj" fmla="val 2813"/>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5" name="Shape 12"/>
          <p:cNvSpPr/>
          <p:nvPr/>
        </p:nvSpPr>
        <p:spPr>
          <a:xfrm>
            <a:off x="5285232" y="3063240"/>
            <a:ext cx="713232" cy="713232"/>
          </a:xfrm>
          <a:prstGeom prst="ellipse">
            <a:avLst/>
          </a:prstGeom>
          <a:solidFill>
            <a:srgbClr val="BC6C25"/>
          </a:solidFill>
          <a:ln/>
        </p:spPr>
      </p:sp>
      <p:sp>
        <p:nvSpPr>
          <p:cNvPr id="16" name="Text 13"/>
          <p:cNvSpPr/>
          <p:nvPr/>
        </p:nvSpPr>
        <p:spPr>
          <a:xfrm>
            <a:off x="5285232" y="306324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2</a:t>
            </a:r>
            <a:endParaRPr lang="en-US" sz="2400" dirty="0"/>
          </a:p>
        </p:txBody>
      </p:sp>
      <p:sp>
        <p:nvSpPr>
          <p:cNvPr id="17" name="Text 14"/>
          <p:cNvSpPr/>
          <p:nvPr/>
        </p:nvSpPr>
        <p:spPr>
          <a:xfrm>
            <a:off x="5285232" y="3913632"/>
            <a:ext cx="2852928" cy="365760"/>
          </a:xfrm>
          <a:prstGeom prst="rect">
            <a:avLst/>
          </a:prstGeom>
          <a:noFill/>
          <a:ln/>
        </p:spPr>
        <p:txBody>
          <a:bodyPr wrap="square" lIns="0" tIns="0" rIns="0" bIns="0" rtlCol="0" anchor="ctr"/>
          <a:lstStyle/>
          <a:p>
            <a:pPr indent="0" marL="0">
              <a:buNone/>
            </a:pPr>
            <a:r>
              <a:rPr lang="en-US" sz="1800" b="1" dirty="0">
                <a:solidFill>
                  <a:srgbClr val="1B2D2A"/>
                </a:solidFill>
                <a:latin typeface="Georgia" pitchFamily="34" charset="0"/>
                <a:ea typeface="Georgia" pitchFamily="34" charset="-122"/>
                <a:cs typeface="Georgia" pitchFamily="34" charset="-120"/>
              </a:rPr>
              <a:t>Esecutivo</a:t>
            </a:r>
            <a:endParaRPr lang="en-US" sz="1800" dirty="0"/>
          </a:p>
        </p:txBody>
      </p:sp>
      <p:sp>
        <p:nvSpPr>
          <p:cNvPr id="18" name="Text 15"/>
          <p:cNvSpPr/>
          <p:nvPr/>
        </p:nvSpPr>
        <p:spPr>
          <a:xfrm>
            <a:off x="5285232" y="4297680"/>
            <a:ext cx="2852928" cy="320040"/>
          </a:xfrm>
          <a:prstGeom prst="rect">
            <a:avLst/>
          </a:prstGeom>
          <a:noFill/>
          <a:ln/>
        </p:spPr>
        <p:txBody>
          <a:bodyPr wrap="square" lIns="0" tIns="0" rIns="0" bIns="0" rtlCol="0" anchor="ctr"/>
          <a:lstStyle/>
          <a:p>
            <a:pPr indent="0" marL="0">
              <a:buNone/>
            </a:pPr>
            <a:r>
              <a:rPr lang="en-US" sz="1300" b="1" dirty="0">
                <a:solidFill>
                  <a:srgbClr val="BC6C25"/>
                </a:solidFill>
                <a:latin typeface="Calibri" pitchFamily="34" charset="0"/>
                <a:ea typeface="Calibri" pitchFamily="34" charset="-122"/>
                <a:cs typeface="Calibri" pitchFamily="34" charset="-120"/>
              </a:rPr>
              <a:t>Governo</a:t>
            </a:r>
            <a:endParaRPr lang="en-US" sz="1300" dirty="0"/>
          </a:p>
        </p:txBody>
      </p:sp>
      <p:sp>
        <p:nvSpPr>
          <p:cNvPr id="19" name="Text 16"/>
          <p:cNvSpPr/>
          <p:nvPr/>
        </p:nvSpPr>
        <p:spPr>
          <a:xfrm>
            <a:off x="5285232" y="4663440"/>
            <a:ext cx="2761488" cy="914400"/>
          </a:xfrm>
          <a:prstGeom prst="rect">
            <a:avLst/>
          </a:prstGeom>
          <a:noFill/>
          <a:ln/>
        </p:spPr>
        <p:txBody>
          <a:bodyPr wrap="square" lIns="0" tIns="0" rIns="0" bIns="0" rtlCol="0" anchor="t"/>
          <a:lstStyle/>
          <a:p>
            <a:pPr indent="0" marL="0">
              <a:lnSpc>
                <a:spcPct val="112000"/>
              </a:lnSpc>
              <a:buNone/>
            </a:pPr>
            <a:r>
              <a:rPr lang="en-US" sz="1300" dirty="0">
                <a:solidFill>
                  <a:srgbClr val="33433F"/>
                </a:solidFill>
                <a:latin typeface="Calibri" pitchFamily="34" charset="0"/>
                <a:ea typeface="Calibri" pitchFamily="34" charset="-122"/>
                <a:cs typeface="Calibri" pitchFamily="34" charset="-120"/>
              </a:rPr>
              <a:t>Attua le politiche economiche e la transizione.</a:t>
            </a:r>
            <a:endParaRPr lang="en-US" sz="1300" dirty="0"/>
          </a:p>
        </p:txBody>
      </p:sp>
      <p:sp>
        <p:nvSpPr>
          <p:cNvPr id="20" name="Shape 17"/>
          <p:cNvSpPr/>
          <p:nvPr/>
        </p:nvSpPr>
        <p:spPr>
          <a:xfrm>
            <a:off x="8686800" y="2743200"/>
            <a:ext cx="3310128" cy="2926080"/>
          </a:xfrm>
          <a:prstGeom prst="roundRect">
            <a:avLst>
              <a:gd name="adj" fmla="val 2813"/>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21" name="Shape 18"/>
          <p:cNvSpPr/>
          <p:nvPr/>
        </p:nvSpPr>
        <p:spPr>
          <a:xfrm>
            <a:off x="8979408" y="3063240"/>
            <a:ext cx="713232" cy="713232"/>
          </a:xfrm>
          <a:prstGeom prst="ellipse">
            <a:avLst/>
          </a:prstGeom>
          <a:solidFill>
            <a:srgbClr val="40916C"/>
          </a:solidFill>
          <a:ln/>
        </p:spPr>
      </p:sp>
      <p:sp>
        <p:nvSpPr>
          <p:cNvPr id="22" name="Text 19"/>
          <p:cNvSpPr/>
          <p:nvPr/>
        </p:nvSpPr>
        <p:spPr>
          <a:xfrm>
            <a:off x="8979408" y="306324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3</a:t>
            </a:r>
            <a:endParaRPr lang="en-US" sz="2400" dirty="0"/>
          </a:p>
        </p:txBody>
      </p:sp>
      <p:sp>
        <p:nvSpPr>
          <p:cNvPr id="23" name="Text 20"/>
          <p:cNvSpPr/>
          <p:nvPr/>
        </p:nvSpPr>
        <p:spPr>
          <a:xfrm>
            <a:off x="8979408" y="3913632"/>
            <a:ext cx="2852928" cy="365760"/>
          </a:xfrm>
          <a:prstGeom prst="rect">
            <a:avLst/>
          </a:prstGeom>
          <a:noFill/>
          <a:ln/>
        </p:spPr>
        <p:txBody>
          <a:bodyPr wrap="square" lIns="0" tIns="0" rIns="0" bIns="0" rtlCol="0" anchor="ctr"/>
          <a:lstStyle/>
          <a:p>
            <a:pPr indent="0" marL="0">
              <a:buNone/>
            </a:pPr>
            <a:r>
              <a:rPr lang="en-US" sz="1800" b="1" dirty="0">
                <a:solidFill>
                  <a:srgbClr val="1B2D2A"/>
                </a:solidFill>
                <a:latin typeface="Georgia" pitchFamily="34" charset="0"/>
                <a:ea typeface="Georgia" pitchFamily="34" charset="-122"/>
                <a:cs typeface="Georgia" pitchFamily="34" charset="-120"/>
              </a:rPr>
              <a:t>Giudiziario</a:t>
            </a:r>
            <a:endParaRPr lang="en-US" sz="1800" dirty="0"/>
          </a:p>
        </p:txBody>
      </p:sp>
      <p:sp>
        <p:nvSpPr>
          <p:cNvPr id="24" name="Text 21"/>
          <p:cNvSpPr/>
          <p:nvPr/>
        </p:nvSpPr>
        <p:spPr>
          <a:xfrm>
            <a:off x="8979408" y="4297680"/>
            <a:ext cx="2852928" cy="320040"/>
          </a:xfrm>
          <a:prstGeom prst="rect">
            <a:avLst/>
          </a:prstGeom>
          <a:noFill/>
          <a:ln/>
        </p:spPr>
        <p:txBody>
          <a:bodyPr wrap="square" lIns="0" tIns="0" rIns="0" bIns="0" rtlCol="0" anchor="ctr"/>
          <a:lstStyle/>
          <a:p>
            <a:pPr indent="0" marL="0">
              <a:buNone/>
            </a:pPr>
            <a:r>
              <a:rPr lang="en-US" sz="1300" b="1" dirty="0">
                <a:solidFill>
                  <a:srgbClr val="40916C"/>
                </a:solidFill>
                <a:latin typeface="Calibri" pitchFamily="34" charset="0"/>
                <a:ea typeface="Calibri" pitchFamily="34" charset="-122"/>
                <a:cs typeface="Calibri" pitchFamily="34" charset="-120"/>
              </a:rPr>
              <a:t>Magistratura</a:t>
            </a:r>
            <a:endParaRPr lang="en-US" sz="1300" dirty="0"/>
          </a:p>
        </p:txBody>
      </p:sp>
      <p:sp>
        <p:nvSpPr>
          <p:cNvPr id="25" name="Text 22"/>
          <p:cNvSpPr/>
          <p:nvPr/>
        </p:nvSpPr>
        <p:spPr>
          <a:xfrm>
            <a:off x="8979408" y="4663440"/>
            <a:ext cx="2761488" cy="914400"/>
          </a:xfrm>
          <a:prstGeom prst="rect">
            <a:avLst/>
          </a:prstGeom>
          <a:noFill/>
          <a:ln/>
        </p:spPr>
        <p:txBody>
          <a:bodyPr wrap="square" lIns="0" tIns="0" rIns="0" bIns="0" rtlCol="0" anchor="t"/>
          <a:lstStyle/>
          <a:p>
            <a:pPr indent="0" marL="0">
              <a:lnSpc>
                <a:spcPct val="112000"/>
              </a:lnSpc>
              <a:buNone/>
            </a:pPr>
            <a:r>
              <a:rPr lang="en-US" sz="1300" dirty="0">
                <a:solidFill>
                  <a:srgbClr val="33433F"/>
                </a:solidFill>
                <a:latin typeface="Calibri" pitchFamily="34" charset="0"/>
                <a:ea typeface="Calibri" pitchFamily="34" charset="-122"/>
                <a:cs typeface="Calibri" pitchFamily="34" charset="-120"/>
              </a:rPr>
              <a:t>Giudica chi viola i limiti dell'art. 41.</a:t>
            </a:r>
            <a:endParaRPr lang="en-US" sz="1300" dirty="0"/>
          </a:p>
        </p:txBody>
      </p:sp>
      <p:sp>
        <p:nvSpPr>
          <p:cNvPr id="26" name="Shape 23"/>
          <p:cNvSpPr/>
          <p:nvPr/>
        </p:nvSpPr>
        <p:spPr>
          <a:xfrm>
            <a:off x="548640" y="6272784"/>
            <a:ext cx="64008" cy="365760"/>
          </a:xfrm>
          <a:prstGeom prst="rect">
            <a:avLst/>
          </a:prstGeom>
          <a:solidFill>
            <a:srgbClr val="BC6C25"/>
          </a:solidFill>
          <a:ln/>
        </p:spPr>
      </p:sp>
      <p:pic>
        <p:nvPicPr>
          <p:cNvPr id="27" name="Image 1" descr="preencoded.png">    </p:cNvPr>
          <p:cNvPicPr>
            <a:picLocks noChangeAspect="1"/>
          </p:cNvPicPr>
          <p:nvPr/>
        </p:nvPicPr>
        <p:blipFill>
          <a:blip r:embed="rId2"/>
          <a:stretch>
            <a:fillRect/>
          </a:stretch>
        </p:blipFill>
        <p:spPr>
          <a:xfrm>
            <a:off x="731520" y="6336792"/>
            <a:ext cx="228600" cy="228600"/>
          </a:xfrm>
          <a:prstGeom prst="rect">
            <a:avLst/>
          </a:prstGeom>
        </p:spPr>
      </p:pic>
      <p:sp>
        <p:nvSpPr>
          <p:cNvPr id="28" name="Text 24"/>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Tra i beni che lo sviluppo non può sacrificare c'è il più importante: la salute. → Educazione fisica</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6C25"/>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BC6C25"/>
                </a:solidFill>
                <a:latin typeface="Calibri" pitchFamily="34" charset="0"/>
                <a:ea typeface="Calibri" pitchFamily="34" charset="-122"/>
                <a:cs typeface="Calibri" pitchFamily="34" charset="-120"/>
              </a:rPr>
              <a:t>EDUCAZIONE FISICA</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07</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La salute, capitale dello sviluppo</a:t>
            </a:r>
            <a:endParaRPr lang="en-US" sz="2600" dirty="0"/>
          </a:p>
        </p:txBody>
      </p:sp>
      <p:sp>
        <p:nvSpPr>
          <p:cNvPr id="7" name="Shape 4"/>
          <p:cNvSpPr/>
          <p:nvPr/>
        </p:nvSpPr>
        <p:spPr>
          <a:xfrm>
            <a:off x="1298448" y="1737360"/>
            <a:ext cx="4572000" cy="3977640"/>
          </a:xfrm>
          <a:prstGeom prst="roundRect">
            <a:avLst>
              <a:gd name="adj" fmla="val 2069"/>
            </a:avLst>
          </a:prstGeom>
          <a:solidFill>
            <a:srgbClr val="1B4332"/>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8" name="Text 5"/>
          <p:cNvSpPr/>
          <p:nvPr/>
        </p:nvSpPr>
        <p:spPr>
          <a:xfrm>
            <a:off x="1627632" y="2011680"/>
            <a:ext cx="3657600" cy="45720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ART. 32</a:t>
            </a:r>
            <a:endParaRPr lang="en-US" sz="2800" dirty="0"/>
          </a:p>
        </p:txBody>
      </p:sp>
      <p:sp>
        <p:nvSpPr>
          <p:cNvPr id="9" name="Text 6"/>
          <p:cNvSpPr/>
          <p:nvPr/>
        </p:nvSpPr>
        <p:spPr>
          <a:xfrm>
            <a:off x="1627632" y="2606040"/>
            <a:ext cx="3931920" cy="1645920"/>
          </a:xfrm>
          <a:prstGeom prst="rect">
            <a:avLst/>
          </a:prstGeom>
          <a:noFill/>
          <a:ln/>
        </p:spPr>
        <p:txBody>
          <a:bodyPr wrap="square" lIns="0" tIns="0" rIns="0" bIns="0" rtlCol="0" anchor="t"/>
          <a:lstStyle/>
          <a:p>
            <a:pPr algn="l" indent="0" marL="0">
              <a:lnSpc>
                <a:spcPct val="120000"/>
              </a:lnSpc>
              <a:buNone/>
            </a:pPr>
            <a:r>
              <a:rPr lang="en-US" sz="1550" i="1" dirty="0">
                <a:solidFill>
                  <a:srgbClr val="E9EDC9"/>
                </a:solidFill>
                <a:latin typeface="Georgia" pitchFamily="34" charset="0"/>
                <a:ea typeface="Georgia" pitchFamily="34" charset="-122"/>
                <a:cs typeface="Georgia" pitchFamily="34" charset="-120"/>
              </a:rPr>
              <a:t>«La Repubblica tutela la salute come fondamentale diritto dell'individuo e interesse della collettività.»</a:t>
            </a:r>
            <a:endParaRPr lang="en-US" sz="1550" dirty="0"/>
          </a:p>
        </p:txBody>
      </p:sp>
      <p:sp>
        <p:nvSpPr>
          <p:cNvPr id="10" name="Text 7"/>
          <p:cNvSpPr/>
          <p:nvPr/>
        </p:nvSpPr>
        <p:spPr>
          <a:xfrm>
            <a:off x="1627632" y="4846320"/>
            <a:ext cx="3931920" cy="731520"/>
          </a:xfrm>
          <a:prstGeom prst="rect">
            <a:avLst/>
          </a:prstGeom>
          <a:noFill/>
          <a:ln/>
        </p:spPr>
        <p:txBody>
          <a:bodyPr wrap="square" lIns="0" tIns="0" rIns="0" bIns="0" rtlCol="0" anchor="t"/>
          <a:lstStyle/>
          <a:p>
            <a:pPr indent="0" marL="0">
              <a:lnSpc>
                <a:spcPct val="110000"/>
              </a:lnSpc>
              <a:buNone/>
            </a:pPr>
            <a:r>
              <a:rPr lang="en-US" sz="1250" dirty="0">
                <a:solidFill>
                  <a:srgbClr val="74C69D"/>
                </a:solidFill>
                <a:latin typeface="Calibri" pitchFamily="34" charset="0"/>
                <a:ea typeface="Calibri" pitchFamily="34" charset="-122"/>
                <a:cs typeface="Calibri" pitchFamily="34" charset="-120"/>
              </a:rPr>
              <a:t>La salute è il limite che, con l'art. 41, l'economia non può oltrepassare.</a:t>
            </a:r>
            <a:endParaRPr lang="en-US" sz="1250" dirty="0"/>
          </a:p>
        </p:txBody>
      </p:sp>
      <p:sp>
        <p:nvSpPr>
          <p:cNvPr id="11" name="Text 8"/>
          <p:cNvSpPr/>
          <p:nvPr/>
        </p:nvSpPr>
        <p:spPr>
          <a:xfrm>
            <a:off x="6172200" y="1828800"/>
            <a:ext cx="5486400" cy="3840480"/>
          </a:xfrm>
          <a:prstGeom prst="rect">
            <a:avLst/>
          </a:prstGeom>
          <a:noFill/>
          <a:ln/>
        </p:spPr>
        <p:txBody>
          <a:bodyPr wrap="square" rtlCol="0" anchor="t"/>
          <a:lstStyle/>
          <a:p>
            <a:pPr algn="l" indent="0" marL="0">
              <a:lnSpc>
                <a:spcPct val="116000"/>
              </a:lnSpc>
              <a:buNone/>
            </a:pPr>
            <a:r>
              <a:rPr lang="en-US" sz="1700" b="1" dirty="0">
                <a:solidFill>
                  <a:srgbClr val="BC6C25"/>
                </a:solidFill>
                <a:latin typeface="Calibri" pitchFamily="34" charset="0"/>
                <a:ea typeface="Calibri" pitchFamily="34" charset="-122"/>
                <a:cs typeface="Calibri" pitchFamily="34" charset="-120"/>
              </a:rPr>
              <a:t>Benessere, non solo PIL</a:t>
            </a:r>
            <a:endParaRPr lang="en-US" sz="1350" dirty="0"/>
          </a:p>
          <a:p>
            <a:pPr algn="l" indent="0" marL="0">
              <a:lnSpc>
                <a:spcPct val="116000"/>
              </a:lnSpc>
              <a:buNone/>
            </a:pPr>
            <a:r>
              <a:rPr lang="en-US" sz="700" dirty="0">
                <a:solidFill>
                  <a:srgbClr val="000000"/>
                </a:solidFill>
                <a:latin typeface="Calibri" pitchFamily="34" charset="0"/>
                <a:ea typeface="Calibri" pitchFamily="34" charset="-122"/>
                <a:cs typeface="Calibri" pitchFamily="34" charset="-120"/>
              </a:rPr>
              <a:t> </a:t>
            </a:r>
            <a:endParaRPr lang="en-US" sz="1350" dirty="0"/>
          </a:p>
          <a:p>
            <a:pPr algn="l" indent="0" marL="0">
              <a:lnSpc>
                <a:spcPct val="116000"/>
              </a:lnSpc>
              <a:buNone/>
            </a:pPr>
            <a:r>
              <a:rPr lang="en-US" sz="1350" dirty="0">
                <a:solidFill>
                  <a:srgbClr val="33433F"/>
                </a:solidFill>
                <a:latin typeface="Calibri" pitchFamily="34" charset="0"/>
                <a:ea typeface="Calibri" pitchFamily="34" charset="-122"/>
                <a:cs typeface="Calibri" pitchFamily="34" charset="-120"/>
              </a:rPr>
              <a:t>Per l'OMS (1948) la salute è pieno benessere fisico, mentale e sociale, non semplice assenza di malattia.</a:t>
            </a:r>
            <a:endParaRPr lang="en-US" sz="1350" dirty="0"/>
          </a:p>
          <a:p>
            <a:pPr algn="l" indent="0" marL="0">
              <a:lnSpc>
                <a:spcPct val="116000"/>
              </a:lnSpc>
              <a:buNone/>
            </a:pPr>
            <a:r>
              <a:rPr lang="en-US" sz="700" dirty="0">
                <a:solidFill>
                  <a:srgbClr val="000000"/>
                </a:solidFill>
                <a:latin typeface="Calibri" pitchFamily="34" charset="0"/>
                <a:ea typeface="Calibri" pitchFamily="34" charset="-122"/>
                <a:cs typeface="Calibri" pitchFamily="34" charset="-120"/>
              </a:rPr>
              <a:t> </a:t>
            </a:r>
            <a:endParaRPr lang="en-US" sz="1350" dirty="0"/>
          </a:p>
          <a:p>
            <a:pPr algn="l" indent="0" marL="0">
              <a:lnSpc>
                <a:spcPct val="116000"/>
              </a:lnSpc>
              <a:buNone/>
            </a:pPr>
            <a:r>
              <a:rPr lang="en-US" sz="1350" dirty="0">
                <a:solidFill>
                  <a:srgbClr val="33433F"/>
                </a:solidFill>
                <a:latin typeface="Calibri" pitchFamily="34" charset="0"/>
                <a:ea typeface="Calibri" pitchFamily="34" charset="-122"/>
                <a:cs typeface="Calibri" pitchFamily="34" charset="-120"/>
              </a:rPr>
              <a:t>Una crescita che inquina l'aria e l'acqua produce malattie e costi sanitari enormi: non è vero progresso. La salute è «capitale umano», il primo fattore di ogni sviluppo.</a:t>
            </a:r>
            <a:endParaRPr lang="en-US" sz="1350" dirty="0"/>
          </a:p>
          <a:p>
            <a:pPr algn="l" indent="0" marL="0">
              <a:lnSpc>
                <a:spcPct val="116000"/>
              </a:lnSpc>
              <a:buNone/>
            </a:pPr>
            <a:r>
              <a:rPr lang="en-US" sz="700" dirty="0">
                <a:solidFill>
                  <a:srgbClr val="000000"/>
                </a:solidFill>
                <a:latin typeface="Calibri" pitchFamily="34" charset="0"/>
                <a:ea typeface="Calibri" pitchFamily="34" charset="-122"/>
                <a:cs typeface="Calibri" pitchFamily="34" charset="-120"/>
              </a:rPr>
              <a:t> </a:t>
            </a:r>
            <a:endParaRPr lang="en-US" sz="1350" dirty="0"/>
          </a:p>
          <a:p>
            <a:pPr algn="l" indent="0" marL="0">
              <a:lnSpc>
                <a:spcPct val="116000"/>
              </a:lnSpc>
              <a:buNone/>
            </a:pPr>
            <a:r>
              <a:rPr lang="en-US" sz="1350" i="1" dirty="0">
                <a:solidFill>
                  <a:srgbClr val="1B2D2A"/>
                </a:solidFill>
                <a:latin typeface="Calibri" pitchFamily="34" charset="0"/>
                <a:ea typeface="Calibri" pitchFamily="34" charset="-122"/>
                <a:cs typeface="Calibri" pitchFamily="34" charset="-120"/>
              </a:rPr>
              <a:t>L'approccio «One Health» lega salute umana, animale e ambientale: un ambiente sostenibile è la migliore prevenzione.</a:t>
            </a:r>
            <a:endParaRPr lang="en-US" sz="1350" dirty="0"/>
          </a:p>
        </p:txBody>
      </p:sp>
      <p:sp>
        <p:nvSpPr>
          <p:cNvPr id="12" name="Shape 9"/>
          <p:cNvSpPr/>
          <p:nvPr/>
        </p:nvSpPr>
        <p:spPr>
          <a:xfrm>
            <a:off x="548640" y="6272784"/>
            <a:ext cx="64008" cy="365760"/>
          </a:xfrm>
          <a:prstGeom prst="rect">
            <a:avLst/>
          </a:prstGeom>
          <a:solidFill>
            <a:srgbClr val="BC6C25"/>
          </a:solidFill>
          <a:ln/>
        </p:spPr>
      </p:sp>
      <p:pic>
        <p:nvPicPr>
          <p:cNvPr id="13" name="Image 1" descr="preencoded.png">    </p:cNvPr>
          <p:cNvPicPr>
            <a:picLocks noChangeAspect="1"/>
          </p:cNvPicPr>
          <p:nvPr/>
        </p:nvPicPr>
        <p:blipFill>
          <a:blip r:embed="rId2"/>
          <a:stretch>
            <a:fillRect/>
          </a:stretch>
        </p:blipFill>
        <p:spPr>
          <a:xfrm>
            <a:off x="731520" y="6336792"/>
            <a:ext cx="228600" cy="228600"/>
          </a:xfrm>
          <a:prstGeom prst="rect">
            <a:avLst/>
          </a:prstGeom>
        </p:spPr>
      </p:pic>
      <p:sp>
        <p:nvSpPr>
          <p:cNvPr id="14" name="Text 10"/>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Crescita, salute e ambiente sono grandezze che si misurano: servono i numeri. → Matematica</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D6A4F"/>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2D6A4F"/>
                </a:solidFill>
                <a:latin typeface="Calibri" pitchFamily="34" charset="0"/>
                <a:ea typeface="Calibri" pitchFamily="34" charset="-122"/>
                <a:cs typeface="Calibri" pitchFamily="34" charset="-120"/>
              </a:rPr>
              <a:t>MATEMATICA</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08</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I limiti della crescita esponenziale</a:t>
            </a:r>
            <a:endParaRPr lang="en-US" sz="2600" dirty="0"/>
          </a:p>
        </p:txBody>
      </p:sp>
      <p:sp>
        <p:nvSpPr>
          <p:cNvPr id="7" name="Text 4"/>
          <p:cNvSpPr/>
          <p:nvPr/>
        </p:nvSpPr>
        <p:spPr>
          <a:xfrm>
            <a:off x="1298448" y="1572768"/>
            <a:ext cx="5577840" cy="1280160"/>
          </a:xfrm>
          <a:prstGeom prst="rect">
            <a:avLst/>
          </a:prstGeom>
          <a:noFill/>
          <a:ln/>
        </p:spPr>
        <p:txBody>
          <a:bodyPr wrap="square" rtlCol="0" anchor="t"/>
          <a:lstStyle/>
          <a:p>
            <a:pPr algn="l" indent="0" marL="0">
              <a:lnSpc>
                <a:spcPct val="116000"/>
              </a:lnSpc>
              <a:buNone/>
            </a:pPr>
            <a:r>
              <a:rPr lang="en-US" sz="1400" dirty="0">
                <a:solidFill>
                  <a:srgbClr val="33433F"/>
                </a:solidFill>
                <a:latin typeface="Calibri" pitchFamily="34" charset="0"/>
                <a:ea typeface="Calibri" pitchFamily="34" charset="-122"/>
                <a:cs typeface="Calibri" pitchFamily="34" charset="-120"/>
              </a:rPr>
              <a:t>Il PIL e i consumi crescono spesso in modo esponenziale: come un interesse composto, una percentuale costante produce un'accelerazione enorme. È il modello matematico della crescita economica.</a:t>
            </a:r>
            <a:endParaRPr lang="en-US" sz="1400" dirty="0"/>
          </a:p>
        </p:txBody>
      </p:sp>
      <p:sp>
        <p:nvSpPr>
          <p:cNvPr id="8" name="Shape 5"/>
          <p:cNvSpPr/>
          <p:nvPr/>
        </p:nvSpPr>
        <p:spPr>
          <a:xfrm>
            <a:off x="1298448" y="2926080"/>
            <a:ext cx="5577840" cy="1051560"/>
          </a:xfrm>
          <a:prstGeom prst="roundRect">
            <a:avLst>
              <a:gd name="adj" fmla="val 7826"/>
            </a:avLst>
          </a:prstGeom>
          <a:solidFill>
            <a:srgbClr val="D8F3DC"/>
          </a:solidFill>
          <a:ln w="12700">
            <a:solidFill>
              <a:srgbClr val="D8F3DC"/>
            </a:solidFill>
            <a:prstDash val="solid"/>
          </a:ln>
          <a:effectLst>
            <a:outerShdw sx="100000" sy="100000" kx="0" ky="0" algn="bl" rotWithShape="0" blurRad="88900" dist="25400" dir="8100000">
              <a:srgbClr val="1B2D2A">
                <a:alpha val="10000"/>
              </a:srgbClr>
            </a:outerShdw>
          </a:effectLst>
        </p:spPr>
      </p:sp>
      <p:sp>
        <p:nvSpPr>
          <p:cNvPr id="9" name="Text 6"/>
          <p:cNvSpPr/>
          <p:nvPr/>
        </p:nvSpPr>
        <p:spPr>
          <a:xfrm>
            <a:off x="1554480" y="3063240"/>
            <a:ext cx="5029200" cy="502920"/>
          </a:xfrm>
          <a:prstGeom prst="rect">
            <a:avLst/>
          </a:prstGeom>
          <a:noFill/>
          <a:ln/>
        </p:spPr>
        <p:txBody>
          <a:bodyPr wrap="square" lIns="0" tIns="0" rIns="0" bIns="0" rtlCol="0" anchor="ctr"/>
          <a:lstStyle/>
          <a:p>
            <a:pPr algn="l" indent="0" marL="0">
              <a:buNone/>
            </a:pPr>
            <a:r>
              <a:rPr lang="en-US" sz="2500" b="1" dirty="0">
                <a:solidFill>
                  <a:srgbClr val="2D6A4F"/>
                </a:solidFill>
                <a:latin typeface="Georgia" pitchFamily="34" charset="0"/>
                <a:ea typeface="Georgia" pitchFamily="34" charset="-122"/>
                <a:cs typeface="Georgia" pitchFamily="34" charset="-120"/>
              </a:rPr>
              <a:t>N(t) = N</a:t>
            </a:r>
            <a:pPr algn="l" indent="0" marL="0">
              <a:buNone/>
            </a:pPr>
            <a:r>
              <a:rPr lang="en-US" sz="2500" b="1" baseline="-40000" dirty="0">
                <a:solidFill>
                  <a:srgbClr val="2D6A4F"/>
                </a:solidFill>
                <a:latin typeface="Georgia" pitchFamily="34" charset="0"/>
                <a:ea typeface="Georgia" pitchFamily="34" charset="-122"/>
                <a:cs typeface="Georgia" pitchFamily="34" charset="-120"/>
              </a:rPr>
              <a:t>0</a:t>
            </a:r>
            <a:pPr algn="l" indent="0" marL="0">
              <a:buNone/>
            </a:pPr>
            <a:r>
              <a:rPr lang="en-US" sz="2500" b="1" dirty="0">
                <a:solidFill>
                  <a:srgbClr val="2D6A4F"/>
                </a:solidFill>
                <a:latin typeface="Georgia" pitchFamily="34" charset="0"/>
                <a:ea typeface="Georgia" pitchFamily="34" charset="-122"/>
                <a:cs typeface="Georgia" pitchFamily="34" charset="-120"/>
              </a:rPr>
              <a:t> · e</a:t>
            </a:r>
            <a:pPr algn="l" indent="0" marL="0">
              <a:buNone/>
            </a:pPr>
            <a:r>
              <a:rPr lang="en-US" sz="2500" b="1" baseline="30000" dirty="0">
                <a:solidFill>
                  <a:srgbClr val="2D6A4F"/>
                </a:solidFill>
                <a:latin typeface="Georgia" pitchFamily="34" charset="0"/>
                <a:ea typeface="Georgia" pitchFamily="34" charset="-122"/>
                <a:cs typeface="Georgia" pitchFamily="34" charset="-120"/>
              </a:rPr>
              <a:t>kt</a:t>
            </a:r>
            <a:endParaRPr lang="en-US" sz="2500" dirty="0"/>
          </a:p>
        </p:txBody>
      </p:sp>
      <p:sp>
        <p:nvSpPr>
          <p:cNvPr id="10" name="Text 7"/>
          <p:cNvSpPr/>
          <p:nvPr/>
        </p:nvSpPr>
        <p:spPr>
          <a:xfrm>
            <a:off x="1554480" y="3566160"/>
            <a:ext cx="5029200" cy="320040"/>
          </a:xfrm>
          <a:prstGeom prst="rect">
            <a:avLst/>
          </a:prstGeom>
          <a:noFill/>
          <a:ln/>
        </p:spPr>
        <p:txBody>
          <a:bodyPr wrap="square" lIns="0" tIns="0" rIns="0" bIns="0" rtlCol="0" anchor="ctr"/>
          <a:lstStyle/>
          <a:p>
            <a:pPr indent="0" marL="0">
              <a:buNone/>
            </a:pPr>
            <a:r>
              <a:rPr lang="en-US" sz="1250" i="1" dirty="0">
                <a:solidFill>
                  <a:srgbClr val="33433F"/>
                </a:solidFill>
                <a:latin typeface="Calibri" pitchFamily="34" charset="0"/>
                <a:ea typeface="Calibri" pitchFamily="34" charset="-122"/>
                <a:cs typeface="Calibri" pitchFamily="34" charset="-120"/>
              </a:rPr>
              <a:t>N₀ valore iniziale · k tasso di crescita · t tempo</a:t>
            </a:r>
            <a:endParaRPr lang="en-US" sz="1250" dirty="0"/>
          </a:p>
        </p:txBody>
      </p:sp>
      <p:sp>
        <p:nvSpPr>
          <p:cNvPr id="11" name="Shape 8"/>
          <p:cNvSpPr/>
          <p:nvPr/>
        </p:nvSpPr>
        <p:spPr>
          <a:xfrm>
            <a:off x="1298448" y="4160520"/>
            <a:ext cx="5577840" cy="1508760"/>
          </a:xfrm>
          <a:prstGeom prst="roundRect">
            <a:avLst>
              <a:gd name="adj" fmla="val 5455"/>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2" name="Text 9"/>
          <p:cNvSpPr/>
          <p:nvPr/>
        </p:nvSpPr>
        <p:spPr>
          <a:xfrm>
            <a:off x="1554480" y="4270248"/>
            <a:ext cx="5029200" cy="320040"/>
          </a:xfrm>
          <a:prstGeom prst="rect">
            <a:avLst/>
          </a:prstGeom>
          <a:noFill/>
          <a:ln/>
        </p:spPr>
        <p:txBody>
          <a:bodyPr wrap="square" lIns="0" tIns="0" rIns="0" bIns="0" rtlCol="0" anchor="ctr"/>
          <a:lstStyle/>
          <a:p>
            <a:pPr indent="0" marL="0">
              <a:buNone/>
            </a:pPr>
            <a:r>
              <a:rPr lang="en-US" sz="1250" b="1" dirty="0">
                <a:solidFill>
                  <a:srgbClr val="2D6A4F"/>
                </a:solidFill>
                <a:latin typeface="Calibri" pitchFamily="34" charset="0"/>
                <a:ea typeface="Calibri" pitchFamily="34" charset="-122"/>
                <a:cs typeface="Calibri" pitchFamily="34" charset="-120"/>
              </a:rPr>
              <a:t>La «regola del 70» e i limiti dello sviluppo</a:t>
            </a:r>
            <a:endParaRPr lang="en-US" sz="1250" dirty="0"/>
          </a:p>
        </p:txBody>
      </p:sp>
      <p:sp>
        <p:nvSpPr>
          <p:cNvPr id="13" name="Text 10"/>
          <p:cNvSpPr/>
          <p:nvPr/>
        </p:nvSpPr>
        <p:spPr>
          <a:xfrm>
            <a:off x="1554480" y="4599432"/>
            <a:ext cx="5120640" cy="1005840"/>
          </a:xfrm>
          <a:prstGeom prst="rect">
            <a:avLst/>
          </a:prstGeom>
          <a:noFill/>
          <a:ln/>
        </p:spPr>
        <p:txBody>
          <a:bodyPr wrap="square" lIns="0" tIns="0" rIns="0" bIns="0" rtlCol="0" anchor="t"/>
          <a:lstStyle/>
          <a:p>
            <a:pPr algn="l" indent="0" marL="0">
              <a:lnSpc>
                <a:spcPct val="106000"/>
              </a:lnSpc>
              <a:spcAft>
                <a:spcPts val="300"/>
              </a:spcAft>
              <a:buNone/>
            </a:pPr>
            <a:r>
              <a:rPr lang="en-US" sz="1250" b="1" dirty="0">
                <a:solidFill>
                  <a:srgbClr val="1B2D2A"/>
                </a:solidFill>
                <a:latin typeface="Calibri" pitchFamily="34" charset="0"/>
                <a:ea typeface="Calibri" pitchFamily="34" charset="-122"/>
                <a:cs typeface="Calibri" pitchFamily="34" charset="-120"/>
              </a:rPr>
              <a:t>T ≈ 70 / tasso%   </a:t>
            </a:r>
            <a:endParaRPr lang="en-US" sz="1250" dirty="0"/>
          </a:p>
          <a:p>
            <a:pPr algn="l" indent="0" marL="0">
              <a:lnSpc>
                <a:spcPct val="106000"/>
              </a:lnSpc>
              <a:spcAft>
                <a:spcPts val="300"/>
              </a:spcAft>
              <a:buNone/>
            </a:pPr>
            <a:r>
              <a:rPr lang="en-US" sz="1250" dirty="0">
                <a:solidFill>
                  <a:srgbClr val="33433F"/>
                </a:solidFill>
                <a:latin typeface="Calibri" pitchFamily="34" charset="0"/>
                <a:ea typeface="Calibri" pitchFamily="34" charset="-122"/>
                <a:cs typeface="Calibri" pitchFamily="34" charset="-120"/>
              </a:rPr>
              <a:t>un'economia che cresce del 3% l'anno raddoppia in ~23 anni.</a:t>
            </a:r>
            <a:endParaRPr lang="en-US" sz="1250" dirty="0"/>
          </a:p>
          <a:p>
            <a:pPr algn="l" indent="0" marL="0">
              <a:lnSpc>
                <a:spcPct val="106000"/>
              </a:lnSpc>
              <a:spcAft>
                <a:spcPts val="300"/>
              </a:spcAft>
              <a:buNone/>
            </a:pPr>
            <a:r>
              <a:rPr lang="en-US" sz="1250" i="1" dirty="0">
                <a:solidFill>
                  <a:srgbClr val="33433F"/>
                </a:solidFill>
                <a:latin typeface="Calibri" pitchFamily="34" charset="0"/>
                <a:ea typeface="Calibri" pitchFamily="34" charset="-122"/>
                <a:cs typeface="Calibri" pitchFamily="34" charset="-120"/>
              </a:rPr>
              <a:t>Ma una crescita esponenziale in un mondo finito non può durare (Club di Roma, «I limiti dello sviluppo», 1972).</a:t>
            </a:r>
            <a:endParaRPr lang="en-US" sz="1250" dirty="0"/>
          </a:p>
        </p:txBody>
      </p:sp>
      <p:graphicFrame>
        <p:nvGraphicFramePr>
          <p:cNvPr id="14" name="Chart 0" descr=""/>
          <p:cNvGraphicFramePr/>
          <p:nvPr/>
        </p:nvGraphicFramePr>
        <p:xfrm>
          <a:off x="7315200" y="1691640"/>
          <a:ext cx="4434840" cy="4069080"/>
        </p:xfrm>
        <a:graphic xmlns:a="http://schemas.openxmlformats.org/drawingml/2006/main">
          <a:graphicData uri="http://schemas.openxmlformats.org/drawingml/2006/chart">
            <c:chart xmlns:c="http://schemas.openxmlformats.org/drawingml/2006/chart" r:id="rId2"/>
          </a:graphicData>
        </a:graphic>
      </p:graphicFrame>
      <p:sp>
        <p:nvSpPr>
          <p:cNvPr id="15" name="Shape 11"/>
          <p:cNvSpPr/>
          <p:nvPr/>
        </p:nvSpPr>
        <p:spPr>
          <a:xfrm>
            <a:off x="548640" y="6272784"/>
            <a:ext cx="64008" cy="365760"/>
          </a:xfrm>
          <a:prstGeom prst="rect">
            <a:avLst/>
          </a:prstGeom>
          <a:solidFill>
            <a:srgbClr val="BC6C25"/>
          </a:solidFill>
          <a:ln/>
        </p:spPr>
      </p:sp>
      <p:pic>
        <p:nvPicPr>
          <p:cNvPr id="16" name="Image 1" descr="preencoded.png">    </p:cNvPr>
          <p:cNvPicPr>
            <a:picLocks noChangeAspect="1"/>
          </p:cNvPicPr>
          <p:nvPr/>
        </p:nvPicPr>
        <p:blipFill>
          <a:blip r:embed="rId3"/>
          <a:stretch>
            <a:fillRect/>
          </a:stretch>
        </p:blipFill>
        <p:spPr>
          <a:xfrm>
            <a:off x="731520" y="6336792"/>
            <a:ext cx="228600" cy="228600"/>
          </a:xfrm>
          <a:prstGeom prst="rect">
            <a:avLst/>
          </a:prstGeom>
        </p:spPr>
      </p:pic>
      <p:sp>
        <p:nvSpPr>
          <p:cNvPr id="17" name="Text 12"/>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La teoria incontra i fatti: i dati ISTAT mostrano se crescita ed emissioni possono separarsi. → Fisica</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6C25"/>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BC6C25"/>
                </a:solidFill>
                <a:latin typeface="Calibri" pitchFamily="34" charset="0"/>
                <a:ea typeface="Calibri" pitchFamily="34" charset="-122"/>
                <a:cs typeface="Calibri" pitchFamily="34" charset="-120"/>
              </a:rPr>
              <a:t>FISICA · 1</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09</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Crescita ed emissioni in Italia</a:t>
            </a:r>
            <a:endParaRPr lang="en-US" sz="2600" dirty="0"/>
          </a:p>
        </p:txBody>
      </p:sp>
      <p:sp>
        <p:nvSpPr>
          <p:cNvPr id="7" name="Text 4"/>
          <p:cNvSpPr/>
          <p:nvPr/>
        </p:nvSpPr>
        <p:spPr>
          <a:xfrm>
            <a:off x="1298448" y="1572768"/>
            <a:ext cx="5486400" cy="1325880"/>
          </a:xfrm>
          <a:prstGeom prst="rect">
            <a:avLst/>
          </a:prstGeom>
          <a:noFill/>
          <a:ln/>
        </p:spPr>
        <p:txBody>
          <a:bodyPr wrap="square" rtlCol="0" anchor="t"/>
          <a:lstStyle/>
          <a:p>
            <a:pPr algn="l" indent="0" marL="0">
              <a:lnSpc>
                <a:spcPct val="116000"/>
              </a:lnSpc>
              <a:buNone/>
            </a:pPr>
            <a:r>
              <a:rPr lang="en-US" sz="1400" dirty="0">
                <a:solidFill>
                  <a:srgbClr val="33433F"/>
                </a:solidFill>
                <a:latin typeface="Calibri" pitchFamily="34" charset="0"/>
                <a:ea typeface="Calibri" pitchFamily="34" charset="-122"/>
                <a:cs typeface="Calibri" pitchFamily="34" charset="-120"/>
              </a:rPr>
              <a:t>L'energia è il motore dell'economia. Per decenni più PIL ha significato più emissioni. I dati ISTAT–ISPRA mostrano che oggi le due cose si stanno separando: è il «disaccoppiamento».</a:t>
            </a:r>
            <a:endParaRPr lang="en-US" sz="1400" dirty="0"/>
          </a:p>
        </p:txBody>
      </p:sp>
      <p:sp>
        <p:nvSpPr>
          <p:cNvPr id="8" name="Shape 5"/>
          <p:cNvSpPr/>
          <p:nvPr/>
        </p:nvSpPr>
        <p:spPr>
          <a:xfrm>
            <a:off x="1298448" y="2971800"/>
            <a:ext cx="5486400" cy="804672"/>
          </a:xfrm>
          <a:prstGeom prst="roundRect">
            <a:avLst>
              <a:gd name="adj" fmla="val 10227"/>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9" name="Text 6"/>
          <p:cNvSpPr/>
          <p:nvPr/>
        </p:nvSpPr>
        <p:spPr>
          <a:xfrm>
            <a:off x="1517904" y="2971800"/>
            <a:ext cx="1554480" cy="804672"/>
          </a:xfrm>
          <a:prstGeom prst="rect">
            <a:avLst/>
          </a:prstGeom>
          <a:noFill/>
          <a:ln/>
        </p:spPr>
        <p:txBody>
          <a:bodyPr wrap="square" lIns="0" tIns="0" rIns="0" bIns="0" rtlCol="0" anchor="ctr"/>
          <a:lstStyle/>
          <a:p>
            <a:pPr algn="l" indent="0" marL="0">
              <a:buNone/>
            </a:pPr>
            <a:r>
              <a:rPr lang="en-US" sz="2800" b="1" dirty="0">
                <a:solidFill>
                  <a:srgbClr val="2D6A4F"/>
                </a:solidFill>
                <a:latin typeface="Georgia" pitchFamily="34" charset="0"/>
                <a:ea typeface="Georgia" pitchFamily="34" charset="-122"/>
                <a:cs typeface="Georgia" pitchFamily="34" charset="-120"/>
              </a:rPr>
              <a:t>−30%</a:t>
            </a:r>
            <a:endParaRPr lang="en-US" sz="2800" dirty="0"/>
          </a:p>
        </p:txBody>
      </p:sp>
      <p:sp>
        <p:nvSpPr>
          <p:cNvPr id="10" name="Text 7"/>
          <p:cNvSpPr/>
          <p:nvPr/>
        </p:nvSpPr>
        <p:spPr>
          <a:xfrm>
            <a:off x="3154680" y="2971800"/>
            <a:ext cx="3520440" cy="804672"/>
          </a:xfrm>
          <a:prstGeom prst="rect">
            <a:avLst/>
          </a:prstGeom>
          <a:noFill/>
          <a:ln/>
        </p:spPr>
        <p:txBody>
          <a:bodyPr wrap="square" lIns="0" tIns="0" rIns="0" bIns="0" rtlCol="0" anchor="ctr"/>
          <a:lstStyle/>
          <a:p>
            <a:pPr algn="l" indent="0" marL="0">
              <a:lnSpc>
                <a:spcPct val="102000"/>
              </a:lnSpc>
              <a:buNone/>
            </a:pPr>
            <a:r>
              <a:rPr lang="en-US" sz="1200" dirty="0">
                <a:solidFill>
                  <a:srgbClr val="33433F"/>
                </a:solidFill>
                <a:latin typeface="Calibri" pitchFamily="34" charset="0"/>
                <a:ea typeface="Calibri" pitchFamily="34" charset="-122"/>
                <a:cs typeface="Calibri" pitchFamily="34" charset="-120"/>
              </a:rPr>
              <a:t>emissioni di gas serra nel 2024 rispetto al 1990</a:t>
            </a:r>
            <a:endParaRPr lang="en-US" sz="1200" dirty="0"/>
          </a:p>
        </p:txBody>
      </p:sp>
      <p:sp>
        <p:nvSpPr>
          <p:cNvPr id="11" name="Shape 8"/>
          <p:cNvSpPr/>
          <p:nvPr/>
        </p:nvSpPr>
        <p:spPr>
          <a:xfrm>
            <a:off x="1298448" y="3904488"/>
            <a:ext cx="5486400" cy="804672"/>
          </a:xfrm>
          <a:prstGeom prst="roundRect">
            <a:avLst>
              <a:gd name="adj" fmla="val 10227"/>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2" name="Text 9"/>
          <p:cNvSpPr/>
          <p:nvPr/>
        </p:nvSpPr>
        <p:spPr>
          <a:xfrm>
            <a:off x="1517904" y="3904488"/>
            <a:ext cx="1554480" cy="804672"/>
          </a:xfrm>
          <a:prstGeom prst="rect">
            <a:avLst/>
          </a:prstGeom>
          <a:noFill/>
          <a:ln/>
        </p:spPr>
        <p:txBody>
          <a:bodyPr wrap="square" lIns="0" tIns="0" rIns="0" bIns="0" rtlCol="0" anchor="ctr"/>
          <a:lstStyle/>
          <a:p>
            <a:pPr algn="l" indent="0" marL="0">
              <a:buNone/>
            </a:pPr>
            <a:r>
              <a:rPr lang="en-US" sz="2800" b="1" dirty="0">
                <a:solidFill>
                  <a:srgbClr val="BC6C25"/>
                </a:solidFill>
                <a:latin typeface="Georgia" pitchFamily="34" charset="0"/>
                <a:ea typeface="Georgia" pitchFamily="34" charset="-122"/>
                <a:cs typeface="Georgia" pitchFamily="34" charset="-120"/>
              </a:rPr>
              <a:t>−46%</a:t>
            </a:r>
            <a:endParaRPr lang="en-US" sz="2800" dirty="0"/>
          </a:p>
        </p:txBody>
      </p:sp>
      <p:sp>
        <p:nvSpPr>
          <p:cNvPr id="13" name="Text 10"/>
          <p:cNvSpPr/>
          <p:nvPr/>
        </p:nvSpPr>
        <p:spPr>
          <a:xfrm>
            <a:off x="3154680" y="3904488"/>
            <a:ext cx="3520440" cy="804672"/>
          </a:xfrm>
          <a:prstGeom prst="rect">
            <a:avLst/>
          </a:prstGeom>
          <a:noFill/>
          <a:ln/>
        </p:spPr>
        <p:txBody>
          <a:bodyPr wrap="square" lIns="0" tIns="0" rIns="0" bIns="0" rtlCol="0" anchor="ctr"/>
          <a:lstStyle/>
          <a:p>
            <a:pPr algn="l" indent="0" marL="0">
              <a:lnSpc>
                <a:spcPct val="102000"/>
              </a:lnSpc>
              <a:buNone/>
            </a:pPr>
            <a:r>
              <a:rPr lang="en-US" sz="1200" dirty="0">
                <a:solidFill>
                  <a:srgbClr val="33433F"/>
                </a:solidFill>
                <a:latin typeface="Calibri" pitchFamily="34" charset="0"/>
                <a:ea typeface="Calibri" pitchFamily="34" charset="-122"/>
                <a:cs typeface="Calibri" pitchFamily="34" charset="-120"/>
              </a:rPr>
              <a:t>emissioni rispetto al PIL (1990–2023): la crescita inquina meno</a:t>
            </a:r>
            <a:endParaRPr lang="en-US" sz="1200" dirty="0"/>
          </a:p>
        </p:txBody>
      </p:sp>
      <p:sp>
        <p:nvSpPr>
          <p:cNvPr id="14" name="Shape 11"/>
          <p:cNvSpPr/>
          <p:nvPr/>
        </p:nvSpPr>
        <p:spPr>
          <a:xfrm>
            <a:off x="1298448" y="4837176"/>
            <a:ext cx="5486400" cy="804672"/>
          </a:xfrm>
          <a:prstGeom prst="roundRect">
            <a:avLst>
              <a:gd name="adj" fmla="val 10227"/>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5" name="Text 12"/>
          <p:cNvSpPr/>
          <p:nvPr/>
        </p:nvSpPr>
        <p:spPr>
          <a:xfrm>
            <a:off x="1517904" y="4837176"/>
            <a:ext cx="1554480" cy="804672"/>
          </a:xfrm>
          <a:prstGeom prst="rect">
            <a:avLst/>
          </a:prstGeom>
          <a:noFill/>
          <a:ln/>
        </p:spPr>
        <p:txBody>
          <a:bodyPr wrap="square" lIns="0" tIns="0" rIns="0" bIns="0" rtlCol="0" anchor="ctr"/>
          <a:lstStyle/>
          <a:p>
            <a:pPr algn="l" indent="0" marL="0">
              <a:buNone/>
            </a:pPr>
            <a:r>
              <a:rPr lang="en-US" sz="2800" b="1" dirty="0">
                <a:solidFill>
                  <a:srgbClr val="40916C"/>
                </a:solidFill>
                <a:latin typeface="Georgia" pitchFamily="34" charset="0"/>
                <a:ea typeface="Georgia" pitchFamily="34" charset="-122"/>
                <a:cs typeface="Georgia" pitchFamily="34" charset="-120"/>
              </a:rPr>
              <a:t>6,5 t</a:t>
            </a:r>
            <a:endParaRPr lang="en-US" sz="2800" dirty="0"/>
          </a:p>
        </p:txBody>
      </p:sp>
      <p:sp>
        <p:nvSpPr>
          <p:cNvPr id="16" name="Text 13"/>
          <p:cNvSpPr/>
          <p:nvPr/>
        </p:nvSpPr>
        <p:spPr>
          <a:xfrm>
            <a:off x="3154680" y="4837176"/>
            <a:ext cx="3520440" cy="804672"/>
          </a:xfrm>
          <a:prstGeom prst="rect">
            <a:avLst/>
          </a:prstGeom>
          <a:noFill/>
          <a:ln/>
        </p:spPr>
        <p:txBody>
          <a:bodyPr wrap="square" lIns="0" tIns="0" rIns="0" bIns="0" rtlCol="0" anchor="ctr"/>
          <a:lstStyle/>
          <a:p>
            <a:pPr algn="l" indent="0" marL="0">
              <a:lnSpc>
                <a:spcPct val="102000"/>
              </a:lnSpc>
              <a:buNone/>
            </a:pPr>
            <a:r>
              <a:rPr lang="en-US" sz="1200" dirty="0">
                <a:solidFill>
                  <a:srgbClr val="33433F"/>
                </a:solidFill>
                <a:latin typeface="Calibri" pitchFamily="34" charset="0"/>
                <a:ea typeface="Calibri" pitchFamily="34" charset="-122"/>
                <a:cs typeface="Calibri" pitchFamily="34" charset="-120"/>
              </a:rPr>
              <a:t>CO₂ pro capite per abitante (2023)</a:t>
            </a:r>
            <a:endParaRPr lang="en-US" sz="1200" dirty="0"/>
          </a:p>
        </p:txBody>
      </p:sp>
      <p:graphicFrame>
        <p:nvGraphicFramePr>
          <p:cNvPr id="17" name="Chart 0" descr=""/>
          <p:cNvGraphicFramePr/>
          <p:nvPr/>
        </p:nvGraphicFramePr>
        <p:xfrm>
          <a:off x="7178040" y="1828800"/>
          <a:ext cx="4572000" cy="3931920"/>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548640" y="6272784"/>
            <a:ext cx="64008" cy="365760"/>
          </a:xfrm>
          <a:prstGeom prst="rect">
            <a:avLst/>
          </a:prstGeom>
          <a:solidFill>
            <a:srgbClr val="BC6C25"/>
          </a:solidFill>
          <a:ln/>
        </p:spPr>
      </p:sp>
      <p:pic>
        <p:nvPicPr>
          <p:cNvPr id="19" name="Image 1" descr="preencoded.png">    </p:cNvPr>
          <p:cNvPicPr>
            <a:picLocks noChangeAspect="1"/>
          </p:cNvPicPr>
          <p:nvPr/>
        </p:nvPicPr>
        <p:blipFill>
          <a:blip r:embed="rId3"/>
          <a:stretch>
            <a:fillRect/>
          </a:stretch>
        </p:blipFill>
        <p:spPr>
          <a:xfrm>
            <a:off x="731520" y="6336792"/>
            <a:ext cx="228600" cy="228600"/>
          </a:xfrm>
          <a:prstGeom prst="rect">
            <a:avLst/>
          </a:prstGeom>
        </p:spPr>
      </p:pic>
      <p:sp>
        <p:nvSpPr>
          <p:cNvPr id="20" name="Text 15"/>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Il disaccoppiamento è trainato da una scelta precisa: le fonti rinnovabili. → Fisica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6C25"/>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BC6C25"/>
                </a:solidFill>
                <a:latin typeface="Calibri" pitchFamily="34" charset="0"/>
                <a:ea typeface="Calibri" pitchFamily="34" charset="-122"/>
                <a:cs typeface="Calibri" pitchFamily="34" charset="-120"/>
              </a:rPr>
              <a:t>FISICA · 2</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09</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La transizione come opportunità</a:t>
            </a:r>
            <a:endParaRPr lang="en-US" sz="2600" dirty="0"/>
          </a:p>
        </p:txBody>
      </p:sp>
      <p:sp>
        <p:nvSpPr>
          <p:cNvPr id="7" name="Text 4"/>
          <p:cNvSpPr/>
          <p:nvPr/>
        </p:nvSpPr>
        <p:spPr>
          <a:xfrm>
            <a:off x="1298448" y="1572768"/>
            <a:ext cx="5577840" cy="1234440"/>
          </a:xfrm>
          <a:prstGeom prst="rect">
            <a:avLst/>
          </a:prstGeom>
          <a:noFill/>
          <a:ln/>
        </p:spPr>
        <p:txBody>
          <a:bodyPr wrap="square" rtlCol="0" anchor="t"/>
          <a:lstStyle/>
          <a:p>
            <a:pPr algn="l" indent="0" marL="0">
              <a:lnSpc>
                <a:spcPct val="116000"/>
              </a:lnSpc>
              <a:buNone/>
            </a:pPr>
            <a:r>
              <a:rPr lang="en-US" sz="1400" dirty="0">
                <a:solidFill>
                  <a:srgbClr val="33433F"/>
                </a:solidFill>
                <a:latin typeface="Calibri" pitchFamily="34" charset="0"/>
                <a:ea typeface="Calibri" pitchFamily="34" charset="-122"/>
                <a:cs typeface="Calibri" pitchFamily="34" charset="-120"/>
              </a:rPr>
              <a:t>La transizione energetica non è solo un costo, ma un nuovo motore di sviluppo: investimenti, lavoro e indipendenza. Nel 2024 le rinnovabili hanno coperto il 41,2% del fabbisogno elettrico (Terna).</a:t>
            </a:r>
            <a:endParaRPr lang="en-US" sz="1400" dirty="0"/>
          </a:p>
        </p:txBody>
      </p:sp>
      <p:sp>
        <p:nvSpPr>
          <p:cNvPr id="8" name="Shape 5"/>
          <p:cNvSpPr/>
          <p:nvPr/>
        </p:nvSpPr>
        <p:spPr>
          <a:xfrm>
            <a:off x="1298448" y="2834640"/>
            <a:ext cx="5577840" cy="868680"/>
          </a:xfrm>
          <a:prstGeom prst="roundRect">
            <a:avLst>
              <a:gd name="adj" fmla="val 9474"/>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9" name="Shape 6"/>
          <p:cNvSpPr/>
          <p:nvPr/>
        </p:nvSpPr>
        <p:spPr>
          <a:xfrm>
            <a:off x="1298448" y="2834640"/>
            <a:ext cx="91440" cy="868680"/>
          </a:xfrm>
          <a:prstGeom prst="rect">
            <a:avLst/>
          </a:prstGeom>
          <a:solidFill>
            <a:srgbClr val="2D6A4F"/>
          </a:solidFill>
          <a:ln/>
        </p:spPr>
      </p:sp>
      <p:sp>
        <p:nvSpPr>
          <p:cNvPr id="10" name="Text 7"/>
          <p:cNvSpPr/>
          <p:nvPr/>
        </p:nvSpPr>
        <p:spPr>
          <a:xfrm>
            <a:off x="1591056" y="2962656"/>
            <a:ext cx="5120640" cy="320040"/>
          </a:xfrm>
          <a:prstGeom prst="rect">
            <a:avLst/>
          </a:prstGeom>
          <a:noFill/>
          <a:ln/>
        </p:spPr>
        <p:txBody>
          <a:bodyPr wrap="square" lIns="0" tIns="0" rIns="0" bIns="0" rtlCol="0" anchor="ctr"/>
          <a:lstStyle/>
          <a:p>
            <a:pPr indent="0" marL="0">
              <a:buNone/>
            </a:pPr>
            <a:r>
              <a:rPr lang="en-US" sz="1500" b="1" dirty="0">
                <a:solidFill>
                  <a:srgbClr val="1B2D2A"/>
                </a:solidFill>
                <a:latin typeface="Georgia" pitchFamily="34" charset="0"/>
                <a:ea typeface="Georgia" pitchFamily="34" charset="-122"/>
                <a:cs typeface="Georgia" pitchFamily="34" charset="-120"/>
              </a:rPr>
              <a:t>Solare, eolico, idroelettrico</a:t>
            </a:r>
            <a:endParaRPr lang="en-US" sz="1500" dirty="0"/>
          </a:p>
        </p:txBody>
      </p:sp>
      <p:sp>
        <p:nvSpPr>
          <p:cNvPr id="11" name="Text 8"/>
          <p:cNvSpPr/>
          <p:nvPr/>
        </p:nvSpPr>
        <p:spPr>
          <a:xfrm>
            <a:off x="1591056" y="3291840"/>
            <a:ext cx="5166360" cy="365760"/>
          </a:xfrm>
          <a:prstGeom prst="rect">
            <a:avLst/>
          </a:prstGeom>
          <a:noFill/>
          <a:ln/>
        </p:spPr>
        <p:txBody>
          <a:bodyPr wrap="square" lIns="0" tIns="0" rIns="0" bIns="0" rtlCol="0" anchor="t"/>
          <a:lstStyle/>
          <a:p>
            <a:pPr indent="0" marL="0">
              <a:lnSpc>
                <a:spcPct val="100000"/>
              </a:lnSpc>
              <a:buNone/>
            </a:pPr>
            <a:r>
              <a:rPr lang="en-US" sz="1250" dirty="0">
                <a:solidFill>
                  <a:srgbClr val="33433F"/>
                </a:solidFill>
                <a:latin typeface="Calibri" pitchFamily="34" charset="0"/>
                <a:ea typeface="Calibri" pitchFamily="34" charset="-122"/>
                <a:cs typeface="Calibri" pitchFamily="34" charset="-120"/>
              </a:rPr>
              <a:t>Il fotovoltaico cresce rapidamente: nuova potenza e nuovi posti di lavoro.</a:t>
            </a:r>
            <a:endParaRPr lang="en-US" sz="1250" dirty="0"/>
          </a:p>
        </p:txBody>
      </p:sp>
      <p:sp>
        <p:nvSpPr>
          <p:cNvPr id="12" name="Shape 9"/>
          <p:cNvSpPr/>
          <p:nvPr/>
        </p:nvSpPr>
        <p:spPr>
          <a:xfrm>
            <a:off x="1298448" y="3813048"/>
            <a:ext cx="5577840" cy="868680"/>
          </a:xfrm>
          <a:prstGeom prst="roundRect">
            <a:avLst>
              <a:gd name="adj" fmla="val 9474"/>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3" name="Shape 10"/>
          <p:cNvSpPr/>
          <p:nvPr/>
        </p:nvSpPr>
        <p:spPr>
          <a:xfrm>
            <a:off x="1298448" y="3813048"/>
            <a:ext cx="91440" cy="868680"/>
          </a:xfrm>
          <a:prstGeom prst="rect">
            <a:avLst/>
          </a:prstGeom>
          <a:solidFill>
            <a:srgbClr val="40916C"/>
          </a:solidFill>
          <a:ln/>
        </p:spPr>
      </p:sp>
      <p:sp>
        <p:nvSpPr>
          <p:cNvPr id="14" name="Text 11"/>
          <p:cNvSpPr/>
          <p:nvPr/>
        </p:nvSpPr>
        <p:spPr>
          <a:xfrm>
            <a:off x="1591056" y="3941064"/>
            <a:ext cx="5120640" cy="320040"/>
          </a:xfrm>
          <a:prstGeom prst="rect">
            <a:avLst/>
          </a:prstGeom>
          <a:noFill/>
          <a:ln/>
        </p:spPr>
        <p:txBody>
          <a:bodyPr wrap="square" lIns="0" tIns="0" rIns="0" bIns="0" rtlCol="0" anchor="ctr"/>
          <a:lstStyle/>
          <a:p>
            <a:pPr indent="0" marL="0">
              <a:buNone/>
            </a:pPr>
            <a:r>
              <a:rPr lang="en-US" sz="1500" b="1" dirty="0">
                <a:solidFill>
                  <a:srgbClr val="1B2D2A"/>
                </a:solidFill>
                <a:latin typeface="Georgia" pitchFamily="34" charset="0"/>
                <a:ea typeface="Georgia" pitchFamily="34" charset="-122"/>
                <a:cs typeface="Georgia" pitchFamily="34" charset="-120"/>
              </a:rPr>
              <a:t>Meno fossili, meno import</a:t>
            </a:r>
            <a:endParaRPr lang="en-US" sz="1500" dirty="0"/>
          </a:p>
        </p:txBody>
      </p:sp>
      <p:sp>
        <p:nvSpPr>
          <p:cNvPr id="15" name="Text 12"/>
          <p:cNvSpPr/>
          <p:nvPr/>
        </p:nvSpPr>
        <p:spPr>
          <a:xfrm>
            <a:off x="1591056" y="4270248"/>
            <a:ext cx="5166360" cy="365760"/>
          </a:xfrm>
          <a:prstGeom prst="rect">
            <a:avLst/>
          </a:prstGeom>
          <a:noFill/>
          <a:ln/>
        </p:spPr>
        <p:txBody>
          <a:bodyPr wrap="square" lIns="0" tIns="0" rIns="0" bIns="0" rtlCol="0" anchor="t"/>
          <a:lstStyle/>
          <a:p>
            <a:pPr indent="0" marL="0">
              <a:lnSpc>
                <a:spcPct val="100000"/>
              </a:lnSpc>
              <a:buNone/>
            </a:pPr>
            <a:r>
              <a:rPr lang="en-US" sz="1250" dirty="0">
                <a:solidFill>
                  <a:srgbClr val="33433F"/>
                </a:solidFill>
                <a:latin typeface="Calibri" pitchFamily="34" charset="0"/>
                <a:ea typeface="Calibri" pitchFamily="34" charset="-122"/>
                <a:cs typeface="Calibri" pitchFamily="34" charset="-120"/>
              </a:rPr>
              <a:t>Nel 2024 la produzione fossile è scesa del 6,2%: più autonomia energetica.</a:t>
            </a:r>
            <a:endParaRPr lang="en-US" sz="1250" dirty="0"/>
          </a:p>
        </p:txBody>
      </p:sp>
      <p:sp>
        <p:nvSpPr>
          <p:cNvPr id="16" name="Shape 13"/>
          <p:cNvSpPr/>
          <p:nvPr/>
        </p:nvSpPr>
        <p:spPr>
          <a:xfrm>
            <a:off x="1298448" y="4791456"/>
            <a:ext cx="5577840" cy="868680"/>
          </a:xfrm>
          <a:prstGeom prst="roundRect">
            <a:avLst>
              <a:gd name="adj" fmla="val 9474"/>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7" name="Shape 14"/>
          <p:cNvSpPr/>
          <p:nvPr/>
        </p:nvSpPr>
        <p:spPr>
          <a:xfrm>
            <a:off x="1298448" y="4791456"/>
            <a:ext cx="91440" cy="868680"/>
          </a:xfrm>
          <a:prstGeom prst="rect">
            <a:avLst/>
          </a:prstGeom>
          <a:solidFill>
            <a:srgbClr val="BC6C25"/>
          </a:solidFill>
          <a:ln/>
        </p:spPr>
      </p:sp>
      <p:sp>
        <p:nvSpPr>
          <p:cNvPr id="18" name="Text 15"/>
          <p:cNvSpPr/>
          <p:nvPr/>
        </p:nvSpPr>
        <p:spPr>
          <a:xfrm>
            <a:off x="1591056" y="4919472"/>
            <a:ext cx="5120640" cy="320040"/>
          </a:xfrm>
          <a:prstGeom prst="rect">
            <a:avLst/>
          </a:prstGeom>
          <a:noFill/>
          <a:ln/>
        </p:spPr>
        <p:txBody>
          <a:bodyPr wrap="square" lIns="0" tIns="0" rIns="0" bIns="0" rtlCol="0" anchor="ctr"/>
          <a:lstStyle/>
          <a:p>
            <a:pPr indent="0" marL="0">
              <a:buNone/>
            </a:pPr>
            <a:r>
              <a:rPr lang="en-US" sz="1500" b="1" dirty="0">
                <a:solidFill>
                  <a:srgbClr val="1B2D2A"/>
                </a:solidFill>
                <a:latin typeface="Georgia" pitchFamily="34" charset="0"/>
                <a:ea typeface="Georgia" pitchFamily="34" charset="-122"/>
                <a:cs typeface="Georgia" pitchFamily="34" charset="-120"/>
              </a:rPr>
              <a:t>Obiettivi 2030</a:t>
            </a:r>
            <a:endParaRPr lang="en-US" sz="1500" dirty="0"/>
          </a:p>
        </p:txBody>
      </p:sp>
      <p:sp>
        <p:nvSpPr>
          <p:cNvPr id="19" name="Text 16"/>
          <p:cNvSpPr/>
          <p:nvPr/>
        </p:nvSpPr>
        <p:spPr>
          <a:xfrm>
            <a:off x="1591056" y="5248656"/>
            <a:ext cx="5166360" cy="365760"/>
          </a:xfrm>
          <a:prstGeom prst="rect">
            <a:avLst/>
          </a:prstGeom>
          <a:noFill/>
          <a:ln/>
        </p:spPr>
        <p:txBody>
          <a:bodyPr wrap="square" lIns="0" tIns="0" rIns="0" bIns="0" rtlCol="0" anchor="t"/>
          <a:lstStyle/>
          <a:p>
            <a:pPr indent="0" marL="0">
              <a:lnSpc>
                <a:spcPct val="100000"/>
              </a:lnSpc>
              <a:buNone/>
            </a:pPr>
            <a:r>
              <a:rPr lang="en-US" sz="1250" dirty="0">
                <a:solidFill>
                  <a:srgbClr val="33433F"/>
                </a:solidFill>
                <a:latin typeface="Calibri" pitchFamily="34" charset="0"/>
                <a:ea typeface="Calibri" pitchFamily="34" charset="-122"/>
                <a:cs typeface="Calibri" pitchFamily="34" charset="-120"/>
              </a:rPr>
              <a:t>Il PNIEC fissa traguardi ancora lontani: la transizione va accelerata.</a:t>
            </a:r>
            <a:endParaRPr lang="en-US" sz="1250" dirty="0"/>
          </a:p>
        </p:txBody>
      </p:sp>
      <p:graphicFrame>
        <p:nvGraphicFramePr>
          <p:cNvPr id="20" name="Chart 0" descr=""/>
          <p:cNvGraphicFramePr/>
          <p:nvPr/>
        </p:nvGraphicFramePr>
        <p:xfrm>
          <a:off x="7315200" y="1783080"/>
          <a:ext cx="4434840" cy="3931920"/>
        </p:xfrm>
        <a:graphic xmlns:a="http://schemas.openxmlformats.org/drawingml/2006/main">
          <a:graphicData uri="http://schemas.openxmlformats.org/drawingml/2006/chart">
            <c:chart xmlns:c="http://schemas.openxmlformats.org/drawingml/2006/chart" r:id="rId2"/>
          </a:graphicData>
        </a:graphic>
      </p:graphicFrame>
      <p:sp>
        <p:nvSpPr>
          <p:cNvPr id="21" name="Shape 17"/>
          <p:cNvSpPr/>
          <p:nvPr/>
        </p:nvSpPr>
        <p:spPr>
          <a:xfrm>
            <a:off x="548640" y="6272784"/>
            <a:ext cx="64008" cy="365760"/>
          </a:xfrm>
          <a:prstGeom prst="rect">
            <a:avLst/>
          </a:prstGeom>
          <a:solidFill>
            <a:srgbClr val="BC6C25"/>
          </a:solidFill>
          <a:ln/>
        </p:spPr>
      </p:sp>
      <p:pic>
        <p:nvPicPr>
          <p:cNvPr id="22" name="Image 1" descr="preencoded.png">    </p:cNvPr>
          <p:cNvPicPr>
            <a:picLocks noChangeAspect="1"/>
          </p:cNvPicPr>
          <p:nvPr/>
        </p:nvPicPr>
        <p:blipFill>
          <a:blip r:embed="rId3"/>
          <a:stretch>
            <a:fillRect/>
          </a:stretch>
        </p:blipFill>
        <p:spPr>
          <a:xfrm>
            <a:off x="731520" y="6336792"/>
            <a:ext cx="228600" cy="228600"/>
          </a:xfrm>
          <a:prstGeom prst="rect">
            <a:avLst/>
          </a:prstGeom>
        </p:spPr>
      </p:pic>
      <p:sp>
        <p:nvSpPr>
          <p:cNvPr id="23" name="Text 18"/>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Alla transizione verde si affianca quella digitale: i due motori «gemelli» dello sviluppo. → Informatica</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40916C"/>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40916C"/>
                </a:solidFill>
                <a:latin typeface="Calibri" pitchFamily="34" charset="0"/>
                <a:ea typeface="Calibri" pitchFamily="34" charset="-122"/>
                <a:cs typeface="Calibri" pitchFamily="34" charset="-120"/>
              </a:rPr>
              <a:t>INFORMATICA</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10</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Disegnare il tricolore in RGB</a:t>
            </a:r>
            <a:endParaRPr lang="en-US" sz="2600" dirty="0"/>
          </a:p>
        </p:txBody>
      </p:sp>
      <p:sp>
        <p:nvSpPr>
          <p:cNvPr id="7" name="Text 4"/>
          <p:cNvSpPr/>
          <p:nvPr/>
        </p:nvSpPr>
        <p:spPr>
          <a:xfrm>
            <a:off x="1298448" y="1627632"/>
            <a:ext cx="5440680" cy="4526280"/>
          </a:xfrm>
          <a:prstGeom prst="rect">
            <a:avLst/>
          </a:prstGeom>
          <a:noFill/>
          <a:ln/>
        </p:spPr>
        <p:txBody>
          <a:bodyPr wrap="square" rtlCol="0" anchor="t"/>
          <a:lstStyle/>
          <a:p>
            <a:pPr algn="l" indent="0" marL="0">
              <a:lnSpc>
                <a:spcPct val="112000"/>
              </a:lnSpc>
              <a:buNone/>
            </a:pPr>
            <a:r>
              <a:rPr lang="en-US" sz="1500" b="1" dirty="0">
                <a:solidFill>
                  <a:srgbClr val="40916C"/>
                </a:solidFill>
                <a:latin typeface="Calibri" pitchFamily="34" charset="0"/>
                <a:ea typeface="Calibri" pitchFamily="34" charset="-122"/>
                <a:cs typeface="Calibri" pitchFamily="34" charset="-120"/>
              </a:rPr>
              <a:t>La transizione digitale</a:t>
            </a:r>
            <a:endParaRPr lang="en-US" sz="1250" dirty="0"/>
          </a:p>
          <a:p>
            <a:pPr algn="l" indent="0" marL="0">
              <a:lnSpc>
                <a:spcPct val="112000"/>
              </a:lnSpc>
              <a:buNone/>
            </a:pPr>
            <a:r>
              <a:rPr lang="en-US" sz="500" dirty="0">
                <a:solidFill>
                  <a:srgbClr val="000000"/>
                </a:solidFill>
                <a:latin typeface="Calibri" pitchFamily="34" charset="0"/>
                <a:ea typeface="Calibri" pitchFamily="34" charset="-122"/>
                <a:cs typeface="Calibri" pitchFamily="34" charset="-120"/>
              </a:rPr>
              <a:t> </a:t>
            </a:r>
            <a:endParaRPr lang="en-US" sz="1250" dirty="0"/>
          </a:p>
          <a:p>
            <a:pPr algn="l" indent="0" marL="0">
              <a:lnSpc>
                <a:spcPct val="112000"/>
              </a:lnSpc>
              <a:buNone/>
            </a:pPr>
            <a:r>
              <a:rPr lang="en-US" sz="1250" dirty="0">
                <a:solidFill>
                  <a:srgbClr val="33433F"/>
                </a:solidFill>
                <a:latin typeface="Calibri" pitchFamily="34" charset="0"/>
                <a:ea typeface="Calibri" pitchFamily="34" charset="-122"/>
                <a:cs typeface="Calibri" pitchFamily="34" charset="-120"/>
              </a:rPr>
              <a:t>Accanto alla transizione verde, l'UE parla di «transizione gemella»: digitale e ambientale insieme sono i motori dello sviluppo sostenibile. Il digitale dematerializza, riduce gli sprechi e crea nuovo valore.</a:t>
            </a:r>
            <a:endParaRPr lang="en-US" sz="1250" dirty="0"/>
          </a:p>
          <a:p>
            <a:pPr algn="l" indent="0" marL="0">
              <a:lnSpc>
                <a:spcPct val="112000"/>
              </a:lnSpc>
              <a:buNone/>
            </a:pPr>
            <a:r>
              <a:rPr lang="en-US" sz="700" dirty="0">
                <a:solidFill>
                  <a:srgbClr val="000000"/>
                </a:solidFill>
                <a:latin typeface="Calibri" pitchFamily="34" charset="0"/>
                <a:ea typeface="Calibri" pitchFamily="34" charset="-122"/>
                <a:cs typeface="Calibri" pitchFamily="34" charset="-120"/>
              </a:rPr>
              <a:t> </a:t>
            </a:r>
            <a:endParaRPr lang="en-US" sz="1250" dirty="0"/>
          </a:p>
          <a:p>
            <a:pPr algn="l" indent="0" marL="0">
              <a:lnSpc>
                <a:spcPct val="112000"/>
              </a:lnSpc>
              <a:buNone/>
            </a:pPr>
            <a:r>
              <a:rPr lang="en-US" sz="1500" b="1" dirty="0">
                <a:solidFill>
                  <a:srgbClr val="40916C"/>
                </a:solidFill>
                <a:latin typeface="Calibri" pitchFamily="34" charset="0"/>
                <a:ea typeface="Calibri" pitchFamily="34" charset="-122"/>
                <a:cs typeface="Calibri" pitchFamily="34" charset="-120"/>
              </a:rPr>
              <a:t>Il modello RGB</a:t>
            </a:r>
            <a:endParaRPr lang="en-US" sz="1250" dirty="0"/>
          </a:p>
          <a:p>
            <a:pPr algn="l" indent="0" marL="0">
              <a:lnSpc>
                <a:spcPct val="112000"/>
              </a:lnSpc>
              <a:buNone/>
            </a:pPr>
            <a:r>
              <a:rPr lang="en-US" sz="500" dirty="0">
                <a:solidFill>
                  <a:srgbClr val="000000"/>
                </a:solidFill>
                <a:latin typeface="Calibri" pitchFamily="34" charset="0"/>
                <a:ea typeface="Calibri" pitchFamily="34" charset="-122"/>
                <a:cs typeface="Calibri" pitchFamily="34" charset="-120"/>
              </a:rPr>
              <a:t> </a:t>
            </a:r>
            <a:endParaRPr lang="en-US" sz="1250" dirty="0"/>
          </a:p>
          <a:p>
            <a:pPr algn="l" indent="0" marL="0">
              <a:lnSpc>
                <a:spcPct val="112000"/>
              </a:lnSpc>
              <a:buNone/>
            </a:pPr>
            <a:r>
              <a:rPr lang="en-US" sz="1250" dirty="0">
                <a:solidFill>
                  <a:srgbClr val="33433F"/>
                </a:solidFill>
                <a:latin typeface="Calibri" pitchFamily="34" charset="0"/>
                <a:ea typeface="Calibri" pitchFamily="34" charset="-122"/>
                <a:cs typeface="Calibri" pitchFamily="34" charset="-120"/>
              </a:rPr>
              <a:t>Sullo schermo ogni colore nasce da tre canali — Rosso, Verde, Blu — da 0 a 255 ciascuno (1 byte): oltre 16 milioni di combinazioni.</a:t>
            </a:r>
            <a:endParaRPr lang="en-US" sz="1250" dirty="0"/>
          </a:p>
          <a:p>
            <a:pPr algn="l" indent="0" marL="0">
              <a:lnSpc>
                <a:spcPct val="112000"/>
              </a:lnSpc>
              <a:buNone/>
            </a:pPr>
            <a:r>
              <a:rPr lang="en-US" sz="700" dirty="0">
                <a:solidFill>
                  <a:srgbClr val="000000"/>
                </a:solidFill>
                <a:latin typeface="Calibri" pitchFamily="34" charset="0"/>
                <a:ea typeface="Calibri" pitchFamily="34" charset="-122"/>
                <a:cs typeface="Calibri" pitchFamily="34" charset="-120"/>
              </a:rPr>
              <a:t> </a:t>
            </a:r>
            <a:endParaRPr lang="en-US" sz="1250" dirty="0"/>
          </a:p>
          <a:p>
            <a:pPr algn="l" indent="0" marL="0">
              <a:lnSpc>
                <a:spcPct val="112000"/>
              </a:lnSpc>
              <a:buNone/>
            </a:pPr>
            <a:r>
              <a:rPr lang="en-US" sz="1500" b="1" dirty="0">
                <a:solidFill>
                  <a:srgbClr val="40916C"/>
                </a:solidFill>
                <a:latin typeface="Calibri" pitchFamily="34" charset="0"/>
                <a:ea typeface="Calibri" pitchFamily="34" charset="-122"/>
                <a:cs typeface="Calibri" pitchFamily="34" charset="-120"/>
              </a:rPr>
              <a:t>Il dettaglio che conta</a:t>
            </a:r>
            <a:endParaRPr lang="en-US" sz="1250" dirty="0"/>
          </a:p>
          <a:p>
            <a:pPr algn="l" indent="0" marL="0">
              <a:lnSpc>
                <a:spcPct val="112000"/>
              </a:lnSpc>
              <a:buNone/>
            </a:pPr>
            <a:r>
              <a:rPr lang="en-US" sz="500" dirty="0">
                <a:solidFill>
                  <a:srgbClr val="000000"/>
                </a:solidFill>
                <a:latin typeface="Calibri" pitchFamily="34" charset="0"/>
                <a:ea typeface="Calibri" pitchFamily="34" charset="-122"/>
                <a:cs typeface="Calibri" pitchFamily="34" charset="-120"/>
              </a:rPr>
              <a:t> </a:t>
            </a:r>
            <a:endParaRPr lang="en-US" sz="1250" dirty="0"/>
          </a:p>
          <a:p>
            <a:pPr algn="l" indent="0" marL="0">
              <a:lnSpc>
                <a:spcPct val="112000"/>
              </a:lnSpc>
              <a:buNone/>
            </a:pPr>
            <a:r>
              <a:rPr lang="en-US" sz="1250" dirty="0">
                <a:solidFill>
                  <a:srgbClr val="33433F"/>
                </a:solidFill>
                <a:latin typeface="Calibri" pitchFamily="34" charset="0"/>
                <a:ea typeface="Calibri" pitchFamily="34" charset="-122"/>
                <a:cs typeface="Calibri" pitchFamily="34" charset="-120"/>
              </a:rPr>
              <a:t>Disegnando la bandiera della Repubblica abbiamo scoperto che il bianco ufficiale non è puro (255,255,255) ma «perlato»: la precisione digitale richiede rigore.</a:t>
            </a:r>
            <a:endParaRPr lang="en-US" sz="1250" dirty="0"/>
          </a:p>
        </p:txBody>
      </p:sp>
      <p:sp>
        <p:nvSpPr>
          <p:cNvPr id="8" name="Shape 5"/>
          <p:cNvSpPr/>
          <p:nvPr/>
        </p:nvSpPr>
        <p:spPr>
          <a:xfrm>
            <a:off x="7269480" y="1828800"/>
            <a:ext cx="1371600" cy="2743200"/>
          </a:xfrm>
          <a:prstGeom prst="rect">
            <a:avLst/>
          </a:prstGeom>
          <a:solidFill>
            <a:srgbClr val="008C45"/>
          </a:solidFill>
          <a:ln/>
        </p:spPr>
      </p:sp>
      <p:sp>
        <p:nvSpPr>
          <p:cNvPr id="9" name="Shape 6"/>
          <p:cNvSpPr/>
          <p:nvPr/>
        </p:nvSpPr>
        <p:spPr>
          <a:xfrm>
            <a:off x="8641080" y="1828800"/>
            <a:ext cx="1371600" cy="2743200"/>
          </a:xfrm>
          <a:prstGeom prst="rect">
            <a:avLst/>
          </a:prstGeom>
          <a:solidFill>
            <a:srgbClr val="F4F5F0"/>
          </a:solidFill>
          <a:ln w="12700">
            <a:solidFill>
              <a:srgbClr val="D6DBD5"/>
            </a:solidFill>
            <a:prstDash val="solid"/>
          </a:ln>
        </p:spPr>
      </p:sp>
      <p:sp>
        <p:nvSpPr>
          <p:cNvPr id="10" name="Shape 7"/>
          <p:cNvSpPr/>
          <p:nvPr/>
        </p:nvSpPr>
        <p:spPr>
          <a:xfrm>
            <a:off x="10012680" y="1828800"/>
            <a:ext cx="1371600" cy="2743200"/>
          </a:xfrm>
          <a:prstGeom prst="rect">
            <a:avLst/>
          </a:prstGeom>
          <a:solidFill>
            <a:srgbClr val="CD212A"/>
          </a:solidFill>
          <a:ln/>
        </p:spPr>
      </p:sp>
      <p:sp>
        <p:nvSpPr>
          <p:cNvPr id="11" name="Text 8"/>
          <p:cNvSpPr/>
          <p:nvPr/>
        </p:nvSpPr>
        <p:spPr>
          <a:xfrm>
            <a:off x="7269480" y="4663440"/>
            <a:ext cx="1371600" cy="822960"/>
          </a:xfrm>
          <a:prstGeom prst="rect">
            <a:avLst/>
          </a:prstGeom>
          <a:noFill/>
          <a:ln/>
        </p:spPr>
        <p:txBody>
          <a:bodyPr wrap="square" lIns="0" tIns="0" rIns="0" bIns="0" rtlCol="0" anchor="t"/>
          <a:lstStyle/>
          <a:p>
            <a:pPr algn="ctr" indent="0" marL="0">
              <a:lnSpc>
                <a:spcPct val="104000"/>
              </a:lnSpc>
              <a:buNone/>
            </a:pPr>
            <a:r>
              <a:rPr lang="en-US" sz="1200" b="1" dirty="0">
                <a:solidFill>
                  <a:srgbClr val="1B2D2A"/>
                </a:solidFill>
                <a:latin typeface="Calibri" pitchFamily="34" charset="0"/>
                <a:ea typeface="Calibri" pitchFamily="34" charset="-122"/>
                <a:cs typeface="Calibri" pitchFamily="34" charset="-120"/>
              </a:rPr>
              <a:t>Verde</a:t>
            </a:r>
            <a:endParaRPr lang="en-US" sz="1200" dirty="0"/>
          </a:p>
          <a:p>
            <a:pPr algn="ctr" indent="0" marL="0">
              <a:lnSpc>
                <a:spcPct val="104000"/>
              </a:lnSpc>
              <a:buNone/>
            </a:pPr>
            <a:r>
              <a:rPr lang="en-US" sz="1050" dirty="0">
                <a:solidFill>
                  <a:srgbClr val="33433F"/>
                </a:solidFill>
                <a:latin typeface="Calibri" pitchFamily="34" charset="0"/>
                <a:ea typeface="Calibri" pitchFamily="34" charset="-122"/>
                <a:cs typeface="Calibri" pitchFamily="34" charset="-120"/>
              </a:rPr>
              <a:t>RGB(0, 140, 69)</a:t>
            </a:r>
            <a:endParaRPr lang="en-US" sz="1200" dirty="0"/>
          </a:p>
          <a:p>
            <a:pPr algn="ctr" indent="0" marL="0">
              <a:lnSpc>
                <a:spcPct val="104000"/>
              </a:lnSpc>
              <a:buNone/>
            </a:pPr>
            <a:r>
              <a:rPr lang="en-US" sz="1000" dirty="0">
                <a:solidFill>
                  <a:srgbClr val="6B7C77"/>
                </a:solidFill>
                <a:latin typeface="Calibri" pitchFamily="34" charset="0"/>
                <a:ea typeface="Calibri" pitchFamily="34" charset="-122"/>
                <a:cs typeface="Calibri" pitchFamily="34" charset="-120"/>
              </a:rPr>
              <a:t>#008C45</a:t>
            </a:r>
            <a:endParaRPr lang="en-US" sz="1200" dirty="0"/>
          </a:p>
        </p:txBody>
      </p:sp>
      <p:sp>
        <p:nvSpPr>
          <p:cNvPr id="12" name="Text 9"/>
          <p:cNvSpPr/>
          <p:nvPr/>
        </p:nvSpPr>
        <p:spPr>
          <a:xfrm>
            <a:off x="8641080" y="4663440"/>
            <a:ext cx="1371600" cy="822960"/>
          </a:xfrm>
          <a:prstGeom prst="rect">
            <a:avLst/>
          </a:prstGeom>
          <a:noFill/>
          <a:ln/>
        </p:spPr>
        <p:txBody>
          <a:bodyPr wrap="square" lIns="0" tIns="0" rIns="0" bIns="0" rtlCol="0" anchor="t"/>
          <a:lstStyle/>
          <a:p>
            <a:pPr algn="ctr" indent="0" marL="0">
              <a:lnSpc>
                <a:spcPct val="104000"/>
              </a:lnSpc>
              <a:buNone/>
            </a:pPr>
            <a:r>
              <a:rPr lang="en-US" sz="1200" b="1" dirty="0">
                <a:solidFill>
                  <a:srgbClr val="1B2D2A"/>
                </a:solidFill>
                <a:latin typeface="Calibri" pitchFamily="34" charset="0"/>
                <a:ea typeface="Calibri" pitchFamily="34" charset="-122"/>
                <a:cs typeface="Calibri" pitchFamily="34" charset="-120"/>
              </a:rPr>
              <a:t>Bianco perlato</a:t>
            </a:r>
            <a:endParaRPr lang="en-US" sz="1200" dirty="0"/>
          </a:p>
          <a:p>
            <a:pPr algn="ctr" indent="0" marL="0">
              <a:lnSpc>
                <a:spcPct val="104000"/>
              </a:lnSpc>
              <a:buNone/>
            </a:pPr>
            <a:r>
              <a:rPr lang="en-US" sz="1050" dirty="0">
                <a:solidFill>
                  <a:srgbClr val="33433F"/>
                </a:solidFill>
                <a:latin typeface="Calibri" pitchFamily="34" charset="0"/>
                <a:ea typeface="Calibri" pitchFamily="34" charset="-122"/>
                <a:cs typeface="Calibri" pitchFamily="34" charset="-120"/>
              </a:rPr>
              <a:t>RGB(244, 245, 240)</a:t>
            </a:r>
            <a:endParaRPr lang="en-US" sz="1200" dirty="0"/>
          </a:p>
          <a:p>
            <a:pPr algn="ctr" indent="0" marL="0">
              <a:lnSpc>
                <a:spcPct val="104000"/>
              </a:lnSpc>
              <a:buNone/>
            </a:pPr>
            <a:r>
              <a:rPr lang="en-US" sz="1000" dirty="0">
                <a:solidFill>
                  <a:srgbClr val="6B7C77"/>
                </a:solidFill>
                <a:latin typeface="Calibri" pitchFamily="34" charset="0"/>
                <a:ea typeface="Calibri" pitchFamily="34" charset="-122"/>
                <a:cs typeface="Calibri" pitchFamily="34" charset="-120"/>
              </a:rPr>
              <a:t>#F4F5F0</a:t>
            </a:r>
            <a:endParaRPr lang="en-US" sz="1200" dirty="0"/>
          </a:p>
        </p:txBody>
      </p:sp>
      <p:sp>
        <p:nvSpPr>
          <p:cNvPr id="13" name="Text 10"/>
          <p:cNvSpPr/>
          <p:nvPr/>
        </p:nvSpPr>
        <p:spPr>
          <a:xfrm>
            <a:off x="10012680" y="4663440"/>
            <a:ext cx="1371600" cy="822960"/>
          </a:xfrm>
          <a:prstGeom prst="rect">
            <a:avLst/>
          </a:prstGeom>
          <a:noFill/>
          <a:ln/>
        </p:spPr>
        <p:txBody>
          <a:bodyPr wrap="square" lIns="0" tIns="0" rIns="0" bIns="0" rtlCol="0" anchor="t"/>
          <a:lstStyle/>
          <a:p>
            <a:pPr algn="ctr" indent="0" marL="0">
              <a:lnSpc>
                <a:spcPct val="104000"/>
              </a:lnSpc>
              <a:buNone/>
            </a:pPr>
            <a:r>
              <a:rPr lang="en-US" sz="1200" b="1" dirty="0">
                <a:solidFill>
                  <a:srgbClr val="1B2D2A"/>
                </a:solidFill>
                <a:latin typeface="Calibri" pitchFamily="34" charset="0"/>
                <a:ea typeface="Calibri" pitchFamily="34" charset="-122"/>
                <a:cs typeface="Calibri" pitchFamily="34" charset="-120"/>
              </a:rPr>
              <a:t>Rosso</a:t>
            </a:r>
            <a:endParaRPr lang="en-US" sz="1200" dirty="0"/>
          </a:p>
          <a:p>
            <a:pPr algn="ctr" indent="0" marL="0">
              <a:lnSpc>
                <a:spcPct val="104000"/>
              </a:lnSpc>
              <a:buNone/>
            </a:pPr>
            <a:r>
              <a:rPr lang="en-US" sz="1050" dirty="0">
                <a:solidFill>
                  <a:srgbClr val="33433F"/>
                </a:solidFill>
                <a:latin typeface="Calibri" pitchFamily="34" charset="0"/>
                <a:ea typeface="Calibri" pitchFamily="34" charset="-122"/>
                <a:cs typeface="Calibri" pitchFamily="34" charset="-120"/>
              </a:rPr>
              <a:t>RGB(205, 33, 42)</a:t>
            </a:r>
            <a:endParaRPr lang="en-US" sz="1200" dirty="0"/>
          </a:p>
          <a:p>
            <a:pPr algn="ctr" indent="0" marL="0">
              <a:lnSpc>
                <a:spcPct val="104000"/>
              </a:lnSpc>
              <a:buNone/>
            </a:pPr>
            <a:r>
              <a:rPr lang="en-US" sz="1000" dirty="0">
                <a:solidFill>
                  <a:srgbClr val="6B7C77"/>
                </a:solidFill>
                <a:latin typeface="Calibri" pitchFamily="34" charset="0"/>
                <a:ea typeface="Calibri" pitchFamily="34" charset="-122"/>
                <a:cs typeface="Calibri" pitchFamily="34" charset="-120"/>
              </a:rPr>
              <a:t>#CD212A</a:t>
            </a:r>
            <a:endParaRPr lang="en-US" sz="1200" dirty="0"/>
          </a:p>
        </p:txBody>
      </p:sp>
      <p:sp>
        <p:nvSpPr>
          <p:cNvPr id="14" name="Text 11"/>
          <p:cNvSpPr/>
          <p:nvPr/>
        </p:nvSpPr>
        <p:spPr>
          <a:xfrm>
            <a:off x="7269480" y="5532120"/>
            <a:ext cx="4114800" cy="457200"/>
          </a:xfrm>
          <a:prstGeom prst="rect">
            <a:avLst/>
          </a:prstGeom>
          <a:noFill/>
          <a:ln/>
        </p:spPr>
        <p:txBody>
          <a:bodyPr wrap="square" rtlCol="0" anchor="ctr"/>
          <a:lstStyle/>
          <a:p>
            <a:pPr algn="ctr" indent="0" marL="0">
              <a:lnSpc>
                <a:spcPct val="105000"/>
              </a:lnSpc>
              <a:buNone/>
            </a:pPr>
            <a:r>
              <a:rPr lang="en-US" sz="1100" i="1" dirty="0">
                <a:solidFill>
                  <a:srgbClr val="6B7C77"/>
                </a:solidFill>
                <a:latin typeface="Calibri" pitchFamily="34" charset="0"/>
                <a:ea typeface="Calibri" pitchFamily="34" charset="-122"/>
                <a:cs typeface="Calibri" pitchFamily="34" charset="-120"/>
              </a:rPr>
              <a:t>Il bianco è un «bianco latte», non il 255,255,255 dello schermo: un dettaglio che fa la differenza.</a:t>
            </a:r>
            <a:endParaRPr lang="en-US" sz="1100" dirty="0"/>
          </a:p>
        </p:txBody>
      </p:sp>
      <p:sp>
        <p:nvSpPr>
          <p:cNvPr id="15" name="Shape 12"/>
          <p:cNvSpPr/>
          <p:nvPr/>
        </p:nvSpPr>
        <p:spPr>
          <a:xfrm>
            <a:off x="548640" y="6272784"/>
            <a:ext cx="64008" cy="365760"/>
          </a:xfrm>
          <a:prstGeom prst="rect">
            <a:avLst/>
          </a:prstGeom>
          <a:solidFill>
            <a:srgbClr val="BC6C25"/>
          </a:solidFill>
          <a:ln/>
        </p:spPr>
      </p:sp>
      <p:pic>
        <p:nvPicPr>
          <p:cNvPr id="16" name="Image 1" descr="preencoded.png">    </p:cNvPr>
          <p:cNvPicPr>
            <a:picLocks noChangeAspect="1"/>
          </p:cNvPicPr>
          <p:nvPr/>
        </p:nvPicPr>
        <p:blipFill>
          <a:blip r:embed="rId2"/>
          <a:stretch>
            <a:fillRect/>
          </a:stretch>
        </p:blipFill>
        <p:spPr>
          <a:xfrm>
            <a:off x="731520" y="6336792"/>
            <a:ext cx="228600" cy="228600"/>
          </a:xfrm>
          <a:prstGeom prst="rect">
            <a:avLst/>
          </a:prstGeom>
        </p:spPr>
      </p:pic>
      <p:sp>
        <p:nvSpPr>
          <p:cNvPr id="17" name="Text 13"/>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Verde e digitale sono sfide globali, che si raccontano in una lingua comune. → Inglese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D6A4F"/>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p:nvPr/>
        </p:nvSpPr>
        <p:spPr>
          <a:xfrm>
            <a:off x="1298448" y="457200"/>
            <a:ext cx="8229600" cy="274320"/>
          </a:xfrm>
          <a:prstGeom prst="rect">
            <a:avLst/>
          </a:prstGeom>
          <a:noFill/>
          <a:ln/>
        </p:spPr>
        <p:txBody>
          <a:bodyPr wrap="square" lIns="0" tIns="0" rIns="0" bIns="0" rtlCol="0" anchor="ctr"/>
          <a:lstStyle/>
          <a:p>
            <a:pPr algn="l" indent="0" marL="0">
              <a:buNone/>
            </a:pPr>
            <a:r>
              <a:rPr lang="en-US" sz="1200" b="1" spc="300" kern="0" dirty="0">
                <a:solidFill>
                  <a:srgbClr val="2D6A4F"/>
                </a:solidFill>
                <a:latin typeface="Calibri" pitchFamily="34" charset="0"/>
                <a:ea typeface="Calibri" pitchFamily="34" charset="-122"/>
                <a:cs typeface="Calibri" pitchFamily="34" charset="-120"/>
              </a:rPr>
              <a:t>ENGLISH</a:t>
            </a:r>
            <a:endParaRPr lang="en-US" sz="1200" dirty="0"/>
          </a:p>
        </p:txBody>
      </p:sp>
      <p:sp>
        <p:nvSpPr>
          <p:cNvPr id="5" name="Text 2"/>
          <p:cNvSpPr/>
          <p:nvPr/>
        </p:nvSpPr>
        <p:spPr>
          <a:xfrm>
            <a:off x="10698480" y="365760"/>
            <a:ext cx="1005840" cy="731520"/>
          </a:xfrm>
          <a:prstGeom prst="rect">
            <a:avLst/>
          </a:prstGeom>
          <a:noFill/>
          <a:ln/>
        </p:spPr>
        <p:txBody>
          <a:bodyPr wrap="square" lIns="0" tIns="0" rIns="0" bIns="0" rtlCol="0" anchor="t"/>
          <a:lstStyle/>
          <a:p>
            <a:pPr algn="r" indent="0" marL="0">
              <a:buNone/>
            </a:pPr>
            <a:r>
              <a:rPr lang="en-US" sz="3800" b="1" dirty="0">
                <a:solidFill>
                  <a:srgbClr val="D8F3DC"/>
                </a:solidFill>
                <a:latin typeface="Georgia" pitchFamily="34" charset="0"/>
                <a:ea typeface="Georgia" pitchFamily="34" charset="-122"/>
                <a:cs typeface="Georgia" pitchFamily="34" charset="-120"/>
              </a:rPr>
              <a:t>11</a:t>
            </a:r>
            <a:endParaRPr lang="en-US" sz="3800" dirty="0"/>
          </a:p>
        </p:txBody>
      </p:sp>
      <p:sp>
        <p:nvSpPr>
          <p:cNvPr id="6" name="Text 3"/>
          <p:cNvSpPr/>
          <p:nvPr/>
        </p:nvSpPr>
        <p:spPr>
          <a:xfrm>
            <a:off x="1298448" y="713232"/>
            <a:ext cx="9235440" cy="731520"/>
          </a:xfrm>
          <a:prstGeom prst="rect">
            <a:avLst/>
          </a:prstGeom>
          <a:noFill/>
          <a:ln/>
        </p:spPr>
        <p:txBody>
          <a:bodyPr wrap="square" lIns="0" tIns="0" rIns="0" bIns="0" rtlCol="0" anchor="t"/>
          <a:lstStyle/>
          <a:p>
            <a:pPr algn="l" indent="0" marL="0">
              <a:buNone/>
            </a:pPr>
            <a:r>
              <a:rPr lang="en-US" sz="2600" b="1" dirty="0">
                <a:solidFill>
                  <a:srgbClr val="1B2D2A"/>
                </a:solidFill>
                <a:latin typeface="Georgia" pitchFamily="34" charset="0"/>
                <a:ea typeface="Georgia" pitchFamily="34" charset="-122"/>
                <a:cs typeface="Georgia" pitchFamily="34" charset="-120"/>
              </a:rPr>
              <a:t>Sustainable development</a:t>
            </a:r>
            <a:endParaRPr lang="en-US" sz="2600" dirty="0"/>
          </a:p>
        </p:txBody>
      </p:sp>
      <p:sp>
        <p:nvSpPr>
          <p:cNvPr id="7" name="Text 4"/>
          <p:cNvSpPr/>
          <p:nvPr/>
        </p:nvSpPr>
        <p:spPr>
          <a:xfrm>
            <a:off x="1298448" y="1572768"/>
            <a:ext cx="10058400" cy="640080"/>
          </a:xfrm>
          <a:prstGeom prst="rect">
            <a:avLst/>
          </a:prstGeom>
          <a:noFill/>
          <a:ln/>
        </p:spPr>
        <p:txBody>
          <a:bodyPr wrap="square" rtlCol="0" anchor="t"/>
          <a:lstStyle/>
          <a:p>
            <a:pPr algn="l" indent="0" marL="0">
              <a:lnSpc>
                <a:spcPct val="112000"/>
              </a:lnSpc>
              <a:buNone/>
            </a:pPr>
            <a:r>
              <a:rPr lang="en-US" sz="1500" b="1" dirty="0">
                <a:solidFill>
                  <a:srgbClr val="2D6A4F"/>
                </a:solidFill>
                <a:latin typeface="Calibri" pitchFamily="34" charset="0"/>
                <a:ea typeface="Calibri" pitchFamily="34" charset="-122"/>
                <a:cs typeface="Calibri" pitchFamily="34" charset="-120"/>
              </a:rPr>
              <a:t>Sustainable development </a:t>
            </a:r>
            <a:pPr algn="l" indent="0" marL="0">
              <a:lnSpc>
                <a:spcPct val="112000"/>
              </a:lnSpc>
              <a:buNone/>
            </a:pPr>
            <a:r>
              <a:rPr lang="en-US" sz="1500" dirty="0">
                <a:solidFill>
                  <a:srgbClr val="33433F"/>
                </a:solidFill>
                <a:latin typeface="Calibri" pitchFamily="34" charset="0"/>
                <a:ea typeface="Calibri" pitchFamily="34" charset="-122"/>
                <a:cs typeface="Calibri" pitchFamily="34" charset="-120"/>
              </a:rPr>
              <a:t>means economic growth that protects the environment and people. The «circular economy» follows three simple rules:</a:t>
            </a:r>
            <a:endParaRPr lang="en-US" sz="1500" dirty="0"/>
          </a:p>
        </p:txBody>
      </p:sp>
      <p:sp>
        <p:nvSpPr>
          <p:cNvPr id="8" name="Shape 5"/>
          <p:cNvSpPr/>
          <p:nvPr/>
        </p:nvSpPr>
        <p:spPr>
          <a:xfrm>
            <a:off x="1298448" y="2468880"/>
            <a:ext cx="3310128" cy="2743200"/>
          </a:xfrm>
          <a:prstGeom prst="roundRect">
            <a:avLst>
              <a:gd name="adj" fmla="val 3000"/>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9" name="Shape 6"/>
          <p:cNvSpPr/>
          <p:nvPr/>
        </p:nvSpPr>
        <p:spPr>
          <a:xfrm>
            <a:off x="1591056" y="2834640"/>
            <a:ext cx="822960" cy="822960"/>
          </a:xfrm>
          <a:prstGeom prst="ellipse">
            <a:avLst/>
          </a:prstGeom>
          <a:solidFill>
            <a:srgbClr val="2D6A4F"/>
          </a:solidFill>
          <a:ln/>
        </p:spPr>
      </p:sp>
      <p:pic>
        <p:nvPicPr>
          <p:cNvPr id="10" name="Image 1" descr="preencoded.png">    </p:cNvPr>
          <p:cNvPicPr>
            <a:picLocks noChangeAspect="1"/>
          </p:cNvPicPr>
          <p:nvPr/>
        </p:nvPicPr>
        <p:blipFill>
          <a:blip r:embed="rId2"/>
          <a:stretch>
            <a:fillRect/>
          </a:stretch>
        </p:blipFill>
        <p:spPr>
          <a:xfrm>
            <a:off x="1773936" y="3017520"/>
            <a:ext cx="457200" cy="457200"/>
          </a:xfrm>
          <a:prstGeom prst="rect">
            <a:avLst/>
          </a:prstGeom>
        </p:spPr>
      </p:pic>
      <p:sp>
        <p:nvSpPr>
          <p:cNvPr id="11" name="Text 7"/>
          <p:cNvSpPr/>
          <p:nvPr/>
        </p:nvSpPr>
        <p:spPr>
          <a:xfrm>
            <a:off x="1591056" y="3794760"/>
            <a:ext cx="2807208" cy="502920"/>
          </a:xfrm>
          <a:prstGeom prst="rect">
            <a:avLst/>
          </a:prstGeom>
          <a:noFill/>
          <a:ln/>
        </p:spPr>
        <p:txBody>
          <a:bodyPr wrap="square" lIns="0" tIns="0" rIns="0" bIns="0" rtlCol="0" anchor="ctr"/>
          <a:lstStyle/>
          <a:p>
            <a:pPr indent="0" marL="0">
              <a:buNone/>
            </a:pPr>
            <a:r>
              <a:rPr lang="en-US" sz="2300" b="1" dirty="0">
                <a:solidFill>
                  <a:srgbClr val="2D6A4F"/>
                </a:solidFill>
                <a:latin typeface="Georgia" pitchFamily="34" charset="0"/>
                <a:ea typeface="Georgia" pitchFamily="34" charset="-122"/>
                <a:cs typeface="Georgia" pitchFamily="34" charset="-120"/>
              </a:rPr>
              <a:t>Reduce</a:t>
            </a:r>
            <a:endParaRPr lang="en-US" sz="2300" dirty="0"/>
          </a:p>
        </p:txBody>
      </p:sp>
      <p:sp>
        <p:nvSpPr>
          <p:cNvPr id="12" name="Text 8"/>
          <p:cNvSpPr/>
          <p:nvPr/>
        </p:nvSpPr>
        <p:spPr>
          <a:xfrm>
            <a:off x="1591056" y="4343400"/>
            <a:ext cx="2761488" cy="777240"/>
          </a:xfrm>
          <a:prstGeom prst="rect">
            <a:avLst/>
          </a:prstGeom>
          <a:noFill/>
          <a:ln/>
        </p:spPr>
        <p:txBody>
          <a:bodyPr wrap="square" lIns="0" tIns="0" rIns="0" bIns="0" rtlCol="0" anchor="t"/>
          <a:lstStyle/>
          <a:p>
            <a:pPr indent="0" marL="0">
              <a:lnSpc>
                <a:spcPct val="114000"/>
              </a:lnSpc>
              <a:buNone/>
            </a:pPr>
            <a:r>
              <a:rPr lang="en-US" sz="1350" dirty="0">
                <a:solidFill>
                  <a:srgbClr val="33433F"/>
                </a:solidFill>
                <a:latin typeface="Calibri" pitchFamily="34" charset="0"/>
                <a:ea typeface="Calibri" pitchFamily="34" charset="-122"/>
                <a:cs typeface="Calibri" pitchFamily="34" charset="-120"/>
              </a:rPr>
              <a:t>Use fewer resources and produce less waste.</a:t>
            </a:r>
            <a:endParaRPr lang="en-US" sz="1350" dirty="0"/>
          </a:p>
        </p:txBody>
      </p:sp>
      <p:sp>
        <p:nvSpPr>
          <p:cNvPr id="13" name="Shape 9"/>
          <p:cNvSpPr/>
          <p:nvPr/>
        </p:nvSpPr>
        <p:spPr>
          <a:xfrm>
            <a:off x="4992624" y="2468880"/>
            <a:ext cx="3310128" cy="2743200"/>
          </a:xfrm>
          <a:prstGeom prst="roundRect">
            <a:avLst>
              <a:gd name="adj" fmla="val 3000"/>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4" name="Shape 10"/>
          <p:cNvSpPr/>
          <p:nvPr/>
        </p:nvSpPr>
        <p:spPr>
          <a:xfrm>
            <a:off x="5285232" y="2834640"/>
            <a:ext cx="822960" cy="822960"/>
          </a:xfrm>
          <a:prstGeom prst="ellipse">
            <a:avLst/>
          </a:prstGeom>
          <a:solidFill>
            <a:srgbClr val="BC6C25"/>
          </a:solidFill>
          <a:ln/>
        </p:spPr>
      </p:sp>
      <p:pic>
        <p:nvPicPr>
          <p:cNvPr id="15" name="Image 2" descr="preencoded.png">    </p:cNvPr>
          <p:cNvPicPr>
            <a:picLocks noChangeAspect="1"/>
          </p:cNvPicPr>
          <p:nvPr/>
        </p:nvPicPr>
        <p:blipFill>
          <a:blip r:embed="rId3"/>
          <a:stretch>
            <a:fillRect/>
          </a:stretch>
        </p:blipFill>
        <p:spPr>
          <a:xfrm>
            <a:off x="5468112" y="3017520"/>
            <a:ext cx="457200" cy="457200"/>
          </a:xfrm>
          <a:prstGeom prst="rect">
            <a:avLst/>
          </a:prstGeom>
        </p:spPr>
      </p:pic>
      <p:sp>
        <p:nvSpPr>
          <p:cNvPr id="16" name="Text 11"/>
          <p:cNvSpPr/>
          <p:nvPr/>
        </p:nvSpPr>
        <p:spPr>
          <a:xfrm>
            <a:off x="5285232" y="3794760"/>
            <a:ext cx="2807208" cy="502920"/>
          </a:xfrm>
          <a:prstGeom prst="rect">
            <a:avLst/>
          </a:prstGeom>
          <a:noFill/>
          <a:ln/>
        </p:spPr>
        <p:txBody>
          <a:bodyPr wrap="square" lIns="0" tIns="0" rIns="0" bIns="0" rtlCol="0" anchor="ctr"/>
          <a:lstStyle/>
          <a:p>
            <a:pPr indent="0" marL="0">
              <a:buNone/>
            </a:pPr>
            <a:r>
              <a:rPr lang="en-US" sz="2300" b="1" dirty="0">
                <a:solidFill>
                  <a:srgbClr val="BC6C25"/>
                </a:solidFill>
                <a:latin typeface="Georgia" pitchFamily="34" charset="0"/>
                <a:ea typeface="Georgia" pitchFamily="34" charset="-122"/>
                <a:cs typeface="Georgia" pitchFamily="34" charset="-120"/>
              </a:rPr>
              <a:t>Reuse</a:t>
            </a:r>
            <a:endParaRPr lang="en-US" sz="2300" dirty="0"/>
          </a:p>
        </p:txBody>
      </p:sp>
      <p:sp>
        <p:nvSpPr>
          <p:cNvPr id="17" name="Text 12"/>
          <p:cNvSpPr/>
          <p:nvPr/>
        </p:nvSpPr>
        <p:spPr>
          <a:xfrm>
            <a:off x="5285232" y="4343400"/>
            <a:ext cx="2761488" cy="777240"/>
          </a:xfrm>
          <a:prstGeom prst="rect">
            <a:avLst/>
          </a:prstGeom>
          <a:noFill/>
          <a:ln/>
        </p:spPr>
        <p:txBody>
          <a:bodyPr wrap="square" lIns="0" tIns="0" rIns="0" bIns="0" rtlCol="0" anchor="t"/>
          <a:lstStyle/>
          <a:p>
            <a:pPr indent="0" marL="0">
              <a:lnSpc>
                <a:spcPct val="114000"/>
              </a:lnSpc>
              <a:buNone/>
            </a:pPr>
            <a:r>
              <a:rPr lang="en-US" sz="1350" dirty="0">
                <a:solidFill>
                  <a:srgbClr val="33433F"/>
                </a:solidFill>
                <a:latin typeface="Calibri" pitchFamily="34" charset="0"/>
                <a:ea typeface="Calibri" pitchFamily="34" charset="-122"/>
                <a:cs typeface="Calibri" pitchFamily="34" charset="-120"/>
              </a:rPr>
              <a:t>Use products again instead of throwing them away.</a:t>
            </a:r>
            <a:endParaRPr lang="en-US" sz="1350" dirty="0"/>
          </a:p>
        </p:txBody>
      </p:sp>
      <p:sp>
        <p:nvSpPr>
          <p:cNvPr id="18" name="Shape 13"/>
          <p:cNvSpPr/>
          <p:nvPr/>
        </p:nvSpPr>
        <p:spPr>
          <a:xfrm>
            <a:off x="8686800" y="2468880"/>
            <a:ext cx="3310128" cy="2743200"/>
          </a:xfrm>
          <a:prstGeom prst="roundRect">
            <a:avLst>
              <a:gd name="adj" fmla="val 3000"/>
            </a:avLst>
          </a:prstGeom>
          <a:solidFill>
            <a:srgbClr val="FFFFFF"/>
          </a:solidFill>
          <a:ln w="12700">
            <a:solidFill>
              <a:srgbClr val="E3EBE4"/>
            </a:solidFill>
            <a:prstDash val="solid"/>
          </a:ln>
          <a:effectLst>
            <a:outerShdw sx="100000" sy="100000" kx="0" ky="0" algn="bl" rotWithShape="0" blurRad="88900" dist="25400" dir="8100000">
              <a:srgbClr val="1B2D2A">
                <a:alpha val="10000"/>
              </a:srgbClr>
            </a:outerShdw>
          </a:effectLst>
        </p:spPr>
      </p:sp>
      <p:sp>
        <p:nvSpPr>
          <p:cNvPr id="19" name="Shape 14"/>
          <p:cNvSpPr/>
          <p:nvPr/>
        </p:nvSpPr>
        <p:spPr>
          <a:xfrm>
            <a:off x="8979408" y="2834640"/>
            <a:ext cx="822960" cy="822960"/>
          </a:xfrm>
          <a:prstGeom prst="ellipse">
            <a:avLst/>
          </a:prstGeom>
          <a:solidFill>
            <a:srgbClr val="40916C"/>
          </a:solidFill>
          <a:ln/>
        </p:spPr>
      </p:sp>
      <p:pic>
        <p:nvPicPr>
          <p:cNvPr id="20" name="Image 3" descr="preencoded.png">    </p:cNvPr>
          <p:cNvPicPr>
            <a:picLocks noChangeAspect="1"/>
          </p:cNvPicPr>
          <p:nvPr/>
        </p:nvPicPr>
        <p:blipFill>
          <a:blip r:embed="rId4"/>
          <a:stretch>
            <a:fillRect/>
          </a:stretch>
        </p:blipFill>
        <p:spPr>
          <a:xfrm>
            <a:off x="9162288" y="3017520"/>
            <a:ext cx="457200" cy="457200"/>
          </a:xfrm>
          <a:prstGeom prst="rect">
            <a:avLst/>
          </a:prstGeom>
        </p:spPr>
      </p:pic>
      <p:sp>
        <p:nvSpPr>
          <p:cNvPr id="21" name="Text 15"/>
          <p:cNvSpPr/>
          <p:nvPr/>
        </p:nvSpPr>
        <p:spPr>
          <a:xfrm>
            <a:off x="8979408" y="3794760"/>
            <a:ext cx="2807208" cy="502920"/>
          </a:xfrm>
          <a:prstGeom prst="rect">
            <a:avLst/>
          </a:prstGeom>
          <a:noFill/>
          <a:ln/>
        </p:spPr>
        <p:txBody>
          <a:bodyPr wrap="square" lIns="0" tIns="0" rIns="0" bIns="0" rtlCol="0" anchor="ctr"/>
          <a:lstStyle/>
          <a:p>
            <a:pPr indent="0" marL="0">
              <a:buNone/>
            </a:pPr>
            <a:r>
              <a:rPr lang="en-US" sz="2300" b="1" dirty="0">
                <a:solidFill>
                  <a:srgbClr val="40916C"/>
                </a:solidFill>
                <a:latin typeface="Georgia" pitchFamily="34" charset="0"/>
                <a:ea typeface="Georgia" pitchFamily="34" charset="-122"/>
                <a:cs typeface="Georgia" pitchFamily="34" charset="-120"/>
              </a:rPr>
              <a:t>Recycle</a:t>
            </a:r>
            <a:endParaRPr lang="en-US" sz="2300" dirty="0"/>
          </a:p>
        </p:txBody>
      </p:sp>
      <p:sp>
        <p:nvSpPr>
          <p:cNvPr id="22" name="Text 16"/>
          <p:cNvSpPr/>
          <p:nvPr/>
        </p:nvSpPr>
        <p:spPr>
          <a:xfrm>
            <a:off x="8979408" y="4343400"/>
            <a:ext cx="2761488" cy="777240"/>
          </a:xfrm>
          <a:prstGeom prst="rect">
            <a:avLst/>
          </a:prstGeom>
          <a:noFill/>
          <a:ln/>
        </p:spPr>
        <p:txBody>
          <a:bodyPr wrap="square" lIns="0" tIns="0" rIns="0" bIns="0" rtlCol="0" anchor="t"/>
          <a:lstStyle/>
          <a:p>
            <a:pPr indent="0" marL="0">
              <a:lnSpc>
                <a:spcPct val="114000"/>
              </a:lnSpc>
              <a:buNone/>
            </a:pPr>
            <a:r>
              <a:rPr lang="en-US" sz="1350" dirty="0">
                <a:solidFill>
                  <a:srgbClr val="33433F"/>
                </a:solidFill>
                <a:latin typeface="Calibri" pitchFamily="34" charset="0"/>
                <a:ea typeface="Calibri" pitchFamily="34" charset="-122"/>
                <a:cs typeface="Calibri" pitchFamily="34" charset="-120"/>
              </a:rPr>
              <a:t>Turn waste into new value and new materials.</a:t>
            </a:r>
            <a:endParaRPr lang="en-US" sz="1350" dirty="0"/>
          </a:p>
        </p:txBody>
      </p:sp>
      <p:sp>
        <p:nvSpPr>
          <p:cNvPr id="23" name="Shape 17"/>
          <p:cNvSpPr/>
          <p:nvPr/>
        </p:nvSpPr>
        <p:spPr>
          <a:xfrm>
            <a:off x="548640" y="6272784"/>
            <a:ext cx="64008" cy="365760"/>
          </a:xfrm>
          <a:prstGeom prst="rect">
            <a:avLst/>
          </a:prstGeom>
          <a:solidFill>
            <a:srgbClr val="BC6C25"/>
          </a:solidFill>
          <a:ln/>
        </p:spPr>
      </p:sp>
      <p:pic>
        <p:nvPicPr>
          <p:cNvPr id="24" name="Image 4" descr="preencoded.png">    </p:cNvPr>
          <p:cNvPicPr>
            <a:picLocks noChangeAspect="1"/>
          </p:cNvPicPr>
          <p:nvPr/>
        </p:nvPicPr>
        <p:blipFill>
          <a:blip r:embed="rId5"/>
          <a:stretch>
            <a:fillRect/>
          </a:stretch>
        </p:blipFill>
        <p:spPr>
          <a:xfrm>
            <a:off x="731520" y="6336792"/>
            <a:ext cx="228600" cy="228600"/>
          </a:xfrm>
          <a:prstGeom prst="rect">
            <a:avLst/>
          </a:prstGeom>
        </p:spPr>
      </p:pic>
      <p:sp>
        <p:nvSpPr>
          <p:cNvPr id="25" name="Text 18"/>
          <p:cNvSpPr/>
          <p:nvPr/>
        </p:nvSpPr>
        <p:spPr>
          <a:xfrm>
            <a:off x="1042416" y="6272784"/>
            <a:ext cx="10607040" cy="365760"/>
          </a:xfrm>
          <a:prstGeom prst="rect">
            <a:avLst/>
          </a:prstGeom>
          <a:noFill/>
          <a:ln/>
        </p:spPr>
        <p:txBody>
          <a:bodyPr wrap="square" lIns="0" tIns="0" rIns="0" bIns="0" rtlCol="0" anchor="ctr"/>
          <a:lstStyle/>
          <a:p>
            <a:pPr algn="l" indent="0" marL="0">
              <a:buNone/>
            </a:pPr>
            <a:r>
              <a:rPr lang="en-US" sz="1200" b="1" dirty="0">
                <a:solidFill>
                  <a:srgbClr val="BC6C25"/>
                </a:solidFill>
                <a:latin typeface="Calibri" pitchFamily="34" charset="0"/>
                <a:ea typeface="Calibri" pitchFamily="34" charset="-122"/>
                <a:cs typeface="Calibri" pitchFamily="34" charset="-120"/>
              </a:rPr>
              <a:t>Il filo conduttore   </a:t>
            </a:r>
            <a:pPr algn="l" indent="0" marL="0">
              <a:buNone/>
            </a:pPr>
            <a:r>
              <a:rPr lang="en-US" sz="1200" i="1" dirty="0">
                <a:solidFill>
                  <a:srgbClr val="6B7C77"/>
                </a:solidFill>
                <a:latin typeface="Calibri" pitchFamily="34" charset="0"/>
                <a:ea typeface="Calibri" pitchFamily="34" charset="-122"/>
                <a:cs typeface="Calibri" pitchFamily="34" charset="-120"/>
              </a:rPr>
              <a:t>Undici materie, una sola idea di sviluppo: è il momento di tirare le fila. → Conclusione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2011680" y="3108960"/>
            <a:ext cx="5669280" cy="5669280"/>
          </a:xfrm>
          <a:prstGeom prst="ellipse">
            <a:avLst/>
          </a:prstGeom>
          <a:solidFill>
            <a:srgbClr val="2D6A4F">
              <a:alpha val="40000"/>
            </a:srgbClr>
          </a:solidFill>
          <a:ln/>
        </p:spPr>
      </p:sp>
      <p:sp>
        <p:nvSpPr>
          <p:cNvPr id="3" name="Shape 1"/>
          <p:cNvSpPr/>
          <p:nvPr/>
        </p:nvSpPr>
        <p:spPr>
          <a:xfrm>
            <a:off x="9692640" y="-2194560"/>
            <a:ext cx="5486400" cy="5486400"/>
          </a:xfrm>
          <a:prstGeom prst="ellipse">
            <a:avLst/>
          </a:prstGeom>
          <a:solidFill>
            <a:srgbClr val="40916C">
              <a:alpha val="38000"/>
            </a:srgbClr>
          </a:solidFill>
          <a:ln/>
        </p:spPr>
      </p:sp>
      <p:pic>
        <p:nvPicPr>
          <p:cNvPr id="4" name="Image 0" descr="preencoded.png">    </p:cNvPr>
          <p:cNvPicPr>
            <a:picLocks noChangeAspect="1"/>
          </p:cNvPicPr>
          <p:nvPr/>
        </p:nvPicPr>
        <p:blipFill>
          <a:blip r:embed="rId1"/>
          <a:stretch>
            <a:fillRect/>
          </a:stretch>
        </p:blipFill>
        <p:spPr>
          <a:xfrm>
            <a:off x="777240" y="731520"/>
            <a:ext cx="777240" cy="777240"/>
          </a:xfrm>
          <a:prstGeom prst="rect">
            <a:avLst/>
          </a:prstGeom>
        </p:spPr>
      </p:pic>
      <p:sp>
        <p:nvSpPr>
          <p:cNvPr id="5" name="Text 2"/>
          <p:cNvSpPr/>
          <p:nvPr/>
        </p:nvSpPr>
        <p:spPr>
          <a:xfrm>
            <a:off x="822960" y="1691640"/>
            <a:ext cx="7315200" cy="365760"/>
          </a:xfrm>
          <a:prstGeom prst="rect">
            <a:avLst/>
          </a:prstGeom>
          <a:noFill/>
          <a:ln/>
        </p:spPr>
        <p:txBody>
          <a:bodyPr wrap="square" rtlCol="0" anchor="ctr"/>
          <a:lstStyle/>
          <a:p>
            <a:pPr indent="0" marL="0">
              <a:buNone/>
            </a:pPr>
            <a:r>
              <a:rPr lang="en-US" sz="1400" b="1" spc="400" kern="0" dirty="0">
                <a:solidFill>
                  <a:srgbClr val="74C69D"/>
                </a:solidFill>
                <a:latin typeface="Calibri" pitchFamily="34" charset="0"/>
                <a:ea typeface="Calibri" pitchFamily="34" charset="-122"/>
                <a:cs typeface="Calibri" pitchFamily="34" charset="-120"/>
              </a:rPr>
              <a:t>CONCLUSIONE</a:t>
            </a:r>
            <a:endParaRPr lang="en-US" sz="1400" dirty="0"/>
          </a:p>
        </p:txBody>
      </p:sp>
      <p:sp>
        <p:nvSpPr>
          <p:cNvPr id="6" name="Text 3"/>
          <p:cNvSpPr/>
          <p:nvPr/>
        </p:nvSpPr>
        <p:spPr>
          <a:xfrm>
            <a:off x="777240" y="2057400"/>
            <a:ext cx="10789920" cy="914400"/>
          </a:xfrm>
          <a:prstGeom prst="rect">
            <a:avLst/>
          </a:prstGeom>
          <a:noFill/>
          <a:ln/>
        </p:spPr>
        <p:txBody>
          <a:bodyPr wrap="square"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Crescere senza compromettere il futuro</a:t>
            </a:r>
            <a:endParaRPr lang="en-US" sz="3800" dirty="0"/>
          </a:p>
        </p:txBody>
      </p:sp>
      <p:sp>
        <p:nvSpPr>
          <p:cNvPr id="7" name="Text 4"/>
          <p:cNvSpPr/>
          <p:nvPr/>
        </p:nvSpPr>
        <p:spPr>
          <a:xfrm>
            <a:off x="822960" y="3108960"/>
            <a:ext cx="10607040" cy="2011680"/>
          </a:xfrm>
          <a:prstGeom prst="rect">
            <a:avLst/>
          </a:prstGeom>
          <a:noFill/>
          <a:ln/>
        </p:spPr>
        <p:txBody>
          <a:bodyPr wrap="square" rtlCol="0" anchor="t"/>
          <a:lstStyle/>
          <a:p>
            <a:pPr algn="l" indent="0" marL="0">
              <a:lnSpc>
                <a:spcPct val="126000"/>
              </a:lnSpc>
              <a:buNone/>
            </a:pPr>
            <a:r>
              <a:rPr lang="en-US" sz="1600" dirty="0">
                <a:solidFill>
                  <a:srgbClr val="E9EDC9"/>
                </a:solidFill>
                <a:latin typeface="Calibri" pitchFamily="34" charset="0"/>
                <a:ea typeface="Calibri" pitchFamily="34" charset="-122"/>
                <a:cs typeface="Calibri" pitchFamily="34" charset="-120"/>
              </a:rPr>
              <a:t>Sviluppo economico e sostenibilità non sono nemici: la vera crescita è quella che dura. Dal carbonio di Primo Levi al limite dell'art. 41, dalla critica dei totalitarismi al disaccoppiamento dei dati ISTAT, fino al tricolore disegnato in RGB, ogni materia mostra la stessa verità — un'economia ha senso solo se rispetta il pianeta e le persone, oggi e per le generazioni future.</a:t>
            </a:r>
            <a:endParaRPr lang="en-US" sz="1600" dirty="0"/>
          </a:p>
        </p:txBody>
      </p:sp>
      <p:sp>
        <p:nvSpPr>
          <p:cNvPr id="8" name="Shape 5"/>
          <p:cNvSpPr/>
          <p:nvPr/>
        </p:nvSpPr>
        <p:spPr>
          <a:xfrm>
            <a:off x="841248" y="5349240"/>
            <a:ext cx="2743200" cy="41148"/>
          </a:xfrm>
          <a:prstGeom prst="rect">
            <a:avLst/>
          </a:prstGeom>
          <a:solidFill>
            <a:srgbClr val="DDA15E"/>
          </a:solidFill>
          <a:ln/>
        </p:spPr>
      </p:sp>
      <p:sp>
        <p:nvSpPr>
          <p:cNvPr id="9" name="Text 6"/>
          <p:cNvSpPr/>
          <p:nvPr/>
        </p:nvSpPr>
        <p:spPr>
          <a:xfrm>
            <a:off x="822960" y="5577840"/>
            <a:ext cx="10515600" cy="548640"/>
          </a:xfrm>
          <a:prstGeom prst="rect">
            <a:avLst/>
          </a:prstGeom>
          <a:noFill/>
          <a:ln/>
        </p:spPr>
        <p:txBody>
          <a:bodyPr wrap="square" rtlCol="0" anchor="ctr"/>
          <a:lstStyle/>
          <a:p>
            <a:pPr indent="0" marL="0">
              <a:buNone/>
            </a:pPr>
            <a:r>
              <a:rPr lang="en-US" sz="1800" i="1" dirty="0">
                <a:solidFill>
                  <a:srgbClr val="D8F3DC"/>
                </a:solidFill>
                <a:latin typeface="Georgia" pitchFamily="34" charset="0"/>
                <a:ea typeface="Georgia" pitchFamily="34" charset="-122"/>
                <a:cs typeface="Georgia" pitchFamily="34" charset="-120"/>
              </a:rPr>
              <a:t>«La crescita che dura è quella che rispetta i suoi limiti.»</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Sviluppo economico e sostenibilità — Elaborato di Educazione Civica</dc:title>
  <dc:subject>PptxGenJS Presentation</dc:subject>
  <dc:creator>Manuel</dc:creator>
  <cp:lastModifiedBy>Manuel</cp:lastModifiedBy>
  <cp:revision>1</cp:revision>
  <dcterms:created xsi:type="dcterms:W3CDTF">2026-06-09T11:46:17Z</dcterms:created>
  <dcterms:modified xsi:type="dcterms:W3CDTF">2026-06-09T11:46:17Z</dcterms:modified>
</cp:coreProperties>
</file>